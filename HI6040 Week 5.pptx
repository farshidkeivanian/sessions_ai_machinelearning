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378" r:id="rId3"/>
    <p:sldId id="1815" r:id="rId4"/>
    <p:sldId id="1816" r:id="rId5"/>
    <p:sldId id="1817" r:id="rId6"/>
    <p:sldId id="1818" r:id="rId7"/>
    <p:sldId id="1819" r:id="rId8"/>
    <p:sldId id="1820" r:id="rId9"/>
    <p:sldId id="1821" r:id="rId10"/>
    <p:sldId id="1823" r:id="rId11"/>
    <p:sldId id="1824" r:id="rId12"/>
    <p:sldId id="1825" r:id="rId13"/>
    <p:sldId id="1826" r:id="rId14"/>
    <p:sldId id="1827" r:id="rId15"/>
    <p:sldId id="1828" r:id="rId16"/>
    <p:sldId id="1829" r:id="rId17"/>
    <p:sldId id="1830" r:id="rId18"/>
    <p:sldId id="1831" r:id="rId19"/>
    <p:sldId id="1832" r:id="rId20"/>
    <p:sldId id="1833" r:id="rId21"/>
    <p:sldId id="1834" r:id="rId22"/>
    <p:sldId id="1835" r:id="rId23"/>
    <p:sldId id="1837" r:id="rId24"/>
    <p:sldId id="1838" r:id="rId25"/>
    <p:sldId id="1840" r:id="rId26"/>
    <p:sldId id="1839" r:id="rId27"/>
    <p:sldId id="612" r:id="rId28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935" y="5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A5373-6344-4AF6-9BAC-A104016F08E5}" type="datetimeFigureOut">
              <a:rPr lang="en-AU" smtClean="0"/>
              <a:t>18/08/2025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1257300"/>
            <a:ext cx="41148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4840288"/>
            <a:ext cx="975360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7AD3A-C137-495D-BCE3-2058CBCF8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785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0058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005839"/>
            <a:ext cx="5421703" cy="8046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914400" y="1840319"/>
            <a:ext cx="4953000" cy="2350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HI6040 (Artificial Intelligence and Machine Learning)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Dr. Farshid Keivanian</a:t>
            </a:r>
            <a:endParaRPr lang="en-US" sz="36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A1B80-27DD-FC4B-43BE-F15BBB7F7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6107503" y="1005838"/>
            <a:ext cx="5410200" cy="80467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F26088-CD0B-4B6E-C264-86192CFA8212}"/>
              </a:ext>
            </a:extLst>
          </p:cNvPr>
          <p:cNvSpPr txBox="1"/>
          <p:nvPr/>
        </p:nvSpPr>
        <p:spPr>
          <a:xfrm>
            <a:off x="1828800" y="7010400"/>
            <a:ext cx="3604406" cy="756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Tutorial Week 5</a:t>
            </a:r>
            <a:endParaRPr lang="en-US" sz="36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F2FAC8-42AD-DB92-166F-2F42E02C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47F174-E865-EA2C-9A7B-75ECF3EA7974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2898743-2B79-D5DF-5AFF-870A1775B5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C30F892-69B9-E3BA-260C-8084D712A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26459-E9EB-FA7D-8B8F-E2F5CD70284A}"/>
              </a:ext>
            </a:extLst>
          </p:cNvPr>
          <p:cNvSpPr txBox="1"/>
          <p:nvPr/>
        </p:nvSpPr>
        <p:spPr>
          <a:xfrm>
            <a:off x="380999" y="1441079"/>
            <a:ext cx="11810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1: Join a Group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Register on Blackboard before the deadline (28 Sept).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If you fail to join by then → you’ll be locked into a </a:t>
            </a:r>
            <a:r>
              <a:rPr lang="en-US" sz="2800" i="1" dirty="0">
                <a:latin typeface="+mj-lt"/>
              </a:rPr>
              <a:t>solo group</a:t>
            </a:r>
            <a:r>
              <a:rPr lang="en-US" sz="2800" dirty="0">
                <a:latin typeface="+mj-lt"/>
              </a:rPr>
              <a:t> with </a:t>
            </a:r>
            <a:r>
              <a:rPr lang="en-US" sz="2800" b="1" dirty="0">
                <a:latin typeface="+mj-lt"/>
              </a:rPr>
              <a:t>20% penalty</a:t>
            </a:r>
            <a:r>
              <a:rPr lang="en-US" sz="2800" dirty="0">
                <a:latin typeface="+mj-lt"/>
              </a:rPr>
              <a:t>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 not join a group without permission from members — you may be removed.</a:t>
            </a:r>
          </a:p>
        </p:txBody>
      </p:sp>
    </p:spTree>
    <p:extLst>
      <p:ext uri="{BB962C8B-B14F-4D97-AF65-F5344CB8AC3E}">
        <p14:creationId xmlns:p14="http://schemas.microsoft.com/office/powerpoint/2010/main" val="298406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64163D-0BE7-848D-C936-9B4FBB96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F322B6-2450-B234-74F1-3103B6C3D038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3F89509-3804-61EC-3CFB-897E66FA43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BC6C920-C9C0-E822-1ABE-55C24989D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45F0D-7CC3-9922-18C9-BEA6EE83F978}"/>
              </a:ext>
            </a:extLst>
          </p:cNvPr>
          <p:cNvSpPr txBox="1"/>
          <p:nvPr/>
        </p:nvSpPr>
        <p:spPr>
          <a:xfrm>
            <a:off x="380999" y="1441079"/>
            <a:ext cx="11810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2: Understand the Requirements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Format</a:t>
            </a:r>
            <a:r>
              <a:rPr lang="en-US" sz="2800" dirty="0">
                <a:latin typeface="+mj-lt"/>
              </a:rPr>
              <a:t>: Group facilitation, class discussion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Weeks</a:t>
            </a:r>
            <a:r>
              <a:rPr lang="en-US" sz="2800" dirty="0">
                <a:latin typeface="+mj-lt"/>
              </a:rPr>
              <a:t>: 5–11.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Submission</a:t>
            </a:r>
            <a:r>
              <a:rPr lang="en-US" sz="2800" dirty="0">
                <a:latin typeface="+mj-lt"/>
              </a:rPr>
              <a:t>: Upload your slide to Blackboard before your facilitation session.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Presentation</a:t>
            </a:r>
            <a:r>
              <a:rPr lang="en-US" sz="2800" dirty="0">
                <a:latin typeface="+mj-lt"/>
              </a:rPr>
              <a:t>: 2 minutes summary + lead class discussion.</a:t>
            </a:r>
          </a:p>
        </p:txBody>
      </p:sp>
    </p:spTree>
    <p:extLst>
      <p:ext uri="{BB962C8B-B14F-4D97-AF65-F5344CB8AC3E}">
        <p14:creationId xmlns:p14="http://schemas.microsoft.com/office/powerpoint/2010/main" val="278435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20B31D-4A17-0F50-D36B-896B0044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B8E1BD-3122-E08A-E89E-D017C662AA1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17BCB6C-96CD-5EC5-42BE-5EB27D5862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A0AE864-2B74-A826-A1A6-519AC4949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B8AF4-D4A3-DB6F-F002-6E7B82F3F8D4}"/>
              </a:ext>
            </a:extLst>
          </p:cNvPr>
          <p:cNvSpPr txBox="1"/>
          <p:nvPr/>
        </p:nvSpPr>
        <p:spPr>
          <a:xfrm>
            <a:off x="380999" y="1441079"/>
            <a:ext cx="11810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3: Prepare Your Slide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Include: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Key points / guiding questions</a:t>
            </a:r>
            <a:endParaRPr lang="en-US" sz="2800" dirty="0">
              <a:latin typeface="+mj-lt"/>
            </a:endParaRP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Diagram, dataset, or code snippet (optional)</a:t>
            </a:r>
            <a:endParaRPr lang="en-US" sz="2800" dirty="0">
              <a:latin typeface="+mj-lt"/>
            </a:endParaRP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Real-world example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Keep it visual — avoid text-heavy slides.</a:t>
            </a:r>
          </a:p>
        </p:txBody>
      </p:sp>
    </p:spTree>
    <p:extLst>
      <p:ext uri="{BB962C8B-B14F-4D97-AF65-F5344CB8AC3E}">
        <p14:creationId xmlns:p14="http://schemas.microsoft.com/office/powerpoint/2010/main" val="49636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9E1C9A-AEFC-5023-85C6-B5D6FC848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F99280-9BDB-AB1E-546A-61AA8F4FC007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D2CE9F5-49B8-F442-36C4-4C01A06277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DCC4CC9-5401-855A-5F25-E064EB6BA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E1054-B56C-1331-A7D6-824590957FFE}"/>
              </a:ext>
            </a:extLst>
          </p:cNvPr>
          <p:cNvSpPr txBox="1"/>
          <p:nvPr/>
        </p:nvSpPr>
        <p:spPr>
          <a:xfrm>
            <a:off x="380999" y="1441079"/>
            <a:ext cx="118109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4: Facilitate the Class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Start with your question(s).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Get group members to discuss in pairs/small groups.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Bring back responses and </a:t>
            </a:r>
            <a:r>
              <a:rPr lang="en-US" sz="2800" dirty="0" err="1">
                <a:latin typeface="+mj-lt"/>
              </a:rPr>
              <a:t>summarise</a:t>
            </a:r>
            <a:r>
              <a:rPr lang="en-US" sz="2800" dirty="0">
                <a:latin typeface="+mj-lt"/>
              </a:rPr>
              <a:t> key insights.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Keep track of time — allow space for interaction.</a:t>
            </a:r>
          </a:p>
        </p:txBody>
      </p:sp>
    </p:spTree>
    <p:extLst>
      <p:ext uri="{BB962C8B-B14F-4D97-AF65-F5344CB8AC3E}">
        <p14:creationId xmlns:p14="http://schemas.microsoft.com/office/powerpoint/2010/main" val="359417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E7DA63-014C-C93F-97E9-5C135DF7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235F37-E08E-70CA-33FC-9AE18CD17974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D17533F-EFCF-EBC4-C232-68895D5A1E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A4A4F12-AFE8-EB2C-463E-F316E8136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70C08-08AE-497D-D3D4-7D4058415C2B}"/>
              </a:ext>
            </a:extLst>
          </p:cNvPr>
          <p:cNvSpPr txBox="1"/>
          <p:nvPr/>
        </p:nvSpPr>
        <p:spPr>
          <a:xfrm>
            <a:off x="380999" y="1441079"/>
            <a:ext cx="11810999" cy="5193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5: Submit Correctly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Upload with </a:t>
            </a:r>
            <a:r>
              <a:rPr lang="en-US" sz="2800" b="1" dirty="0">
                <a:latin typeface="+mj-lt"/>
              </a:rPr>
              <a:t>cover sheet</a:t>
            </a:r>
            <a:r>
              <a:rPr lang="en-US" sz="2800" dirty="0">
                <a:latin typeface="+mj-lt"/>
              </a:rPr>
              <a:t> (all contributing members).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File must be PPT (not PDF).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If file &gt;5MB or has video → upload to YouTube (public) + submit link + cover sheet.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0000"/>
                </a:highlight>
                <a:latin typeface="+mj-lt"/>
              </a:rPr>
              <a:t>X </a:t>
            </a:r>
            <a:r>
              <a:rPr lang="en-US" sz="2800" dirty="0">
                <a:latin typeface="+mj-lt"/>
              </a:rPr>
              <a:t>No screenshots/photos/handwritten notes.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0000"/>
                </a:highlight>
              </a:rPr>
              <a:t>X </a:t>
            </a:r>
            <a:r>
              <a:rPr lang="en-US" sz="2800" dirty="0">
                <a:latin typeface="+mj-lt"/>
              </a:rPr>
              <a:t>No email submissions.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0000"/>
                </a:highlight>
              </a:rPr>
              <a:t>X </a:t>
            </a:r>
            <a:r>
              <a:rPr lang="en-US" sz="2800" dirty="0">
                <a:latin typeface="+mj-lt"/>
              </a:rPr>
              <a:t>No late or overseas-IP uploads.</a:t>
            </a:r>
          </a:p>
        </p:txBody>
      </p:sp>
    </p:spTree>
    <p:extLst>
      <p:ext uri="{BB962C8B-B14F-4D97-AF65-F5344CB8AC3E}">
        <p14:creationId xmlns:p14="http://schemas.microsoft.com/office/powerpoint/2010/main" val="2416334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A48699-E28F-F45F-1ABC-DF851C61B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7DEB34-89BB-5E06-76CE-BB1BD6FEBD04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FB58862-D936-FA60-8985-B2338A6E5B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E6547F4-6C12-F79F-F69E-E8B168678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BAC2E2-67B0-7C9E-4693-999779474EDE}"/>
              </a:ext>
            </a:extLst>
          </p:cNvPr>
          <p:cNvSpPr txBox="1"/>
          <p:nvPr/>
        </p:nvSpPr>
        <p:spPr>
          <a:xfrm>
            <a:off x="380999" y="1441079"/>
            <a:ext cx="11810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to Avoid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Missing in-class presentation → </a:t>
            </a:r>
            <a:r>
              <a:rPr lang="en-US" sz="2800" b="1" dirty="0">
                <a:latin typeface="+mj-lt"/>
              </a:rPr>
              <a:t>zero mark</a:t>
            </a:r>
            <a:r>
              <a:rPr lang="en-US" sz="2800" dirty="0">
                <a:latin typeface="+mj-lt"/>
              </a:rPr>
              <a:t>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Not being registered to a group in Blackboard → </a:t>
            </a:r>
            <a:r>
              <a:rPr lang="en-US" sz="2800" b="1" dirty="0">
                <a:latin typeface="+mj-lt"/>
              </a:rPr>
              <a:t>no marks awarded</a:t>
            </a:r>
            <a:r>
              <a:rPr lang="en-US" sz="2800" dirty="0">
                <a:latin typeface="+mj-lt"/>
              </a:rPr>
              <a:t>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Listing non-contributors on cover sheet → </a:t>
            </a:r>
            <a:r>
              <a:rPr lang="en-US" sz="2800" b="1" dirty="0">
                <a:latin typeface="+mj-lt"/>
              </a:rPr>
              <a:t>misconduct</a:t>
            </a:r>
            <a:r>
              <a:rPr lang="en-US" sz="2800" dirty="0">
                <a:latin typeface="+mj-lt"/>
              </a:rPr>
              <a:t>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Over-relying on ChatGPT/web sources (&gt;10% content). Must link to </a:t>
            </a:r>
            <a:r>
              <a:rPr lang="en-US" sz="2800" b="1" dirty="0">
                <a:latin typeface="+mj-lt"/>
              </a:rPr>
              <a:t>unit syllabus</a:t>
            </a:r>
            <a:r>
              <a:rPr lang="en-US" sz="2800" dirty="0">
                <a:latin typeface="+mj-lt"/>
              </a:rPr>
              <a:t>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Submitting in wrong format (PDF).</a:t>
            </a:r>
          </a:p>
        </p:txBody>
      </p:sp>
    </p:spTree>
    <p:extLst>
      <p:ext uri="{BB962C8B-B14F-4D97-AF65-F5344CB8AC3E}">
        <p14:creationId xmlns:p14="http://schemas.microsoft.com/office/powerpoint/2010/main" val="1384658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234518-9738-7BD4-F647-3C66D432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E9CFFD1-4F53-87C8-5F80-237879DF661B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72DB7D7-C358-A4CB-2B4C-F6301D5864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19A38B4-AC38-2554-F68A-D2FE2BE67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05EFB-B3B4-E94E-DFC7-0601B8F312AD}"/>
              </a:ext>
            </a:extLst>
          </p:cNvPr>
          <p:cNvSpPr txBox="1"/>
          <p:nvPr/>
        </p:nvSpPr>
        <p:spPr>
          <a:xfrm>
            <a:off x="380999" y="1441079"/>
            <a:ext cx="11810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Hints &amp; Preparation Examples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Practice as a group before class → anticipate possible answers.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practical examples: e.g., AI in banking fraud detection, hospital diagnosis, supply chain </a:t>
            </a:r>
            <a:r>
              <a:rPr lang="en-US" sz="2800" dirty="0" err="1">
                <a:latin typeface="+mj-lt"/>
              </a:rPr>
              <a:t>optimisation</a:t>
            </a:r>
            <a:r>
              <a:rPr lang="en-US" sz="2800" dirty="0">
                <a:latin typeface="+mj-lt"/>
              </a:rPr>
              <a:t>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Keep open-ended questions, not yes/no.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Prepare one backup question if discussion runs short.</a:t>
            </a:r>
          </a:p>
        </p:txBody>
      </p:sp>
    </p:spTree>
    <p:extLst>
      <p:ext uri="{BB962C8B-B14F-4D97-AF65-F5344CB8AC3E}">
        <p14:creationId xmlns:p14="http://schemas.microsoft.com/office/powerpoint/2010/main" val="3958085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66C359-FBD8-AA67-E341-A28CC513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B92A3B-F9F6-7E7E-5A2D-BA6F3DD52F88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6381129-CE03-3C78-D849-04C49F8CBE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04EB4D5-29D0-B323-BF36-2828532AA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032A8-D69C-0E49-6D25-5614964041CF}"/>
              </a:ext>
            </a:extLst>
          </p:cNvPr>
          <p:cNvSpPr txBox="1"/>
          <p:nvPr/>
        </p:nvSpPr>
        <p:spPr>
          <a:xfrm>
            <a:off x="380999" y="1441079"/>
            <a:ext cx="11810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 Students Need Python Code?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Coding is optional</a:t>
            </a:r>
            <a:r>
              <a:rPr lang="en-US" sz="2800" dirty="0">
                <a:latin typeface="+mj-lt"/>
              </a:rPr>
              <a:t>: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This facilitation is about </a:t>
            </a:r>
            <a:r>
              <a:rPr lang="en-US" sz="2800" i="1" dirty="0">
                <a:latin typeface="+mj-lt"/>
              </a:rPr>
              <a:t>leading discussion</a:t>
            </a:r>
            <a:r>
              <a:rPr lang="en-US" sz="2800" dirty="0">
                <a:latin typeface="+mj-lt"/>
              </a:rPr>
              <a:t> and </a:t>
            </a:r>
            <a:r>
              <a:rPr lang="en-US" sz="2800" i="1" dirty="0">
                <a:latin typeface="+mj-lt"/>
              </a:rPr>
              <a:t>showing understanding</a:t>
            </a:r>
            <a:r>
              <a:rPr lang="en-US" sz="2800" dirty="0">
                <a:latin typeface="+mj-lt"/>
              </a:rPr>
              <a:t>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You may show small </a:t>
            </a:r>
            <a:r>
              <a:rPr lang="en-US" sz="2800" b="1" dirty="0">
                <a:latin typeface="+mj-lt"/>
              </a:rPr>
              <a:t>Python snippets</a:t>
            </a:r>
            <a:r>
              <a:rPr lang="en-US" sz="2800" dirty="0">
                <a:latin typeface="+mj-lt"/>
              </a:rPr>
              <a:t> (e.g., scikit-learn logistic regression) if it helps illustrate, but you will not be judged on code correctness.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Focus is on </a:t>
            </a:r>
            <a:r>
              <a:rPr lang="en-US" sz="2800" b="1" dirty="0">
                <a:latin typeface="+mj-lt"/>
              </a:rPr>
              <a:t>interpretation, discussion, and business context</a:t>
            </a:r>
            <a:r>
              <a:rPr lang="en-US" sz="2800" dirty="0">
                <a:latin typeface="+mj-lt"/>
              </a:rPr>
              <a:t>, not debugging or long coding.</a:t>
            </a:r>
          </a:p>
        </p:txBody>
      </p:sp>
    </p:spTree>
    <p:extLst>
      <p:ext uri="{BB962C8B-B14F-4D97-AF65-F5344CB8AC3E}">
        <p14:creationId xmlns:p14="http://schemas.microsoft.com/office/powerpoint/2010/main" val="272497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D24AC3-425D-46D7-7881-7ABE5AD0B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CACC31-6A9D-8A0E-8014-FBFFA59DDFA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53F2E83-CAED-72FB-A7E1-7443B8987D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74C4AC2-9047-EC37-A50F-1E794E1CF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5DB8E-2D58-DDED-EE71-1523B3FE4147}"/>
              </a:ext>
            </a:extLst>
          </p:cNvPr>
          <p:cNvSpPr txBox="1"/>
          <p:nvPr/>
        </p:nvSpPr>
        <p:spPr>
          <a:xfrm>
            <a:off x="380999" y="1441079"/>
            <a:ext cx="11810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latin typeface="+mj-lt"/>
              </a:rPr>
              <a:t>Illustrative responses</a:t>
            </a:r>
            <a:r>
              <a:rPr lang="en-US" sz="2800" dirty="0">
                <a:latin typeface="+mj-lt"/>
              </a:rPr>
              <a:t> to give you ideas on how to prepare: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1. Problem Definition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Example (Healthcare AI triage):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Problem: Long wait times in emergency departments.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Significance: Delays can worsen patient outcomes and increase hospital costs.</a:t>
            </a:r>
          </a:p>
        </p:txBody>
      </p:sp>
    </p:spTree>
    <p:extLst>
      <p:ext uri="{BB962C8B-B14F-4D97-AF65-F5344CB8AC3E}">
        <p14:creationId xmlns:p14="http://schemas.microsoft.com/office/powerpoint/2010/main" val="2240257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CF2A92-470B-AFCD-0B1F-ABF8FB3B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D8E183F-BF6F-0A37-B04D-66BB59AA8A56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46D0019-E33D-E847-C8D9-A7545B3597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9CB2D82-6AF7-6C68-79DA-B9E1C3ED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9F99BB-4642-0773-CFD5-C3554FC11303}"/>
              </a:ext>
            </a:extLst>
          </p:cNvPr>
          <p:cNvSpPr txBox="1"/>
          <p:nvPr/>
        </p:nvSpPr>
        <p:spPr>
          <a:xfrm>
            <a:off x="380999" y="1441079"/>
            <a:ext cx="11810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2. AI Solution Overview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Example:</a:t>
            </a:r>
            <a:endParaRPr lang="en-US" sz="2800" dirty="0">
              <a:latin typeface="+mj-lt"/>
            </a:endParaRP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Proposed Solution: Supervised learning → Logistic Regression on patient history + symptoms.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Business Justification: Faster triage → improved patient flow, reduced costs, better care.</a:t>
            </a:r>
          </a:p>
        </p:txBody>
      </p:sp>
    </p:spTree>
    <p:extLst>
      <p:ext uri="{BB962C8B-B14F-4D97-AF65-F5344CB8AC3E}">
        <p14:creationId xmlns:p14="http://schemas.microsoft.com/office/powerpoint/2010/main" val="21475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042D70-DA7C-F2FB-F415-50772AD05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33C1561-5CB0-E3CE-1907-1F9C6C12D2B2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FD7B141-1A9F-61FB-A9BD-BECFE851CF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55F1686-C61D-AF80-184B-EDACF02EA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D7178-AEA3-A296-CBB1-802B0453BD37}"/>
              </a:ext>
            </a:extLst>
          </p:cNvPr>
          <p:cNvSpPr txBox="1"/>
          <p:nvPr/>
        </p:nvSpPr>
        <p:spPr>
          <a:xfrm>
            <a:off x="380999" y="1441079"/>
            <a:ext cx="118109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3. Benefits and Opportunities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Example:</a:t>
            </a:r>
            <a:endParaRPr lang="en-US" sz="2800" dirty="0">
              <a:latin typeface="+mj-lt"/>
            </a:endParaRP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Faster triage (measured by reduced waiting times).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Higher accuracy in identifying critical patients.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Cost savings through better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318111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702F39-2AA4-76E2-C6D2-8612513F9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F8B1FE-F2E9-23FF-0799-8F6322E9D313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0231F74-9BCE-1DF8-E42B-A6430F2351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7344453-6A2F-9959-DAF7-0C2A3BE36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757A6-F3DB-D261-5553-EA7926975683}"/>
              </a:ext>
            </a:extLst>
          </p:cNvPr>
          <p:cNvSpPr txBox="1"/>
          <p:nvPr/>
        </p:nvSpPr>
        <p:spPr>
          <a:xfrm>
            <a:off x="380999" y="1441079"/>
            <a:ext cx="11810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4. Risks &amp; Ethical Considerations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Example: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Risk: Biased training data → unfair </a:t>
            </a:r>
            <a:r>
              <a:rPr lang="en-US" sz="2800" dirty="0" err="1">
                <a:latin typeface="+mj-lt"/>
              </a:rPr>
              <a:t>prioritisation</a:t>
            </a:r>
            <a:r>
              <a:rPr lang="en-US" sz="2800" dirty="0">
                <a:latin typeface="+mj-lt"/>
              </a:rPr>
              <a:t>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Risk: Technical error → misdiagnosis.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Risk: Privacy issues in storing patient history.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Mitigations: Diverse training data, backup human oversight, HIPAA-compliant data storage.</a:t>
            </a:r>
          </a:p>
        </p:txBody>
      </p:sp>
    </p:spTree>
    <p:extLst>
      <p:ext uri="{BB962C8B-B14F-4D97-AF65-F5344CB8AC3E}">
        <p14:creationId xmlns:p14="http://schemas.microsoft.com/office/powerpoint/2010/main" val="1190334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3A8EAF-6A84-621A-658D-CD1E45E2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DFDC7D3-3C5A-1A28-EE71-06DB6240C5A7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0DB7399-8977-1F7F-4FA5-B62DEDE16E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72B9725-96A9-A0D3-DC48-0A333EB57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11C67D-A4DC-7D0E-3272-3151422CC7A0}"/>
              </a:ext>
            </a:extLst>
          </p:cNvPr>
          <p:cNvSpPr txBox="1"/>
          <p:nvPr/>
        </p:nvSpPr>
        <p:spPr>
          <a:xfrm>
            <a:off x="380999" y="1441079"/>
            <a:ext cx="11810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5. Implementation Steps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Example:</a:t>
            </a:r>
            <a:endParaRPr lang="en-US" sz="2800" dirty="0">
              <a:latin typeface="+mj-lt"/>
            </a:endParaRP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Collect and clean hospital dataset.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Train baseline Logistic Regression model.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Validate with doctors → feedback loop.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Pilot test in one department.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Scale across hospital with monitoring.</a:t>
            </a:r>
          </a:p>
        </p:txBody>
      </p:sp>
    </p:spTree>
    <p:extLst>
      <p:ext uri="{BB962C8B-B14F-4D97-AF65-F5344CB8AC3E}">
        <p14:creationId xmlns:p14="http://schemas.microsoft.com/office/powerpoint/2010/main" val="2087472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58D610-5B1F-0380-1A5C-A0144CF6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8B4F64-87D8-F9E6-8AC6-8A3A96A92B8C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Step-by-Step Guideline for Group Class Facilitation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C980E6F-F287-D5EF-382A-0C70FBD98E7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629233A-37D6-5E73-C55F-DF732A386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FA4E48-38EE-67E5-3192-55A76CC2F63E}"/>
              </a:ext>
            </a:extLst>
          </p:cNvPr>
          <p:cNvSpPr txBox="1"/>
          <p:nvPr/>
        </p:nvSpPr>
        <p:spPr>
          <a:xfrm>
            <a:off x="380999" y="1441079"/>
            <a:ext cx="11810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Final Checklist for Students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Joined a group (before deadline).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Selected topic + case study sector.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Prepared 1 PPT slide (key points, examples, questions).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+mj-lt"/>
              </a:rPr>
              <a:t>Practised</a:t>
            </a:r>
            <a:r>
              <a:rPr lang="en-US" sz="2800" dirty="0">
                <a:latin typeface="+mj-lt"/>
              </a:rPr>
              <a:t> 2-minute summary.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Ensured submission is in Blackboard (PPT only, with cover sheet).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Ready to facilitate discussion, not lecture.</a:t>
            </a:r>
          </a:p>
        </p:txBody>
      </p:sp>
    </p:spTree>
    <p:extLst>
      <p:ext uri="{BB962C8B-B14F-4D97-AF65-F5344CB8AC3E}">
        <p14:creationId xmlns:p14="http://schemas.microsoft.com/office/powerpoint/2010/main" val="3556617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8F70D7-1974-2D05-FD0C-C32E0178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C778A0-C029-1779-F33E-767FBE72B2D7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/>
              <a:t>Supervised Learning Example</a:t>
            </a:r>
            <a:endParaRPr lang="en-US" sz="3200" b="1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9EDB69A-D6DA-E2F5-F9DB-4FB31E3A63A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E5005FD-55A9-5FBF-5390-DA03F96FB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3EC87-9EAF-ECBE-90EC-6D0408E336B2}"/>
              </a:ext>
            </a:extLst>
          </p:cNvPr>
          <p:cNvSpPr txBox="1"/>
          <p:nvPr/>
        </p:nvSpPr>
        <p:spPr>
          <a:xfrm>
            <a:off x="380999" y="1441079"/>
            <a:ext cx="1181099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>
                <a:latin typeface="+mj-lt"/>
              </a:rPr>
              <a:t>1. Logistic Regression on a Simple Dataset</a:t>
            </a:r>
          </a:p>
          <a:p>
            <a:pPr>
              <a:lnSpc>
                <a:spcPct val="150000"/>
              </a:lnSpc>
            </a:pPr>
            <a:r>
              <a:rPr lang="en-US" sz="2800">
                <a:latin typeface="+mj-lt"/>
              </a:rPr>
              <a:t>This ties directly to supervised learning basics (classification).</a:t>
            </a:r>
            <a:endParaRPr lang="en-US" sz="28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7DFB9-3CBD-FBDB-8C20-54FE4BF302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160" b="12222"/>
          <a:stretch>
            <a:fillRect/>
          </a:stretch>
        </p:blipFill>
        <p:spPr>
          <a:xfrm>
            <a:off x="-2" y="2859515"/>
            <a:ext cx="12192000" cy="54601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8807D9-AC68-FDEA-BBAE-382A58A04C34}"/>
              </a:ext>
            </a:extLst>
          </p:cNvPr>
          <p:cNvSpPr txBox="1"/>
          <p:nvPr/>
        </p:nvSpPr>
        <p:spPr>
          <a:xfrm>
            <a:off x="60960" y="8266845"/>
            <a:ext cx="1213104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Learning outcome:</a:t>
            </a:r>
            <a:r>
              <a:rPr lang="en-US" sz="2800" dirty="0">
                <a:latin typeface="+mj-lt"/>
              </a:rPr>
              <a:t> Students see how a simple logistic regression works for binary classification.</a:t>
            </a:r>
            <a:endParaRPr lang="en-AU" sz="2800" dirty="0">
              <a:latin typeface="+mj-lt"/>
            </a:endParaRPr>
          </a:p>
        </p:txBody>
      </p:sp>
      <p:pic>
        <p:nvPicPr>
          <p:cNvPr id="10" name="Timer">
            <a:hlinkClick r:id="" action="ppaction://media"/>
            <a:extLst>
              <a:ext uri="{FF2B5EF4-FFF2-40B4-BE49-F238E27FC236}">
                <a16:creationId xmlns:a16="http://schemas.microsoft.com/office/drawing/2014/main" id="{6D06D1A6-1296-2890-5FFC-004BE0113E8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40625" t="44445" r="40625" b="40000"/>
          <a:stretch>
            <a:fillRect/>
          </a:stretch>
        </p:blipFill>
        <p:spPr>
          <a:xfrm>
            <a:off x="5143498" y="8991600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5256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DC758B-F0CF-FA50-CF82-0AF967AC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6A720D-1C5B-7EF2-F325-46173B39F4E8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/>
              <a:t>Supervised Learning Example</a:t>
            </a:r>
            <a:endParaRPr lang="en-US" sz="3200" b="1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D57287F-8885-B297-087F-C9FD10846DF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D0F7100-E62A-CAAD-2143-76C59FDB0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C0C03-6599-0ED5-D63B-CBC9F02B3061}"/>
              </a:ext>
            </a:extLst>
          </p:cNvPr>
          <p:cNvSpPr txBox="1"/>
          <p:nvPr/>
        </p:nvSpPr>
        <p:spPr>
          <a:xfrm>
            <a:off x="380999" y="1441079"/>
            <a:ext cx="11810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Result Analysis:</a:t>
            </a:r>
            <a:endParaRPr lang="en-US" sz="28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4FD1AF-A0E4-A535-D779-593641FDF8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6666" b="10000"/>
          <a:stretch>
            <a:fillRect/>
          </a:stretch>
        </p:blipFill>
        <p:spPr>
          <a:xfrm>
            <a:off x="0" y="3048000"/>
            <a:ext cx="12192000" cy="2971800"/>
          </a:xfrm>
          <a:prstGeom prst="rect">
            <a:avLst/>
          </a:prstGeom>
        </p:spPr>
      </p:pic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7F080B65-C52F-C96D-1B5D-380EF9C102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40625" t="44445" r="40625" b="40000"/>
          <a:stretch>
            <a:fillRect/>
          </a:stretch>
        </p:blipFill>
        <p:spPr>
          <a:xfrm>
            <a:off x="5143498" y="6421470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90978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FEA9E-AE49-30BE-7680-A2E201552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862E22-3BB9-C90D-7869-09EA92CAB519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/>
              <a:t>Supervised Learning Example</a:t>
            </a:r>
            <a:endParaRPr lang="en-US" sz="3200" b="1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7C1636E-8A42-AEDF-120A-A66A8765571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386833-D1AE-757D-52AB-703F300CC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8D455-C016-81E3-C0F4-EBDA87B0E0D6}"/>
              </a:ext>
            </a:extLst>
          </p:cNvPr>
          <p:cNvSpPr txBox="1"/>
          <p:nvPr/>
        </p:nvSpPr>
        <p:spPr>
          <a:xfrm>
            <a:off x="380999" y="1441079"/>
            <a:ext cx="1181099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2. Decision Tree Classifier with </a:t>
            </a:r>
            <a:r>
              <a:rPr lang="en-US" sz="2800" b="1" dirty="0" err="1">
                <a:latin typeface="+mj-lt"/>
              </a:rPr>
              <a:t>Visualisation</a:t>
            </a:r>
            <a:endParaRPr lang="en-US" sz="28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Easy to interpret and useful for in-class discussions.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7FF06E-4F37-3122-A364-F6455199F937}"/>
              </a:ext>
            </a:extLst>
          </p:cNvPr>
          <p:cNvSpPr txBox="1"/>
          <p:nvPr/>
        </p:nvSpPr>
        <p:spPr>
          <a:xfrm>
            <a:off x="30480" y="8147066"/>
            <a:ext cx="1213104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Learning outcome:</a:t>
            </a:r>
            <a:r>
              <a:rPr lang="en-US" sz="2800" dirty="0">
                <a:latin typeface="+mj-lt"/>
              </a:rPr>
              <a:t> Students see how trees split features, and why </a:t>
            </a:r>
            <a:r>
              <a:rPr lang="en-US" sz="2800" dirty="0" err="1">
                <a:latin typeface="+mj-lt"/>
              </a:rPr>
              <a:t>max_depth</a:t>
            </a:r>
            <a:r>
              <a:rPr lang="en-US" sz="2800" dirty="0">
                <a:latin typeface="+mj-lt"/>
              </a:rPr>
              <a:t> matters.</a:t>
            </a:r>
            <a:endParaRPr lang="en-AU" sz="28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62F18C-A5BF-CC30-FA6E-0B9DA23B44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1438"/>
          <a:stretch>
            <a:fillRect/>
          </a:stretch>
        </p:blipFill>
        <p:spPr>
          <a:xfrm>
            <a:off x="0" y="2759260"/>
            <a:ext cx="12192000" cy="5387806"/>
          </a:xfrm>
          <a:prstGeom prst="rect">
            <a:avLst/>
          </a:prstGeom>
        </p:spPr>
      </p:pic>
      <p:pic>
        <p:nvPicPr>
          <p:cNvPr id="10" name="Timer">
            <a:hlinkClick r:id="" action="ppaction://media"/>
            <a:extLst>
              <a:ext uri="{FF2B5EF4-FFF2-40B4-BE49-F238E27FC236}">
                <a16:creationId xmlns:a16="http://schemas.microsoft.com/office/drawing/2014/main" id="{7E647A1A-89FD-12C8-7C4C-F4C7A5FD138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40625" t="44445" r="40625" b="40000"/>
          <a:stretch>
            <a:fillRect/>
          </a:stretch>
        </p:blipFill>
        <p:spPr>
          <a:xfrm>
            <a:off x="5143498" y="8929091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02570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A246-2FC9-96A3-0C0E-E311D0D2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B57C03-C140-3FF2-38C9-9224187A4D9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/>
              <a:t>Supervised Learning Example</a:t>
            </a:r>
            <a:endParaRPr lang="en-US" sz="3200" b="1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2AF9AEE-3A97-AED5-C33E-568918DA1EA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DA0E29C-0A8B-E9A5-93B6-C0D0B3457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E24766-4720-C211-F3B2-708700498E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5" t="9749" r="3971" b="9749"/>
          <a:stretch>
            <a:fillRect/>
          </a:stretch>
        </p:blipFill>
        <p:spPr bwMode="auto">
          <a:xfrm>
            <a:off x="659891" y="1864128"/>
            <a:ext cx="10846310" cy="633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8129F7-4C7D-2C19-F03D-DBCDC6DDC172}"/>
              </a:ext>
            </a:extLst>
          </p:cNvPr>
          <p:cNvSpPr txBox="1"/>
          <p:nvPr/>
        </p:nvSpPr>
        <p:spPr>
          <a:xfrm>
            <a:off x="380999" y="1441079"/>
            <a:ext cx="350520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Result Analysis:</a:t>
            </a:r>
            <a:endParaRPr lang="en-US" sz="2800" dirty="0">
              <a:latin typeface="+mj-lt"/>
            </a:endParaRP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03780D93-BDB5-6CC4-0ADB-5624FEA566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40625" t="44445" r="40625" b="40000"/>
          <a:stretch>
            <a:fillRect/>
          </a:stretch>
        </p:blipFill>
        <p:spPr>
          <a:xfrm>
            <a:off x="5105400" y="8617321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52221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A246-2FC9-96A3-0C0E-E311D0D2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B57C03-C140-3FF2-38C9-9224187A4D9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/>
              <a:t>Supervised Learning Example</a:t>
            </a:r>
            <a:endParaRPr lang="en-US" sz="3200" b="1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2AF9AEE-3A97-AED5-C33E-568918DA1EA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DA0E29C-0A8B-E9A5-93B6-C0D0B3457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129F7-4C7D-2C19-F03D-DBCDC6DDC172}"/>
              </a:ext>
            </a:extLst>
          </p:cNvPr>
          <p:cNvSpPr txBox="1"/>
          <p:nvPr/>
        </p:nvSpPr>
        <p:spPr>
          <a:xfrm>
            <a:off x="191211" y="860712"/>
            <a:ext cx="11506201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3. K-Nearest Neighbors (KNN) Classifier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Good to demonstrate the effect of </a:t>
            </a:r>
            <a:r>
              <a:rPr lang="en-US" sz="2800" b="1" dirty="0">
                <a:latin typeface="+mj-lt"/>
              </a:rPr>
              <a:t>hyperparameters (k)</a:t>
            </a:r>
            <a:r>
              <a:rPr lang="en-US" sz="2800" dirty="0">
                <a:latin typeface="+mj-lt"/>
              </a:rPr>
              <a:t>.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03780D93-BDB5-6CC4-0ADB-5624FEA566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5" r="40625" b="40000"/>
          <a:stretch>
            <a:fillRect/>
          </a:stretch>
        </p:blipFill>
        <p:spPr>
          <a:xfrm>
            <a:off x="4953000" y="8778114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02EA95-709A-A022-9AA6-CB43FD618A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6901"/>
          <a:stretch>
            <a:fillRect/>
          </a:stretch>
        </p:blipFill>
        <p:spPr>
          <a:xfrm>
            <a:off x="15240" y="2366972"/>
            <a:ext cx="12192000" cy="5698941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44D191B-D0CB-FDB8-23C0-E5E344C6B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1" y="8065913"/>
            <a:ext cx="10878299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Learning outcome: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Students see how changing k affects bias vs variance. </a:t>
            </a:r>
          </a:p>
        </p:txBody>
      </p:sp>
    </p:spTree>
    <p:extLst>
      <p:ext uri="{BB962C8B-B14F-4D97-AF65-F5344CB8AC3E}">
        <p14:creationId xmlns:p14="http://schemas.microsoft.com/office/powerpoint/2010/main" val="397494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A246-2FC9-96A3-0C0E-E311D0D2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B57C03-C140-3FF2-38C9-9224187A4D9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/>
              <a:t>Supervised Learning Example</a:t>
            </a:r>
            <a:endParaRPr lang="en-US" sz="3200" b="1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2AF9AEE-3A97-AED5-C33E-568918DA1EA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DA0E29C-0A8B-E9A5-93B6-C0D0B3457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129F7-4C7D-2C19-F03D-DBCDC6DDC172}"/>
              </a:ext>
            </a:extLst>
          </p:cNvPr>
          <p:cNvSpPr txBox="1"/>
          <p:nvPr/>
        </p:nvSpPr>
        <p:spPr>
          <a:xfrm>
            <a:off x="380999" y="1441079"/>
            <a:ext cx="1150620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Result Analysis</a:t>
            </a:r>
            <a:endParaRPr lang="en-US" sz="2800" dirty="0">
              <a:latin typeface="+mj-lt"/>
            </a:endParaRP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03780D93-BDB5-6CC4-0ADB-5624FEA566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5" r="40625" b="40000"/>
          <a:stretch>
            <a:fillRect/>
          </a:stretch>
        </p:blipFill>
        <p:spPr>
          <a:xfrm>
            <a:off x="4953000" y="8778114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E3872C-4BC9-837C-5665-DE8D643667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222" r="48125" b="46667"/>
          <a:stretch>
            <a:fillRect/>
          </a:stretch>
        </p:blipFill>
        <p:spPr>
          <a:xfrm>
            <a:off x="-1" y="2438400"/>
            <a:ext cx="12191999" cy="543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5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A246-2FC9-96A3-0C0E-E311D0D2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B57C03-C140-3FF2-38C9-9224187A4D9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/>
              <a:t>Supervised Learning Example</a:t>
            </a:r>
            <a:endParaRPr lang="en-US" sz="3200" b="1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2AF9AEE-3A97-AED5-C33E-568918DA1EA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DA0E29C-0A8B-E9A5-93B6-C0D0B3457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129F7-4C7D-2C19-F03D-DBCDC6DDC172}"/>
              </a:ext>
            </a:extLst>
          </p:cNvPr>
          <p:cNvSpPr txBox="1"/>
          <p:nvPr/>
        </p:nvSpPr>
        <p:spPr>
          <a:xfrm>
            <a:off x="342899" y="950976"/>
            <a:ext cx="11506201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4. Regression Example (Boston Housing or Synthetic Data)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To contrast with classification.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03780D93-BDB5-6CC4-0ADB-5624FEA566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5" r="40625" b="40000"/>
          <a:stretch>
            <a:fillRect/>
          </a:stretch>
        </p:blipFill>
        <p:spPr>
          <a:xfrm>
            <a:off x="4953000" y="8778114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82A845-D61E-9B2F-88B0-EEBB16E722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556" b="13333"/>
          <a:stretch>
            <a:fillRect/>
          </a:stretch>
        </p:blipFill>
        <p:spPr>
          <a:xfrm>
            <a:off x="0" y="2590800"/>
            <a:ext cx="12192000" cy="4876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3DB811-EDF9-46BC-2E22-E99FCBBA6DA4}"/>
              </a:ext>
            </a:extLst>
          </p:cNvPr>
          <p:cNvSpPr txBox="1"/>
          <p:nvPr/>
        </p:nvSpPr>
        <p:spPr>
          <a:xfrm>
            <a:off x="191211" y="7733001"/>
            <a:ext cx="12016028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Learning outcome:</a:t>
            </a:r>
            <a:r>
              <a:rPr lang="en-US" sz="2800" dirty="0">
                <a:latin typeface="+mj-lt"/>
              </a:rPr>
              <a:t> Students understand regression vs classification outputs.</a:t>
            </a:r>
            <a:endParaRPr lang="en-AU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283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A246-2FC9-96A3-0C0E-E311D0D2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B57C03-C140-3FF2-38C9-9224187A4D9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/>
              <a:t>Supervised Learning Example</a:t>
            </a:r>
            <a:endParaRPr lang="en-US" sz="3200" b="1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2AF9AEE-3A97-AED5-C33E-568918DA1EA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DA0E29C-0A8B-E9A5-93B6-C0D0B3457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129F7-4C7D-2C19-F03D-DBCDC6DDC172}"/>
              </a:ext>
            </a:extLst>
          </p:cNvPr>
          <p:cNvSpPr txBox="1"/>
          <p:nvPr/>
        </p:nvSpPr>
        <p:spPr>
          <a:xfrm>
            <a:off x="342899" y="950976"/>
            <a:ext cx="1150620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Result Analysis</a:t>
            </a:r>
            <a:endParaRPr lang="en-US" sz="2800" dirty="0">
              <a:latin typeface="+mj-lt"/>
            </a:endParaRP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03780D93-BDB5-6CC4-0ADB-5624FEA566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5" r="40625" b="40000"/>
          <a:stretch>
            <a:fillRect/>
          </a:stretch>
        </p:blipFill>
        <p:spPr>
          <a:xfrm>
            <a:off x="4953000" y="8778114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3877F7-63AC-1068-FAE2-411C366B7FE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1111"/>
          <a:stretch>
            <a:fillRect/>
          </a:stretch>
        </p:blipFill>
        <p:spPr>
          <a:xfrm>
            <a:off x="-1" y="2060448"/>
            <a:ext cx="12192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1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A246-2FC9-96A3-0C0E-E311D0D2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B57C03-C140-3FF2-38C9-9224187A4D9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/>
              <a:t>Supervised Learning Example</a:t>
            </a:r>
            <a:endParaRPr lang="en-US" sz="3200" b="1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2AF9AEE-3A97-AED5-C33E-568918DA1EA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DA0E29C-0A8B-E9A5-93B6-C0D0B3457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129F7-4C7D-2C19-F03D-DBCDC6DDC172}"/>
              </a:ext>
            </a:extLst>
          </p:cNvPr>
          <p:cNvSpPr txBox="1"/>
          <p:nvPr/>
        </p:nvSpPr>
        <p:spPr>
          <a:xfrm>
            <a:off x="175971" y="1033786"/>
            <a:ext cx="11506201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5. Logistic Regression with Confusion Matrix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This builds skills for Week 6 (evaluation).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03780D93-BDB5-6CC4-0ADB-5624FEA566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5" r="40625" b="40000"/>
          <a:stretch>
            <a:fillRect/>
          </a:stretch>
        </p:blipFill>
        <p:spPr>
          <a:xfrm>
            <a:off x="4953000" y="8778114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F6BA40-A0C7-738E-3BB7-732EEB9FD8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2222"/>
          <a:stretch>
            <a:fillRect/>
          </a:stretch>
        </p:blipFill>
        <p:spPr>
          <a:xfrm>
            <a:off x="-1" y="2524660"/>
            <a:ext cx="121920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8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A246-2FC9-96A3-0C0E-E311D0D2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B57C03-C140-3FF2-38C9-9224187A4D9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/>
              <a:t>Supervised Learning Example</a:t>
            </a:r>
            <a:endParaRPr lang="en-US" sz="3200" b="1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2AF9AEE-3A97-AED5-C33E-568918DA1EA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DA0E29C-0A8B-E9A5-93B6-C0D0B3457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129F7-4C7D-2C19-F03D-DBCDC6DDC172}"/>
              </a:ext>
            </a:extLst>
          </p:cNvPr>
          <p:cNvSpPr txBox="1"/>
          <p:nvPr/>
        </p:nvSpPr>
        <p:spPr>
          <a:xfrm>
            <a:off x="175971" y="1033786"/>
            <a:ext cx="1150620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Result Analysis</a:t>
            </a:r>
            <a:endParaRPr lang="en-US" sz="2800" dirty="0">
              <a:latin typeface="+mj-lt"/>
            </a:endParaRP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03780D93-BDB5-6CC4-0ADB-5624FEA566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5" r="40625" b="40000"/>
          <a:stretch>
            <a:fillRect/>
          </a:stretch>
        </p:blipFill>
        <p:spPr>
          <a:xfrm>
            <a:off x="4952999" y="6955824"/>
            <a:ext cx="2286000" cy="1066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BC681D-7161-FB60-D215-E16BE13BF37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555" b="9726"/>
          <a:stretch>
            <a:fillRect/>
          </a:stretch>
        </p:blipFill>
        <p:spPr>
          <a:xfrm>
            <a:off x="-1" y="2035776"/>
            <a:ext cx="12192000" cy="443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8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A246-2FC9-96A3-0C0E-E311D0D2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B57C03-C140-3FF2-38C9-9224187A4D9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Summary for Week 5 practice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2AF9AEE-3A97-AED5-C33E-568918DA1E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DA0E29C-0A8B-E9A5-93B6-C0D0B3457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129F7-4C7D-2C19-F03D-DBCDC6DDC172}"/>
              </a:ext>
            </a:extLst>
          </p:cNvPr>
          <p:cNvSpPr txBox="1"/>
          <p:nvPr/>
        </p:nvSpPr>
        <p:spPr>
          <a:xfrm>
            <a:off x="175971" y="1033786"/>
            <a:ext cx="11506201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Logistic Regression → core classification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Decision Trees → interpretable ML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KNN → hyperparameters and bias/variance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Linear Regression → regression vs classification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Confusion Matrix → evaluation skills</a:t>
            </a:r>
          </a:p>
        </p:txBody>
      </p:sp>
    </p:spTree>
    <p:extLst>
      <p:ext uri="{BB962C8B-B14F-4D97-AF65-F5344CB8AC3E}">
        <p14:creationId xmlns:p14="http://schemas.microsoft.com/office/powerpoint/2010/main" val="3420621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109728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 with coding? Send an email or ask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FKeivanian@my.holmes.edu.au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</TotalTime>
  <Words>993</Words>
  <Application>Microsoft Office PowerPoint</Application>
  <PresentationFormat>Custom</PresentationFormat>
  <Paragraphs>131</Paragraphs>
  <Slides>27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266</cp:revision>
  <dcterms:created xsi:type="dcterms:W3CDTF">2025-04-05T17:32:34Z</dcterms:created>
  <dcterms:modified xsi:type="dcterms:W3CDTF">2025-08-18T11:48:57Z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