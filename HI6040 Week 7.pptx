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378" r:id="rId3"/>
    <p:sldId id="1815" r:id="rId4"/>
    <p:sldId id="1864" r:id="rId5"/>
    <p:sldId id="1854" r:id="rId6"/>
    <p:sldId id="1865" r:id="rId7"/>
    <p:sldId id="1866" r:id="rId8"/>
    <p:sldId id="1875" r:id="rId9"/>
    <p:sldId id="1876" r:id="rId10"/>
    <p:sldId id="1868" r:id="rId11"/>
    <p:sldId id="1869" r:id="rId12"/>
    <p:sldId id="1870" r:id="rId13"/>
    <p:sldId id="1877" r:id="rId14"/>
    <p:sldId id="1878" r:id="rId15"/>
    <p:sldId id="1873" r:id="rId16"/>
    <p:sldId id="1874" r:id="rId17"/>
    <p:sldId id="1872" r:id="rId18"/>
    <p:sldId id="612" r:id="rId19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A5373-6344-4AF6-9BAC-A104016F08E5}" type="datetimeFigureOut">
              <a:rPr lang="en-AU" smtClean="0"/>
              <a:t>2/09/2025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257300"/>
            <a:ext cx="41148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840288"/>
            <a:ext cx="975360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7AD3A-C137-495D-BCE3-2058CBCF8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8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olmesedug-my.sharepoint.com/:x:/g/personal/ftohidi_holmes_edu_au/EUrG7OWCVV1IjJgIf-1U-2oB1tVVBNE7djKHIqtFSdsO6g?e=D1iU1q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058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005839"/>
            <a:ext cx="5421703" cy="8046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914400" y="1840319"/>
            <a:ext cx="4953000" cy="30364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HI6040 (Artificial Intelligence and Machine Learning)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Dr. Farshid Keivanian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7503" y="1005838"/>
            <a:ext cx="5410200" cy="804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F26088-CD0B-4B6E-C264-86192CFA8212}"/>
              </a:ext>
            </a:extLst>
          </p:cNvPr>
          <p:cNvSpPr txBox="1"/>
          <p:nvPr/>
        </p:nvSpPr>
        <p:spPr>
          <a:xfrm>
            <a:off x="1828800" y="7010400"/>
            <a:ext cx="3604406" cy="756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Tutorial Week 7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Outline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380999" y="1441079"/>
            <a:ext cx="11810999" cy="843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Group Class Facilitation for HI6040-S1-T2.2025 (Sydney Campus)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What Students Should Do in Week 7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1 – ROC Curve and AUC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1 – Result Analysis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2 – Overfitting Check (Decision Tree)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1: Change the Classifier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2: Change the Train-Test Split Ratio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2 – Result Analysis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Example 2 – Student Key Takeaways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3: Compare Train vs Test Accuracy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Activity 4: Use ROC Curve &amp; AUC Instead of Accuracy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Simple Discussion Questions for Week 7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Simple Discussion Questions for Week 7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Suggested Titles for Slides</a:t>
            </a: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64163D-0BE7-848D-C936-9B4FBB96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F322B6-2450-B234-74F1-3103B6C3D038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Group Class Facilitation for HI6040-S1-T2.2025 (Sydney Campus)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F89509-3804-61EC-3CFB-897E66FA43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C6C920-C9C0-E822-1ABE-55C24989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45F0D-7CC3-9922-18C9-BEA6EE83F978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For the Group Class Facilitation assessment (worth 30%), your group must select a topic and email it to me for approval.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In addition, each group must book a time slot for your presentation session. Please use the following link to book your slot: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1BC5E-B43F-0BBC-CAE0-B9215BC31CFB}"/>
              </a:ext>
            </a:extLst>
          </p:cNvPr>
          <p:cNvSpPr txBox="1"/>
          <p:nvPr/>
        </p:nvSpPr>
        <p:spPr>
          <a:xfrm>
            <a:off x="457200" y="4281806"/>
            <a:ext cx="861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hlinkClick r:id="rId3"/>
              </a:rPr>
              <a:t>Presentation Schedule for HI6040-2025 (Sydney S1).xlsx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435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CFFF92-52E6-1F06-BAB8-4BF6D1F4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10003C-AF90-E7E5-D30B-90D35AEA3117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Group Class Facilitation for HI6040-S1-T2.2025 (Sydney Campus)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6AF1FCF-8D9F-72A8-FD69-AF1AD67FC2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58C63BA-254A-29A3-BB36-C6457D34F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62EC3-9DF7-CE66-464F-B6B560CC5F81}"/>
              </a:ext>
            </a:extLst>
          </p:cNvPr>
          <p:cNvSpPr txBox="1"/>
          <p:nvPr/>
        </p:nvSpPr>
        <p:spPr>
          <a:xfrm>
            <a:off x="380999" y="1441079"/>
            <a:ext cx="118109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Important guidelines: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group must choose a topic (from the proposed AI/ML areas) and obtain approval by email.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Time slots are allocated on a first-come, first-served basis.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Enter your group’s details directly into the booking sheet.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group presents only once, in their allocated week (Weeks 5–11).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student is expected to present for about 5 minutes.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Your slides must be submitted on Blackboard before your facilitation session (one submission per group).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After booking, please send me a confirmation email.</a:t>
            </a:r>
          </a:p>
        </p:txBody>
      </p:sp>
    </p:spTree>
    <p:extLst>
      <p:ext uri="{BB962C8B-B14F-4D97-AF65-F5344CB8AC3E}">
        <p14:creationId xmlns:p14="http://schemas.microsoft.com/office/powerpoint/2010/main" val="33102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234589-4B9E-BB3A-A1AA-49B7E0A5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61B330-E338-A2DB-8581-8E19A3029C1B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What Students Should Do in Week 7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6BC96A1-FCA9-88AF-63FC-528D5CAE26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9E4A715-EE94-B679-18E1-CEDA97ED9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8F8D5-DE77-0408-30AB-A6D9DDA7B230}"/>
              </a:ext>
            </a:extLst>
          </p:cNvPr>
          <p:cNvSpPr txBox="1"/>
          <p:nvPr/>
        </p:nvSpPr>
        <p:spPr>
          <a:xfrm>
            <a:off x="380999" y="1441079"/>
            <a:ext cx="11201401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Topic focus: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Supervised Learning – Evaluation &amp; Model Improvement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Task: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Compare models, but focus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well they perform and how to interpret results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not just the accuracy.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Output: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One PowerPoint slide per group with:</a:t>
            </a:r>
          </a:p>
          <a:p>
            <a:pPr marL="808038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confusion matrix and at least one other metric (precision, recall, F1, ROC/AUC).</a:t>
            </a:r>
          </a:p>
          <a:p>
            <a:pPr marL="808038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Short reflection: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Which model performs better? Why?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808038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practical business example: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does this mean for a company or hospital?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217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7A0E53-0408-8570-F4B5-157CBE01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313BD20-25E8-F253-CB51-0FC81D47B239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1 – ROC Curve and AUC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C755A42-1E41-726A-C017-7B157FC960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19DCF49-DDCE-8453-43AB-48AB393C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291138-7BBE-A430-2897-B021C2AC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0" t="28888" r="45000" b="14445"/>
          <a:stretch>
            <a:fillRect/>
          </a:stretch>
        </p:blipFill>
        <p:spPr>
          <a:xfrm>
            <a:off x="31531" y="1901952"/>
            <a:ext cx="12128937" cy="787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DB04B2-8878-1166-01C8-B4AF02A17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C2EECE-7EEF-2698-6206-785ED5AA35FA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1 – Result Analysis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A8B095A-8FD1-A706-D9DA-1BAD85F76F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7C51C34-3920-9AF8-2604-D102B024E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3FCFA7-00C8-E004-9438-46E1E585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414" y="740679"/>
            <a:ext cx="5971171" cy="479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46B357-CD8B-10E0-5277-00B977930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3325"/>
            <a:ext cx="12192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ROC curve shows how well our Logistic Regression model separates the two classes: malignant (cancer) and benign (not cancer).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blue curve is almost perfect and hugs the top-left corner, meaning the model is excellent at distinguishing between the two.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AUC (Area Under Curve) = 1.00, which is the best possible score.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 simple words: our model is extremely accurate in predicting whether a tumor is malignant or benign.</a:t>
            </a:r>
          </a:p>
        </p:txBody>
      </p:sp>
    </p:spTree>
    <p:extLst>
      <p:ext uri="{BB962C8B-B14F-4D97-AF65-F5344CB8AC3E}">
        <p14:creationId xmlns:p14="http://schemas.microsoft.com/office/powerpoint/2010/main" val="31817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48FFD6-E485-A9C8-B891-329EFB2A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AB0530-0680-770C-8587-DDDABB6B595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Activity 1: Change the Classifier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AE119FF-FD97-CC88-DED1-BB7A3B4B3F2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02476BA-324D-A1F4-C8F3-38399BB04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41551-891E-901C-69DA-001CBC2B4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457725"/>
            <a:ext cx="12192000" cy="131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b="1" dirty="0">
                <a:latin typeface="+mj-lt"/>
              </a:rPr>
              <a:t>Task</a:t>
            </a:r>
            <a:r>
              <a:rPr lang="en-US" sz="2800" dirty="0">
                <a:latin typeface="+mj-lt"/>
              </a:rPr>
              <a:t>: Replace </a:t>
            </a:r>
            <a:r>
              <a:rPr lang="en-US" sz="2800" b="1" dirty="0">
                <a:latin typeface="+mj-lt"/>
              </a:rPr>
              <a:t>LogisticRegression</a:t>
            </a:r>
            <a:r>
              <a:rPr lang="en-US" sz="2800" dirty="0">
                <a:latin typeface="+mj-lt"/>
              </a:rPr>
              <a:t> with a </a:t>
            </a:r>
            <a:r>
              <a:rPr lang="en-US" sz="2800" b="1" dirty="0" err="1">
                <a:latin typeface="+mj-lt"/>
              </a:rPr>
              <a:t>DecisionTreeClassifier</a:t>
            </a:r>
            <a:r>
              <a:rPr lang="en-US" sz="2800" dirty="0">
                <a:latin typeface="+mj-lt"/>
              </a:rPr>
              <a:t> and compare the ROC curve.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BF404-5D76-B8CB-5203-FF6FE44BEBB6}"/>
              </a:ext>
            </a:extLst>
          </p:cNvPr>
          <p:cNvSpPr txBox="1"/>
          <p:nvPr/>
        </p:nvSpPr>
        <p:spPr>
          <a:xfrm>
            <a:off x="-1" y="3359678"/>
            <a:ext cx="12085322" cy="44012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sklearn.tree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DecisionTreeClassifier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Train model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DecisionTreeClassifier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model.fit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Probabilities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model.predict_proba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)[:,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pic>
        <p:nvPicPr>
          <p:cNvPr id="8" name="Timer">
            <a:hlinkClick r:id="" action="ppaction://media"/>
            <a:extLst>
              <a:ext uri="{FF2B5EF4-FFF2-40B4-BE49-F238E27FC236}">
                <a16:creationId xmlns:a16="http://schemas.microsoft.com/office/drawing/2014/main" id="{2FA6DEF4-8BF8-9BF2-86D6-73D764C188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6" r="40625" b="39998"/>
          <a:stretch>
            <a:fillRect/>
          </a:stretch>
        </p:blipFill>
        <p:spPr>
          <a:xfrm>
            <a:off x="9677400" y="2239750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9A51CF-D81C-91F3-8911-ECEE07FE2DFB}"/>
              </a:ext>
            </a:extLst>
          </p:cNvPr>
          <p:cNvSpPr txBox="1"/>
          <p:nvPr/>
        </p:nvSpPr>
        <p:spPr>
          <a:xfrm>
            <a:off x="191210" y="7760883"/>
            <a:ext cx="11772190" cy="207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+mj-lt"/>
              </a:rPr>
              <a:t>Student Questions</a:t>
            </a:r>
            <a:r>
              <a:rPr lang="en-US" sz="2200" dirty="0">
                <a:latin typeface="+mj-lt"/>
              </a:rPr>
              <a:t>:</a:t>
            </a:r>
          </a:p>
          <a:p>
            <a:pPr marL="715963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+mj-lt"/>
              </a:rPr>
              <a:t>Plot the ROC curve and calculate the AUC.</a:t>
            </a:r>
          </a:p>
          <a:p>
            <a:pPr marL="715963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+mj-lt"/>
              </a:rPr>
              <a:t>Compare the shape of the ROC curve and the AUC score with Example 1 (Logistic Regression).</a:t>
            </a:r>
          </a:p>
          <a:p>
            <a:pPr marL="715963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+mj-lt"/>
              </a:rPr>
              <a:t>Which model performed better on this dataset? Why?</a:t>
            </a:r>
          </a:p>
        </p:txBody>
      </p:sp>
    </p:spTree>
    <p:extLst>
      <p:ext uri="{BB962C8B-B14F-4D97-AF65-F5344CB8AC3E}">
        <p14:creationId xmlns:p14="http://schemas.microsoft.com/office/powerpoint/2010/main" val="25608229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48FFD6-E485-A9C8-B891-329EFB2A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AB0530-0680-770C-8587-DDDABB6B595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Activity 2: Change the Train-Test Split Ratio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AE119FF-FD97-CC88-DED1-BB7A3B4B3F2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02476BA-324D-A1F4-C8F3-38399BB04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41551-891E-901C-69DA-001CBC2B4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456347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</a:t>
            </a:r>
            <a:r>
              <a:rPr lang="en-US" sz="2800" dirty="0">
                <a:latin typeface="+mj-lt"/>
              </a:rPr>
              <a:t>: Modify the </a:t>
            </a:r>
            <a:r>
              <a:rPr lang="en-US" sz="2800" dirty="0" err="1">
                <a:latin typeface="+mj-lt"/>
              </a:rPr>
              <a:t>train_test_split</a:t>
            </a:r>
            <a:r>
              <a:rPr lang="en-US" sz="2800" dirty="0">
                <a:latin typeface="+mj-lt"/>
              </a:rPr>
              <a:t> proportion and see the effect.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Example:</a:t>
            </a:r>
          </a:p>
        </p:txBody>
      </p:sp>
      <p:pic>
        <p:nvPicPr>
          <p:cNvPr id="8" name="Timer">
            <a:hlinkClick r:id="" action="ppaction://media"/>
            <a:extLst>
              <a:ext uri="{FF2B5EF4-FFF2-40B4-BE49-F238E27FC236}">
                <a16:creationId xmlns:a16="http://schemas.microsoft.com/office/drawing/2014/main" id="{2FA6DEF4-8BF8-9BF2-86D6-73D764C188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6" r="40625" b="39998"/>
          <a:stretch>
            <a:fillRect/>
          </a:stretch>
        </p:blipFill>
        <p:spPr>
          <a:xfrm>
            <a:off x="9677400" y="2239750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9A51CF-D81C-91F3-8911-ECEE07FE2DFB}"/>
              </a:ext>
            </a:extLst>
          </p:cNvPr>
          <p:cNvSpPr txBox="1"/>
          <p:nvPr/>
        </p:nvSpPr>
        <p:spPr>
          <a:xfrm>
            <a:off x="-15241" y="4399367"/>
            <a:ext cx="1177219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Student Questions</a:t>
            </a:r>
            <a:r>
              <a:rPr lang="en-US" sz="2800" dirty="0">
                <a:latin typeface="+mj-lt"/>
              </a:rPr>
              <a:t>: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Re-plot the ROC curve with the new split.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Did the AUC score change compared to Example 1 (70% train / 30% test)?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Why does changing the amount of training vs. testing data affect model performance?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7689F-3E73-6900-E7C9-98430E901BFA}"/>
              </a:ext>
            </a:extLst>
          </p:cNvPr>
          <p:cNvSpPr txBox="1"/>
          <p:nvPr/>
        </p:nvSpPr>
        <p:spPr>
          <a:xfrm>
            <a:off x="0" y="3552833"/>
            <a:ext cx="12192000" cy="8617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data.data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data.target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2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2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781534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005A452-4D5B-5E4C-A20A-7D219EE4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F20F17-9FFB-0B95-3E96-C69E2CB7E92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2 – Overfitting Check (Decision Tree)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781A0AC-DDAA-C631-634C-2F08AC8A23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0EA70AE-E17C-ED94-9530-85E37D0AA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F5E24-6104-B3C3-2C2E-1A5AF93B8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5" t="43333" r="52500" b="31111"/>
          <a:stretch>
            <a:fillRect/>
          </a:stretch>
        </p:blipFill>
        <p:spPr>
          <a:xfrm>
            <a:off x="-1" y="1840992"/>
            <a:ext cx="12191999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0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5F41EA-3F3C-25DB-7860-BC65E24F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23AA7B-68ED-A868-02D5-43AA41131C72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2 – Result Analysis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DECCB23-AC91-7F73-71B1-30D4C12A6C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2C88980-A06E-A42A-46BE-59B0D6444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62718C-232E-A0EF-014D-11883D298D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12" b="18889"/>
          <a:stretch>
            <a:fillRect/>
          </a:stretch>
        </p:blipFill>
        <p:spPr>
          <a:xfrm>
            <a:off x="0" y="3276600"/>
            <a:ext cx="12192000" cy="30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69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7492FB-06E9-9271-564F-13636E39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710B0C-ED36-7540-57C7-235CA261DC26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2 – Student Key Takeaways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A937F97-0E24-D965-0645-E3899E5CAA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F61BA07-5BE2-7811-FDD4-BDCA488CE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96032-9CC3-E2AA-8EC9-0683CCDD9302}"/>
              </a:ext>
            </a:extLst>
          </p:cNvPr>
          <p:cNvSpPr txBox="1"/>
          <p:nvPr/>
        </p:nvSpPr>
        <p:spPr>
          <a:xfrm>
            <a:off x="191211" y="2372190"/>
            <a:ext cx="1174861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Deep tree may overfit training data but perform worse on test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Real-world: Need balance (bias-variance trade-off).</a:t>
            </a:r>
          </a:p>
        </p:txBody>
      </p:sp>
    </p:spTree>
    <p:extLst>
      <p:ext uri="{BB962C8B-B14F-4D97-AF65-F5344CB8AC3E}">
        <p14:creationId xmlns:p14="http://schemas.microsoft.com/office/powerpoint/2010/main" val="1745039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4EC0-24E4-3705-DDA8-9EE11650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02B2FA-FD98-216D-366B-ABA0767AFCFD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Activity 3: Compare Train vs Test Accuracy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1161D1E-9376-9B11-4438-C2B07F3743A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75A0A75-6414-0723-457A-3384B9C3E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248EF-D014-3930-3B64-57850F925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810016"/>
            <a:ext cx="12192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</a:t>
            </a:r>
            <a:r>
              <a:rPr lang="en-US" sz="2800" dirty="0">
                <a:latin typeface="+mj-lt"/>
              </a:rPr>
              <a:t>:</a:t>
            </a:r>
          </a:p>
          <a:p>
            <a:pPr marL="808038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Modify the code to calculate </a:t>
            </a:r>
            <a:r>
              <a:rPr lang="en-US" sz="2800" b="1" dirty="0">
                <a:latin typeface="+mj-lt"/>
              </a:rPr>
              <a:t>both training and test accuracy</a:t>
            </a:r>
            <a:r>
              <a:rPr lang="en-US" sz="2800" dirty="0">
                <a:latin typeface="+mj-lt"/>
              </a:rPr>
              <a:t> for simple and deep trees.</a:t>
            </a:r>
          </a:p>
          <a:p>
            <a:pPr marL="808038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Print results in a clear format.</a:t>
            </a:r>
          </a:p>
        </p:txBody>
      </p:sp>
      <p:pic>
        <p:nvPicPr>
          <p:cNvPr id="8" name="Timer">
            <a:hlinkClick r:id="" action="ppaction://media"/>
            <a:extLst>
              <a:ext uri="{FF2B5EF4-FFF2-40B4-BE49-F238E27FC236}">
                <a16:creationId xmlns:a16="http://schemas.microsoft.com/office/drawing/2014/main" id="{6E814CE4-9884-36C9-86A3-9F4F0B363C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6" r="40625" b="39998"/>
          <a:stretch>
            <a:fillRect/>
          </a:stretch>
        </p:blipFill>
        <p:spPr>
          <a:xfrm>
            <a:off x="9677400" y="2239750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EEF76B-991B-8954-98BF-D436A2563D1B}"/>
              </a:ext>
            </a:extLst>
          </p:cNvPr>
          <p:cNvSpPr txBox="1"/>
          <p:nvPr/>
        </p:nvSpPr>
        <p:spPr>
          <a:xfrm>
            <a:off x="0" y="3728177"/>
            <a:ext cx="1177219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Hint:</a:t>
            </a:r>
            <a:endParaRPr lang="en-US" sz="28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F49AA-6F7B-984F-5B5F-FA3EA1257615}"/>
              </a:ext>
            </a:extLst>
          </p:cNvPr>
          <p:cNvSpPr txBox="1"/>
          <p:nvPr/>
        </p:nvSpPr>
        <p:spPr>
          <a:xfrm>
            <a:off x="15240" y="4657046"/>
            <a:ext cx="12192000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"Simple Tree Accuracy (Train):"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tree_simple.predict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"Deep Tree Accuracy (Train):"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tree_deep.predict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29EE1-E97B-61DC-5D8A-CE6555C41EEF}"/>
              </a:ext>
            </a:extLst>
          </p:cNvPr>
          <p:cNvSpPr txBox="1"/>
          <p:nvPr/>
        </p:nvSpPr>
        <p:spPr>
          <a:xfrm>
            <a:off x="191210" y="6934200"/>
            <a:ext cx="1200078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Student Questions</a:t>
            </a:r>
            <a:r>
              <a:rPr lang="en-US" sz="2800" dirty="0">
                <a:latin typeface="+mj-lt"/>
              </a:rPr>
              <a:t>:</a:t>
            </a:r>
          </a:p>
          <a:p>
            <a:pPr marL="9906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Which model shows signs of </a:t>
            </a:r>
            <a:r>
              <a:rPr lang="en-US" sz="2800" b="1" dirty="0">
                <a:latin typeface="+mj-lt"/>
              </a:rPr>
              <a:t>overfitting</a:t>
            </a:r>
            <a:r>
              <a:rPr lang="en-US" sz="2800" dirty="0">
                <a:latin typeface="+mj-lt"/>
              </a:rPr>
              <a:t>?</a:t>
            </a:r>
          </a:p>
          <a:p>
            <a:pPr marL="9906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Why does the deep tree perform better on training but worse on test data?</a:t>
            </a:r>
          </a:p>
        </p:txBody>
      </p:sp>
    </p:spTree>
    <p:extLst>
      <p:ext uri="{BB962C8B-B14F-4D97-AF65-F5344CB8AC3E}">
        <p14:creationId xmlns:p14="http://schemas.microsoft.com/office/powerpoint/2010/main" val="324098859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4EC0-24E4-3705-DDA8-9EE11650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02B2FA-FD98-216D-366B-ABA0767AFCFD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Activity 4: Use ROC Curve &amp; AUC Instead of Accuracy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1161D1E-9376-9B11-4438-C2B07F3743A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75A0A75-6414-0723-457A-3384B9C3E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248EF-D014-3930-3B64-57850F925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" y="1258094"/>
            <a:ext cx="12192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</a:t>
            </a:r>
            <a:r>
              <a:rPr lang="en-US" sz="2800" dirty="0">
                <a:latin typeface="+mj-lt"/>
              </a:rPr>
              <a:t>:</a:t>
            </a:r>
          </a:p>
          <a:p>
            <a:pPr marL="808038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Extend the code to plot ROC curves and calculate AUC for both simple and deep trees.</a:t>
            </a:r>
          </a:p>
          <a:p>
            <a:pPr marL="808038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Compare which model is more reliable based on </a:t>
            </a:r>
            <a:r>
              <a:rPr lang="en-US" sz="2800" b="1" dirty="0">
                <a:latin typeface="+mj-lt"/>
              </a:rPr>
              <a:t>AUC</a:t>
            </a:r>
            <a:r>
              <a:rPr lang="en-US" sz="2800" dirty="0">
                <a:latin typeface="+mj-lt"/>
              </a:rPr>
              <a:t>, not just accuracy.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Hint</a:t>
            </a:r>
            <a:r>
              <a:rPr lang="en-US" sz="2800" dirty="0">
                <a:latin typeface="+mj-lt"/>
              </a:rPr>
              <a:t>: Use </a:t>
            </a:r>
            <a:r>
              <a:rPr lang="en-US" sz="2800" dirty="0" err="1">
                <a:latin typeface="+mj-lt"/>
              </a:rPr>
              <a:t>predict_proba</a:t>
            </a:r>
            <a:r>
              <a:rPr lang="en-US" sz="2800" dirty="0">
                <a:latin typeface="+mj-lt"/>
              </a:rPr>
              <a:t>(</a:t>
            </a:r>
            <a:r>
              <a:rPr lang="en-US" sz="2800" dirty="0" err="1">
                <a:latin typeface="+mj-lt"/>
              </a:rPr>
              <a:t>X_test</a:t>
            </a:r>
            <a:r>
              <a:rPr lang="en-US" sz="2800" dirty="0">
                <a:latin typeface="+mj-lt"/>
              </a:rPr>
              <a:t>)[:,1] like in Example 1.</a:t>
            </a:r>
          </a:p>
        </p:txBody>
      </p:sp>
      <p:pic>
        <p:nvPicPr>
          <p:cNvPr id="8" name="Timer">
            <a:hlinkClick r:id="" action="ppaction://media"/>
            <a:extLst>
              <a:ext uri="{FF2B5EF4-FFF2-40B4-BE49-F238E27FC236}">
                <a16:creationId xmlns:a16="http://schemas.microsoft.com/office/drawing/2014/main" id="{6E814CE4-9884-36C9-86A3-9F4F0B363C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6" r="40625" b="39998"/>
          <a:stretch>
            <a:fillRect/>
          </a:stretch>
        </p:blipFill>
        <p:spPr>
          <a:xfrm>
            <a:off x="4953000" y="950976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CF49AA-6F7B-984F-5B5F-FA3EA1257615}"/>
              </a:ext>
            </a:extLst>
          </p:cNvPr>
          <p:cNvSpPr txBox="1"/>
          <p:nvPr/>
        </p:nvSpPr>
        <p:spPr>
          <a:xfrm>
            <a:off x="15240" y="4657046"/>
            <a:ext cx="12192000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"Simple Tree Accuracy (Train):"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tree_simple.predict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"Deep Tree Accuracy (Train):"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tree_deep.predict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29EE1-E97B-61DC-5D8A-CE6555C41EEF}"/>
              </a:ext>
            </a:extLst>
          </p:cNvPr>
          <p:cNvSpPr txBox="1"/>
          <p:nvPr/>
        </p:nvSpPr>
        <p:spPr>
          <a:xfrm>
            <a:off x="191210" y="6934200"/>
            <a:ext cx="120007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Student Questions</a:t>
            </a:r>
            <a:r>
              <a:rPr lang="en-US" sz="2800" dirty="0">
                <a:latin typeface="+mj-lt"/>
              </a:rPr>
              <a:t>:</a:t>
            </a:r>
          </a:p>
          <a:p>
            <a:pPr marL="808038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Does the deep tree still look better when using AUC instead of accuracy?</a:t>
            </a:r>
          </a:p>
          <a:p>
            <a:pPr marL="808038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Why is AUC sometimes a more useful metric than accuracy?</a:t>
            </a:r>
          </a:p>
        </p:txBody>
      </p:sp>
    </p:spTree>
    <p:extLst>
      <p:ext uri="{BB962C8B-B14F-4D97-AF65-F5344CB8AC3E}">
        <p14:creationId xmlns:p14="http://schemas.microsoft.com/office/powerpoint/2010/main" val="389939934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2EBB27-1347-3911-ADE3-E0300D83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3196D7-10EB-ABCC-84A1-68361ABCD9AA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Simple Discussion Questions for Week 7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5E57CDA-5CD9-A644-0819-CDF1861018C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7BBCE31-AC94-1BB9-C7E7-3F539014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9CF71-2675-9DDD-CADB-65C0107E9255}"/>
              </a:ext>
            </a:extLst>
          </p:cNvPr>
          <p:cNvSpPr txBox="1"/>
          <p:nvPr/>
        </p:nvSpPr>
        <p:spPr>
          <a:xfrm>
            <a:off x="191211" y="2372190"/>
            <a:ext cx="11748618" cy="583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Q1. Why is accuracy not always enough to judge a model?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Accuracy only tells us the percentage of correct predictions. But in cases like medical diagnosis, even a few false negatives (missing a cancer case) are very dangerous. So, accuracy alone can hide serious problems.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Q2. What does the confusion matrix reveal that accuracy does not?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confusion matrix shows exactly how many mistakes the model made: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False Positives (wrongly predicting cancer when there is none).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False Negatives (missing cancer when it is present).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This detail is hidden if we only look at accuracy.</a:t>
            </a:r>
          </a:p>
        </p:txBody>
      </p:sp>
      <p:pic>
        <p:nvPicPr>
          <p:cNvPr id="4" name="Timer">
            <a:hlinkClick r:id="" action="ppaction://media"/>
            <a:extLst>
              <a:ext uri="{FF2B5EF4-FFF2-40B4-BE49-F238E27FC236}">
                <a16:creationId xmlns:a16="http://schemas.microsoft.com/office/drawing/2014/main" id="{9E1ACAB8-A6EB-4228-884D-76E8543CC7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6" r="40625" b="39998"/>
          <a:stretch>
            <a:fillRect/>
          </a:stretch>
        </p:blipFill>
        <p:spPr>
          <a:xfrm>
            <a:off x="5437581" y="8382000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54227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8C552C-28F3-06F1-0C19-14CC3EFB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437672-45A9-D5F0-598C-C84608BDBC0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Simple Discussion Questions for Week 7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A42CBF9-7C65-5D36-87F3-379ACC39891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C038623-D6A3-2FFD-3CE1-557F44478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FA23E-1104-FBA9-075F-0A00D3FDA3E3}"/>
              </a:ext>
            </a:extLst>
          </p:cNvPr>
          <p:cNvSpPr txBox="1"/>
          <p:nvPr/>
        </p:nvSpPr>
        <p:spPr>
          <a:xfrm>
            <a:off x="221691" y="1752600"/>
            <a:ext cx="11748618" cy="777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Q3. How can ROC/AUC help in a medical diagnosis setting?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ROC/AUC tells us how good the model is at separating sick vs. healthy patients across all thresholds.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In medicine, we want very high sensitivity (catching all sick patients) even if it means a few extra false alarms.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Q4. What happens when a model is too simple vs. too complex?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Too simple → It underfits, misses patterns, gives poor predictions. Example: using only one rule to detect cancer.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Too complex → It overfits, </a:t>
            </a:r>
            <a:r>
              <a:rPr lang="en-US" sz="2800" dirty="0" err="1">
                <a:latin typeface="+mj-lt"/>
              </a:rPr>
              <a:t>memorises</a:t>
            </a:r>
            <a:r>
              <a:rPr lang="en-US" sz="2800" dirty="0">
                <a:latin typeface="+mj-lt"/>
              </a:rPr>
              <a:t> the training data but fails on new patients. Example: a giant tree that matches training perfectly but is useless in practice.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Good models balance simplicity and </a:t>
            </a:r>
            <a:r>
              <a:rPr lang="en-US" sz="2800" dirty="0" err="1">
                <a:latin typeface="+mj-lt"/>
              </a:rPr>
              <a:t>generalisation</a:t>
            </a:r>
            <a:r>
              <a:rPr lang="en-US" sz="2800" dirty="0">
                <a:latin typeface="+mj-lt"/>
              </a:rPr>
              <a:t>.</a:t>
            </a:r>
          </a:p>
        </p:txBody>
      </p:sp>
      <p:pic>
        <p:nvPicPr>
          <p:cNvPr id="4" name="Timer">
            <a:hlinkClick r:id="" action="ppaction://media"/>
            <a:extLst>
              <a:ext uri="{FF2B5EF4-FFF2-40B4-BE49-F238E27FC236}">
                <a16:creationId xmlns:a16="http://schemas.microsoft.com/office/drawing/2014/main" id="{DBABD1C0-6069-7CE1-00B2-B11656C49E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6" r="40625" b="39998"/>
          <a:stretch>
            <a:fillRect/>
          </a:stretch>
        </p:blipFill>
        <p:spPr>
          <a:xfrm>
            <a:off x="8291271" y="8464404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5357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7DF079-C970-4312-85D2-BF66E7E3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0AE5CB-AD21-7129-3827-FC2B6B32C07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Suggested Titles for Slides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954526E-8B3A-9247-513E-C0C39BAD5A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E88A906-87A8-D8DA-67E7-232757E8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A903D-DCE1-F3EC-D900-ACE506086B2C}"/>
              </a:ext>
            </a:extLst>
          </p:cNvPr>
          <p:cNvSpPr txBox="1"/>
          <p:nvPr/>
        </p:nvSpPr>
        <p:spPr>
          <a:xfrm>
            <a:off x="191211" y="2372190"/>
            <a:ext cx="1174861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Slide 1: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Evaluation – Beyond Accuracy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Slide 2: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Overfitting vs Generalization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Slide 3 (optional):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Business Impact Example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0878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10972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 with coding?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970</TotalTime>
  <Words>1308</Words>
  <Application>Microsoft Office PowerPoint</Application>
  <PresentationFormat>Custom</PresentationFormat>
  <Paragraphs>112</Paragraphs>
  <Slides>18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Consolas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315</cp:revision>
  <dcterms:created xsi:type="dcterms:W3CDTF">2025-04-05T17:32:34Z</dcterms:created>
  <dcterms:modified xsi:type="dcterms:W3CDTF">2025-09-02T01:29:41Z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