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4.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378" r:id="rId3"/>
    <p:sldId id="1182" r:id="rId4"/>
    <p:sldId id="1183" r:id="rId5"/>
    <p:sldId id="1186" r:id="rId6"/>
    <p:sldId id="1184" r:id="rId7"/>
    <p:sldId id="1187" r:id="rId8"/>
    <p:sldId id="1185" r:id="rId9"/>
    <p:sldId id="1188" r:id="rId10"/>
    <p:sldId id="1189" r:id="rId11"/>
    <p:sldId id="1190" r:id="rId12"/>
    <p:sldId id="1748" r:id="rId13"/>
    <p:sldId id="1749" r:id="rId14"/>
    <p:sldId id="1750" r:id="rId15"/>
    <p:sldId id="1751" r:id="rId16"/>
    <p:sldId id="1828" r:id="rId17"/>
    <p:sldId id="1832" r:id="rId18"/>
    <p:sldId id="1826" r:id="rId19"/>
    <p:sldId id="1827" r:id="rId20"/>
    <p:sldId id="1831" r:id="rId21"/>
    <p:sldId id="1839" r:id="rId22"/>
    <p:sldId id="1840" r:id="rId23"/>
    <p:sldId id="1841" r:id="rId24"/>
    <p:sldId id="1842" r:id="rId25"/>
    <p:sldId id="1843" r:id="rId26"/>
    <p:sldId id="1844" r:id="rId27"/>
    <p:sldId id="1845" r:id="rId28"/>
    <p:sldId id="1846" r:id="rId29"/>
    <p:sldId id="1847" r:id="rId30"/>
    <p:sldId id="1829" r:id="rId31"/>
    <p:sldId id="1830" r:id="rId32"/>
    <p:sldId id="1836" r:id="rId33"/>
    <p:sldId id="1763" r:id="rId34"/>
    <p:sldId id="1767" r:id="rId35"/>
    <p:sldId id="1764" r:id="rId36"/>
    <p:sldId id="1765" r:id="rId37"/>
    <p:sldId id="1766" r:id="rId38"/>
    <p:sldId id="1768" r:id="rId39"/>
    <p:sldId id="1761" r:id="rId40"/>
    <p:sldId id="1753" r:id="rId41"/>
    <p:sldId id="1754" r:id="rId42"/>
    <p:sldId id="1755" r:id="rId43"/>
    <p:sldId id="1756" r:id="rId44"/>
    <p:sldId id="1757" r:id="rId45"/>
    <p:sldId id="1758" r:id="rId46"/>
    <p:sldId id="1759" r:id="rId47"/>
    <p:sldId id="1760" r:id="rId48"/>
    <p:sldId id="612" r:id="rId49"/>
  </p:sldIdLst>
  <p:sldSz cx="12192000" cy="10058400"/>
  <p:notesSz cx="121920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94660"/>
  </p:normalViewPr>
  <p:slideViewPr>
    <p:cSldViewPr>
      <p:cViewPr varScale="1">
        <p:scale>
          <a:sx n="48" d="100"/>
          <a:sy n="48" d="100"/>
        </p:scale>
        <p:origin x="1968" y="4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50482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6905625" y="0"/>
            <a:ext cx="5283200" cy="504825"/>
          </a:xfrm>
          <a:prstGeom prst="rect">
            <a:avLst/>
          </a:prstGeom>
        </p:spPr>
        <p:txBody>
          <a:bodyPr vert="horz" lIns="91440" tIns="45720" rIns="91440" bIns="45720" rtlCol="0"/>
          <a:lstStyle>
            <a:lvl1pPr algn="r">
              <a:defRPr sz="1200"/>
            </a:lvl1pPr>
          </a:lstStyle>
          <a:p>
            <a:fld id="{4CDA5373-6344-4AF6-9BAC-A104016F08E5}" type="datetimeFigureOut">
              <a:rPr lang="en-AU" smtClean="0"/>
              <a:t>12/08/2025</a:t>
            </a:fld>
            <a:endParaRPr lang="en-AU"/>
          </a:p>
        </p:txBody>
      </p:sp>
      <p:sp>
        <p:nvSpPr>
          <p:cNvPr id="4" name="Slide Image Placeholder 3"/>
          <p:cNvSpPr>
            <a:spLocks noGrp="1" noRot="1" noChangeAspect="1"/>
          </p:cNvSpPr>
          <p:nvPr>
            <p:ph type="sldImg" idx="2"/>
          </p:nvPr>
        </p:nvSpPr>
        <p:spPr>
          <a:xfrm>
            <a:off x="4038600" y="1257300"/>
            <a:ext cx="4114800" cy="33940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1219200" y="4840288"/>
            <a:ext cx="975360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553575"/>
            <a:ext cx="5283200" cy="50482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6905625" y="9553575"/>
            <a:ext cx="5283200" cy="504825"/>
          </a:xfrm>
          <a:prstGeom prst="rect">
            <a:avLst/>
          </a:prstGeom>
        </p:spPr>
        <p:txBody>
          <a:bodyPr vert="horz" lIns="91440" tIns="45720" rIns="91440" bIns="45720" rtlCol="0" anchor="b"/>
          <a:lstStyle>
            <a:lvl1pPr algn="r">
              <a:defRPr sz="1200"/>
            </a:lvl1pPr>
          </a:lstStyle>
          <a:p>
            <a:fld id="{F397AD3A-C137-495D-BCE3-2058CBCF8E4C}" type="slidenum">
              <a:rPr lang="en-AU" smtClean="0"/>
              <a:t>‹#›</a:t>
            </a:fld>
            <a:endParaRPr lang="en-AU"/>
          </a:p>
        </p:txBody>
      </p:sp>
    </p:spTree>
    <p:extLst>
      <p:ext uri="{BB962C8B-B14F-4D97-AF65-F5344CB8AC3E}">
        <p14:creationId xmlns:p14="http://schemas.microsoft.com/office/powerpoint/2010/main" val="3267854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8E5374C-A739-4038-A043-BA4DE846582A}" type="slidenum">
              <a:rPr lang="en-AU" smtClean="0"/>
              <a:t>9</a:t>
            </a:fld>
            <a:endParaRPr lang="en-AU"/>
          </a:p>
        </p:txBody>
      </p:sp>
    </p:spTree>
    <p:extLst>
      <p:ext uri="{BB962C8B-B14F-4D97-AF65-F5344CB8AC3E}">
        <p14:creationId xmlns:p14="http://schemas.microsoft.com/office/powerpoint/2010/main" val="3607973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2A0F-5A36-B1C1-677B-CF41EAC16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FC6E6-5D34-2C44-B39F-8092EA17A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B4225-08D0-65D5-B24D-B1A931A5AFA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EF40666-2225-088B-1EA7-13FBFF5E6B17}"/>
              </a:ext>
            </a:extLst>
          </p:cNvPr>
          <p:cNvSpPr>
            <a:spLocks noGrp="1"/>
          </p:cNvSpPr>
          <p:nvPr>
            <p:ph type="sldNum" sz="quarter" idx="5"/>
          </p:nvPr>
        </p:nvSpPr>
        <p:spPr/>
        <p:txBody>
          <a:bodyPr/>
          <a:lstStyle/>
          <a:p>
            <a:fld id="{88E5374C-A739-4038-A043-BA4DE846582A}" type="slidenum">
              <a:rPr lang="en-AU" smtClean="0"/>
              <a:t>10</a:t>
            </a:fld>
            <a:endParaRPr lang="en-AU"/>
          </a:p>
        </p:txBody>
      </p:sp>
    </p:spTree>
    <p:extLst>
      <p:ext uri="{BB962C8B-B14F-4D97-AF65-F5344CB8AC3E}">
        <p14:creationId xmlns:p14="http://schemas.microsoft.com/office/powerpoint/2010/main" val="545332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2CB31-0DCC-B885-E9BD-9EE401232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06BBE-0EEF-7C6F-2F8F-6D400F6F6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BFB9C-3A68-6A40-2C54-75945465B43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FBD895F-6D0D-CF71-5AF7-7AAB770908DE}"/>
              </a:ext>
            </a:extLst>
          </p:cNvPr>
          <p:cNvSpPr>
            <a:spLocks noGrp="1"/>
          </p:cNvSpPr>
          <p:nvPr>
            <p:ph type="sldNum" sz="quarter" idx="5"/>
          </p:nvPr>
        </p:nvSpPr>
        <p:spPr/>
        <p:txBody>
          <a:bodyPr/>
          <a:lstStyle/>
          <a:p>
            <a:fld id="{88E5374C-A739-4038-A043-BA4DE846582A}" type="slidenum">
              <a:rPr lang="en-AU" smtClean="0"/>
              <a:t>11</a:t>
            </a:fld>
            <a:endParaRPr lang="en-AU"/>
          </a:p>
        </p:txBody>
      </p:sp>
    </p:spTree>
    <p:extLst>
      <p:ext uri="{BB962C8B-B14F-4D97-AF65-F5344CB8AC3E}">
        <p14:creationId xmlns:p14="http://schemas.microsoft.com/office/powerpoint/2010/main" val="3121480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49224"/>
          </a:xfrm>
          <a:prstGeom prst="rect">
            <a:avLst/>
          </a:prstGeom>
        </p:spPr>
      </p:pic>
      <p:pic>
        <p:nvPicPr>
          <p:cNvPr id="17" name="bg object 17"/>
          <p:cNvPicPr/>
          <p:nvPr/>
        </p:nvPicPr>
        <p:blipFill>
          <a:blip r:embed="rId3" cstate="print"/>
          <a:stretch>
            <a:fillRect/>
          </a:stretch>
        </p:blipFill>
        <p:spPr>
          <a:xfrm>
            <a:off x="192023" y="42671"/>
            <a:ext cx="1531620" cy="562355"/>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1396"/>
            <a:ext cx="12034520" cy="391160"/>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a:xfrm>
            <a:off x="5921502" y="9253759"/>
            <a:ext cx="533400" cy="187959"/>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anaconda.com/downloa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python.org/downloads/mac-osx/"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ode.visualstudio.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youtu.be/yMdo59vBC78" TargetMode="External"/><Relationship Id="rId7" Type="http://schemas.openxmlformats.org/officeDocument/2006/relationships/hyperlink" Target="https://youtu.be/GrAYoJUQolo"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 Id="rId6" Type="http://schemas.openxmlformats.org/officeDocument/2006/relationships/hyperlink" Target="https://code.visualstudio.com/docs/python/python-tutorial" TargetMode="External"/><Relationship Id="rId5" Type="http://schemas.openxmlformats.org/officeDocument/2006/relationships/hyperlink" Target="https://youtu.be/ezUCZiMXB20" TargetMode="External"/><Relationship Id="rId4" Type="http://schemas.openxmlformats.org/officeDocument/2006/relationships/hyperlink" Target="https://youtu.be/3LFTujbSdl8"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s://msle.learnondemand.net/" TargetMode="Externa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hyperlink" Target="https://studio.azureml.net/" TargetMode="Externa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0058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1005839"/>
            <a:ext cx="5421703" cy="804672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3C8CCC5-7719-5429-9C16-F066E03793F0}"/>
              </a:ext>
            </a:extLst>
          </p:cNvPr>
          <p:cNvSpPr txBox="1"/>
          <p:nvPr/>
        </p:nvSpPr>
        <p:spPr>
          <a:xfrm>
            <a:off x="1668426" y="1840319"/>
            <a:ext cx="3444948" cy="3639869"/>
          </a:xfrm>
          <a:prstGeom prst="rect">
            <a:avLst/>
          </a:prstGeom>
        </p:spPr>
        <p:txBody>
          <a:bodyPr vert="horz" lIns="91440" tIns="45720" rIns="91440" bIns="45720" rtlCol="0" anchor="b">
            <a:normAutofit/>
          </a:bodyPr>
          <a:lstStyle/>
          <a:p>
            <a:pPr algn="ctr" rtl="0">
              <a:lnSpc>
                <a:spcPct val="90000"/>
              </a:lnSpc>
              <a:spcBef>
                <a:spcPct val="0"/>
              </a:spcBef>
              <a:spcAft>
                <a:spcPts val="600"/>
              </a:spcAft>
            </a:pPr>
            <a:r>
              <a:rPr lang="en-US" sz="3600" b="1" kern="1200">
                <a:solidFill>
                  <a:srgbClr val="595959"/>
                </a:solidFill>
                <a:latin typeface="+mj-lt"/>
                <a:ea typeface="+mj-ea"/>
                <a:cs typeface="+mj-cs"/>
              </a:rPr>
              <a:t>HI6040 (Artificial Intelligence and Machine Learning)</a:t>
            </a:r>
          </a:p>
          <a:p>
            <a:pPr algn="ctr" rtl="0">
              <a:lnSpc>
                <a:spcPct val="90000"/>
              </a:lnSpc>
              <a:spcBef>
                <a:spcPct val="0"/>
              </a:spcBef>
              <a:spcAft>
                <a:spcPts val="600"/>
              </a:spcAft>
            </a:pPr>
            <a:r>
              <a:rPr lang="en-US" sz="3600" b="1" kern="1200">
                <a:solidFill>
                  <a:srgbClr val="595959"/>
                </a:solidFill>
                <a:latin typeface="+mj-lt"/>
                <a:ea typeface="+mj-ea"/>
                <a:cs typeface="+mj-cs"/>
              </a:rPr>
              <a:t>Dr. Farshid Keivanian</a:t>
            </a:r>
            <a:endParaRPr lang="en-US" sz="3600" kern="1200">
              <a:solidFill>
                <a:srgbClr val="595959"/>
              </a:solidFill>
              <a:latin typeface="+mj-lt"/>
              <a:ea typeface="+mj-ea"/>
              <a:cs typeface="+mj-cs"/>
            </a:endParaRPr>
          </a:p>
        </p:txBody>
      </p:sp>
      <p:pic>
        <p:nvPicPr>
          <p:cNvPr id="4" name="Picture 3">
            <a:extLst>
              <a:ext uri="{FF2B5EF4-FFF2-40B4-BE49-F238E27FC236}">
                <a16:creationId xmlns:a16="http://schemas.microsoft.com/office/drawing/2014/main" id="{37BA1B80-27DD-FC4B-43BE-F15BBB7F77C0}"/>
              </a:ext>
            </a:extLst>
          </p:cNvPr>
          <p:cNvPicPr>
            <a:picLocks noChangeAspect="1"/>
          </p:cNvPicPr>
          <p:nvPr/>
        </p:nvPicPr>
        <p:blipFill>
          <a:blip r:embed="rId2">
            <a:extLst>
              <a:ext uri="{28A0092B-C50C-407E-A947-70E740481C1C}">
                <a14:useLocalDpi xmlns:a14="http://schemas.microsoft.com/office/drawing/2010/main" val="0"/>
              </a:ext>
            </a:extLst>
          </a:blip>
          <a:srcRect l="4968" r="24813" b="1"/>
          <a:stretch>
            <a:fillRect/>
          </a:stretch>
        </p:blipFill>
        <p:spPr>
          <a:xfrm>
            <a:off x="6107503" y="1005838"/>
            <a:ext cx="5410200" cy="8046720"/>
          </a:xfrm>
          <a:prstGeom prst="rect">
            <a:avLst/>
          </a:prstGeom>
        </p:spPr>
      </p:pic>
      <p:pic>
        <p:nvPicPr>
          <p:cNvPr id="3" name="object 3"/>
          <p:cNvPicPr/>
          <p:nvPr/>
        </p:nvPicPr>
        <p:blipFill>
          <a:blip r:embed="rId3" cstate="print"/>
          <a:stretch>
            <a:fillRect/>
          </a:stretch>
        </p:blipFill>
        <p:spPr>
          <a:xfrm>
            <a:off x="10261092" y="0"/>
            <a:ext cx="1930907" cy="1901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F2FAC8-42AD-DB92-166F-2F42E02C4C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47F174-E865-EA2C-9A7B-75ECF3EA7974}"/>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Welcome</a:t>
            </a:r>
          </a:p>
        </p:txBody>
      </p:sp>
      <p:pic>
        <p:nvPicPr>
          <p:cNvPr id="3" name="object 3">
            <a:extLst>
              <a:ext uri="{FF2B5EF4-FFF2-40B4-BE49-F238E27FC236}">
                <a16:creationId xmlns:a16="http://schemas.microsoft.com/office/drawing/2014/main" id="{22898743-2B79-D5DF-5AFF-870A1775B58B}"/>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9C30F892-69B9-E3BA-260C-8084D712AC5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93D26459-E9EB-FA7D-8B8F-E2F5CD70284A}"/>
              </a:ext>
            </a:extLst>
          </p:cNvPr>
          <p:cNvSpPr txBox="1"/>
          <p:nvPr/>
        </p:nvSpPr>
        <p:spPr>
          <a:xfrm>
            <a:off x="380999" y="1441079"/>
            <a:ext cx="11810999" cy="7791044"/>
          </a:xfrm>
          <a:prstGeom prst="rect">
            <a:avLst/>
          </a:prstGeom>
          <a:noFill/>
        </p:spPr>
        <p:txBody>
          <a:bodyPr wrap="square">
            <a:spAutoFit/>
          </a:bodyPr>
          <a:lstStyle/>
          <a:p>
            <a:pPr>
              <a:lnSpc>
                <a:spcPct val="150000"/>
              </a:lnSpc>
            </a:pPr>
            <a:r>
              <a:rPr lang="en-US" sz="2400" dirty="0">
                <a:latin typeface="+mj-lt"/>
              </a:rPr>
              <a:t>Dear Students,</a:t>
            </a:r>
          </a:p>
          <a:p>
            <a:pPr>
              <a:lnSpc>
                <a:spcPct val="150000"/>
              </a:lnSpc>
            </a:pPr>
            <a:r>
              <a:rPr lang="en-US" sz="2400" dirty="0">
                <a:latin typeface="+mj-lt"/>
              </a:rPr>
              <a:t>Welcome again to Week 2 of HI6040 – Artificial Intelligence and Machine Learning.</a:t>
            </a:r>
          </a:p>
          <a:p>
            <a:pPr>
              <a:lnSpc>
                <a:spcPct val="150000"/>
              </a:lnSpc>
            </a:pPr>
            <a:r>
              <a:rPr lang="en-US" sz="2400" dirty="0">
                <a:latin typeface="+mj-lt"/>
              </a:rPr>
              <a:t>I hope you are beginning to settle into the trimester. This week, we take our first major step into practical applications of AI/ML using industry-standard tools such as Microsoft Azure ML Studio, Google </a:t>
            </a:r>
            <a:r>
              <a:rPr lang="en-US" sz="2400" dirty="0" err="1">
                <a:latin typeface="+mj-lt"/>
              </a:rPr>
              <a:t>Colab</a:t>
            </a:r>
            <a:r>
              <a:rPr lang="en-US" sz="2400" dirty="0">
                <a:latin typeface="+mj-lt"/>
              </a:rPr>
              <a:t>, and Anaconda-</a:t>
            </a:r>
            <a:r>
              <a:rPr lang="en-US" sz="2400" dirty="0" err="1">
                <a:latin typeface="+mj-lt"/>
              </a:rPr>
              <a:t>JupyterLab</a:t>
            </a:r>
            <a:r>
              <a:rPr lang="en-US" sz="2400" dirty="0">
                <a:latin typeface="+mj-lt"/>
              </a:rPr>
              <a:t>.</a:t>
            </a:r>
          </a:p>
          <a:p>
            <a:pPr>
              <a:lnSpc>
                <a:spcPct val="150000"/>
              </a:lnSpc>
            </a:pPr>
            <a:r>
              <a:rPr lang="en-US" sz="2400" dirty="0">
                <a:latin typeface="+mj-lt"/>
              </a:rPr>
              <a:t>You’ll gain hands-on experience in setting up your machine learning development environments—both locally (on your device) and on the cloud—which is essential for completing your assessments and future professional tasks.</a:t>
            </a:r>
          </a:p>
          <a:p>
            <a:pPr>
              <a:lnSpc>
                <a:spcPct val="150000"/>
              </a:lnSpc>
            </a:pPr>
            <a:r>
              <a:rPr lang="en-US" sz="2400" dirty="0">
                <a:latin typeface="+mj-lt"/>
              </a:rPr>
              <a:t>Please read the instructions below carefully and complete the steps during the tutorial or as directed by your tutor. This will help you stay on track and confidently build toward your upcoming tests and assignment.</a:t>
            </a:r>
          </a:p>
          <a:p>
            <a:pPr rtl="0">
              <a:lnSpc>
                <a:spcPct val="150000"/>
              </a:lnSpc>
            </a:pPr>
            <a:r>
              <a:rPr lang="en-US" sz="2400" dirty="0">
                <a:latin typeface="+mj-lt"/>
              </a:rPr>
              <a:t>Warm regards,</a:t>
            </a:r>
            <a:br>
              <a:rPr lang="en-US" sz="2400" dirty="0">
                <a:latin typeface="+mj-lt"/>
              </a:rPr>
            </a:br>
            <a:r>
              <a:rPr lang="en-US" sz="2400" dirty="0">
                <a:latin typeface="+mj-lt"/>
              </a:rPr>
              <a:t>Dr. Farshid Keivanian</a:t>
            </a:r>
          </a:p>
          <a:p>
            <a:pPr rtl="0">
              <a:lnSpc>
                <a:spcPct val="150000"/>
              </a:lnSpc>
            </a:pPr>
            <a:r>
              <a:rPr lang="en-US" sz="2400" dirty="0">
                <a:latin typeface="+mj-lt"/>
              </a:rPr>
              <a:t>Your Password to connect </a:t>
            </a:r>
            <a:r>
              <a:rPr lang="en-US" sz="2400" dirty="0" err="1">
                <a:latin typeface="+mj-lt"/>
              </a:rPr>
              <a:t>WiFi</a:t>
            </a:r>
            <a:r>
              <a:rPr lang="en-US" sz="2400" dirty="0">
                <a:latin typeface="+mj-lt"/>
              </a:rPr>
              <a:t> is your </a:t>
            </a:r>
            <a:r>
              <a:rPr lang="en-US" sz="2400" dirty="0">
                <a:highlight>
                  <a:srgbClr val="FFFF00"/>
                </a:highlight>
                <a:latin typeface="+mj-lt"/>
              </a:rPr>
              <a:t>Holmes webmail password</a:t>
            </a:r>
            <a:r>
              <a:rPr lang="en-US" sz="2400" dirty="0">
                <a:latin typeface="+mj-lt"/>
              </a:rPr>
              <a:t>, or </a:t>
            </a:r>
            <a:r>
              <a:rPr lang="en-US" sz="2400" dirty="0" err="1">
                <a:highlight>
                  <a:srgbClr val="FFFF00"/>
                </a:highlight>
                <a:latin typeface="+mj-lt"/>
              </a:rPr>
              <a:t>HiDD</a:t>
            </a:r>
            <a:r>
              <a:rPr lang="en-US" sz="2400" dirty="0">
                <a:highlight>
                  <a:srgbClr val="FFFF00"/>
                </a:highlight>
                <a:latin typeface="+mj-lt"/>
              </a:rPr>
              <a:t>/MM/YYYY</a:t>
            </a:r>
          </a:p>
        </p:txBody>
      </p:sp>
    </p:spTree>
    <p:extLst>
      <p:ext uri="{BB962C8B-B14F-4D97-AF65-F5344CB8AC3E}">
        <p14:creationId xmlns:p14="http://schemas.microsoft.com/office/powerpoint/2010/main" val="2984064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437B-9BB4-77C1-EBAA-7FF0CF9BA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8B0D8-2255-F579-B77A-D0EAF7E3F3E3}"/>
              </a:ext>
            </a:extLst>
          </p:cNvPr>
          <p:cNvSpPr>
            <a:spLocks noGrp="1"/>
          </p:cNvSpPr>
          <p:nvPr>
            <p:ph type="title"/>
          </p:nvPr>
        </p:nvSpPr>
        <p:spPr>
          <a:xfrm>
            <a:off x="0" y="828254"/>
            <a:ext cx="1203452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DB19D4C5-63EB-7CBD-EA19-F713CEF6509B}"/>
              </a:ext>
            </a:extLst>
          </p:cNvPr>
          <p:cNvSpPr>
            <a:spLocks noGrp="1"/>
          </p:cNvSpPr>
          <p:nvPr>
            <p:ph idx="1"/>
          </p:nvPr>
        </p:nvSpPr>
        <p:spPr>
          <a:xfrm>
            <a:off x="16464" y="2436914"/>
            <a:ext cx="12175536" cy="5533061"/>
          </a:xfrm>
        </p:spPr>
        <p:txBody>
          <a:bodyPr>
            <a:noAutofit/>
          </a:bodyPr>
          <a:lstStyle/>
          <a:p>
            <a:pPr>
              <a:lnSpc>
                <a:spcPct val="150000"/>
              </a:lnSpc>
            </a:pPr>
            <a:r>
              <a:rPr lang="en-US" sz="2933" b="1" dirty="0"/>
              <a:t>Job Roles in Australia</a:t>
            </a:r>
          </a:p>
          <a:p>
            <a:pPr>
              <a:lnSpc>
                <a:spcPct val="150000"/>
              </a:lnSpc>
            </a:pPr>
            <a:r>
              <a:rPr lang="en-US" sz="2933" dirty="0"/>
              <a:t>Graduates of </a:t>
            </a:r>
            <a:r>
              <a:rPr lang="en-US" sz="2933" i="1" dirty="0"/>
              <a:t>ICT624 – Advanced Data Analytics</a:t>
            </a:r>
            <a:r>
              <a:rPr lang="en-US" sz="2933" dirty="0"/>
              <a:t> are well-positioned for roles such as:</a:t>
            </a:r>
          </a:p>
          <a:p>
            <a:pPr>
              <a:lnSpc>
                <a:spcPct val="150000"/>
              </a:lnSpc>
            </a:pPr>
            <a:r>
              <a:rPr lang="en-US" sz="2933" b="1" dirty="0"/>
              <a:t>Data Analyst: </a:t>
            </a:r>
            <a:r>
              <a:rPr lang="en-US" sz="2933" dirty="0"/>
              <a:t>Interpret complex datasets to inform business decisions.</a:t>
            </a:r>
          </a:p>
        </p:txBody>
      </p:sp>
      <p:pic>
        <p:nvPicPr>
          <p:cNvPr id="5" name="Picture 4">
            <a:extLst>
              <a:ext uri="{FF2B5EF4-FFF2-40B4-BE49-F238E27FC236}">
                <a16:creationId xmlns:a16="http://schemas.microsoft.com/office/drawing/2014/main" id="{6F948D7B-50B0-E82B-E92C-77AA0712C7AA}"/>
              </a:ext>
            </a:extLst>
          </p:cNvPr>
          <p:cNvPicPr>
            <a:picLocks noChangeAspect="1"/>
          </p:cNvPicPr>
          <p:nvPr/>
        </p:nvPicPr>
        <p:blipFill>
          <a:blip r:embed="rId2"/>
          <a:srcRect r="6875" b="8000"/>
          <a:stretch>
            <a:fillRect/>
          </a:stretch>
        </p:blipFill>
        <p:spPr>
          <a:xfrm>
            <a:off x="4559829" y="5359664"/>
            <a:ext cx="7615707" cy="4232057"/>
          </a:xfrm>
          <a:prstGeom prst="rect">
            <a:avLst/>
          </a:prstGeom>
        </p:spPr>
      </p:pic>
    </p:spTree>
    <p:extLst>
      <p:ext uri="{BB962C8B-B14F-4D97-AF65-F5344CB8AC3E}">
        <p14:creationId xmlns:p14="http://schemas.microsoft.com/office/powerpoint/2010/main" val="770391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E8471-6A8D-1F22-C79C-A4CCB581A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B027B-604A-67DA-3EC3-F567198FE5E4}"/>
              </a:ext>
            </a:extLst>
          </p:cNvPr>
          <p:cNvSpPr>
            <a:spLocks noGrp="1"/>
          </p:cNvSpPr>
          <p:nvPr>
            <p:ph type="title"/>
          </p:nvPr>
        </p:nvSpPr>
        <p:spPr>
          <a:xfrm>
            <a:off x="20128" y="895561"/>
            <a:ext cx="1203452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85362E55-90C9-97F3-E31A-3BC733CED61D}"/>
              </a:ext>
            </a:extLst>
          </p:cNvPr>
          <p:cNvSpPr>
            <a:spLocks noGrp="1"/>
          </p:cNvSpPr>
          <p:nvPr>
            <p:ph idx="1"/>
          </p:nvPr>
        </p:nvSpPr>
        <p:spPr>
          <a:xfrm>
            <a:off x="0" y="2711453"/>
            <a:ext cx="12192000" cy="5258521"/>
          </a:xfrm>
        </p:spPr>
        <p:txBody>
          <a:bodyPr>
            <a:noAutofit/>
          </a:bodyPr>
          <a:lstStyle/>
          <a:p>
            <a:pPr>
              <a:lnSpc>
                <a:spcPct val="150000"/>
              </a:lnSpc>
            </a:pPr>
            <a:r>
              <a:rPr lang="en-US" sz="2933" b="1" dirty="0"/>
              <a:t>Data Scientist</a:t>
            </a:r>
            <a:br>
              <a:rPr lang="en-US" sz="2933" dirty="0"/>
            </a:br>
            <a:r>
              <a:rPr lang="en-US" sz="2933" dirty="0"/>
              <a:t>Develop predictive models and uncover insights using ML &amp; deep learning.</a:t>
            </a:r>
          </a:p>
        </p:txBody>
      </p:sp>
      <p:pic>
        <p:nvPicPr>
          <p:cNvPr id="5" name="Picture 4">
            <a:extLst>
              <a:ext uri="{FF2B5EF4-FFF2-40B4-BE49-F238E27FC236}">
                <a16:creationId xmlns:a16="http://schemas.microsoft.com/office/drawing/2014/main" id="{357A1A50-1BB9-7B6C-2CB1-37453F9BD48D}"/>
              </a:ext>
            </a:extLst>
          </p:cNvPr>
          <p:cNvPicPr>
            <a:picLocks noChangeAspect="1"/>
          </p:cNvPicPr>
          <p:nvPr/>
        </p:nvPicPr>
        <p:blipFill>
          <a:blip r:embed="rId2"/>
          <a:srcRect b="20601"/>
          <a:stretch>
            <a:fillRect/>
          </a:stretch>
        </p:blipFill>
        <p:spPr>
          <a:xfrm>
            <a:off x="1" y="4155976"/>
            <a:ext cx="12191999" cy="5445224"/>
          </a:xfrm>
          <a:prstGeom prst="rect">
            <a:avLst/>
          </a:prstGeom>
        </p:spPr>
      </p:pic>
    </p:spTree>
    <p:extLst>
      <p:ext uri="{BB962C8B-B14F-4D97-AF65-F5344CB8AC3E}">
        <p14:creationId xmlns:p14="http://schemas.microsoft.com/office/powerpoint/2010/main" val="3176360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4007F-1989-C8BA-8963-89C337B13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DCCA9-054A-58D0-5E2B-7B6D4CF7F644}"/>
              </a:ext>
            </a:extLst>
          </p:cNvPr>
          <p:cNvSpPr>
            <a:spLocks noGrp="1"/>
          </p:cNvSpPr>
          <p:nvPr>
            <p:ph type="title"/>
          </p:nvPr>
        </p:nvSpPr>
        <p:spPr>
          <a:xfrm>
            <a:off x="-35943" y="838200"/>
            <a:ext cx="1203452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E2B1E76A-EC79-2771-7F97-0F6D52BFDF54}"/>
              </a:ext>
            </a:extLst>
          </p:cNvPr>
          <p:cNvSpPr>
            <a:spLocks noGrp="1"/>
          </p:cNvSpPr>
          <p:nvPr>
            <p:ph idx="1"/>
          </p:nvPr>
        </p:nvSpPr>
        <p:spPr>
          <a:xfrm>
            <a:off x="0" y="2711453"/>
            <a:ext cx="12192000" cy="5258521"/>
          </a:xfrm>
        </p:spPr>
        <p:txBody>
          <a:bodyPr>
            <a:noAutofit/>
          </a:bodyPr>
          <a:lstStyle/>
          <a:p>
            <a:pPr>
              <a:lnSpc>
                <a:spcPct val="150000"/>
              </a:lnSpc>
            </a:pPr>
            <a:r>
              <a:rPr lang="en-US" sz="2933" b="1" dirty="0"/>
              <a:t>Business Intelligence Analyst</a:t>
            </a:r>
            <a:br>
              <a:rPr lang="en-US" sz="2933" dirty="0"/>
            </a:br>
            <a:r>
              <a:rPr lang="en-US" sz="2933" dirty="0"/>
              <a:t>Translate analytics into strategic planning using BI tools.</a:t>
            </a:r>
          </a:p>
          <a:p>
            <a:pPr>
              <a:lnSpc>
                <a:spcPct val="150000"/>
              </a:lnSpc>
            </a:pPr>
            <a:r>
              <a:rPr lang="en-US" sz="2933" b="1" dirty="0"/>
              <a:t>Machine Learning Engineer</a:t>
            </a:r>
            <a:br>
              <a:rPr lang="en-US" sz="2933" dirty="0"/>
            </a:br>
            <a:r>
              <a:rPr lang="en-US" sz="2933" dirty="0"/>
              <a:t>Build and deploy scalable ML models in real-time systems.</a:t>
            </a:r>
          </a:p>
        </p:txBody>
      </p:sp>
    </p:spTree>
    <p:extLst>
      <p:ext uri="{BB962C8B-B14F-4D97-AF65-F5344CB8AC3E}">
        <p14:creationId xmlns:p14="http://schemas.microsoft.com/office/powerpoint/2010/main" val="2687705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E823A-0D6B-A2B4-B97C-5D2629360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BC722-6388-4152-D62D-937ABD2FC4D3}"/>
              </a:ext>
            </a:extLst>
          </p:cNvPr>
          <p:cNvSpPr>
            <a:spLocks noGrp="1"/>
          </p:cNvSpPr>
          <p:nvPr>
            <p:ph type="title"/>
          </p:nvPr>
        </p:nvSpPr>
        <p:spPr>
          <a:xfrm>
            <a:off x="78740" y="914400"/>
            <a:ext cx="1203452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3596276A-C8E4-3A30-372A-8DF384407702}"/>
              </a:ext>
            </a:extLst>
          </p:cNvPr>
          <p:cNvSpPr>
            <a:spLocks noGrp="1"/>
          </p:cNvSpPr>
          <p:nvPr>
            <p:ph idx="1"/>
          </p:nvPr>
        </p:nvSpPr>
        <p:spPr>
          <a:xfrm>
            <a:off x="0" y="2916965"/>
            <a:ext cx="12192000" cy="5053009"/>
          </a:xfrm>
        </p:spPr>
        <p:txBody>
          <a:bodyPr>
            <a:noAutofit/>
          </a:bodyPr>
          <a:lstStyle/>
          <a:p>
            <a:pPr>
              <a:lnSpc>
                <a:spcPct val="150000"/>
              </a:lnSpc>
            </a:pPr>
            <a:r>
              <a:rPr lang="en-US" sz="2933" b="1" dirty="0"/>
              <a:t>AI Solutions Consultant</a:t>
            </a:r>
            <a:br>
              <a:rPr lang="en-US" sz="2933" dirty="0"/>
            </a:br>
            <a:r>
              <a:rPr lang="en-US" sz="2933" dirty="0"/>
              <a:t>Advise on integrating AI into business operations.</a:t>
            </a:r>
          </a:p>
          <a:p>
            <a:pPr>
              <a:lnSpc>
                <a:spcPct val="150000"/>
              </a:lnSpc>
            </a:pPr>
            <a:r>
              <a:rPr lang="en-US" sz="2933" b="1" dirty="0"/>
              <a:t>Big Data Analyst</a:t>
            </a:r>
            <a:br>
              <a:rPr lang="en-US" sz="2933" dirty="0"/>
            </a:br>
            <a:r>
              <a:rPr lang="en-US" sz="2933" dirty="0" err="1"/>
              <a:t>Analyse</a:t>
            </a:r>
            <a:r>
              <a:rPr lang="en-US" sz="2933" dirty="0"/>
              <a:t> large-scale datasets from cloud or distributed sources.</a:t>
            </a:r>
          </a:p>
          <a:p>
            <a:pPr>
              <a:lnSpc>
                <a:spcPct val="150000"/>
              </a:lnSpc>
            </a:pPr>
            <a:r>
              <a:rPr lang="en-US" sz="2933" b="1" dirty="0"/>
              <a:t>Advanced Analytics Consultant</a:t>
            </a:r>
            <a:br>
              <a:rPr lang="en-US" sz="2933" dirty="0"/>
            </a:br>
            <a:r>
              <a:rPr lang="en-US" sz="2933" dirty="0"/>
              <a:t>Design prescriptive models to solve industry-specific problems.</a:t>
            </a:r>
          </a:p>
        </p:txBody>
      </p:sp>
    </p:spTree>
    <p:extLst>
      <p:ext uri="{BB962C8B-B14F-4D97-AF65-F5344CB8AC3E}">
        <p14:creationId xmlns:p14="http://schemas.microsoft.com/office/powerpoint/2010/main" val="39804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2CBF-0225-D061-8150-03CEBEEC1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0D882-90C7-306C-A171-0682BDA8A030}"/>
              </a:ext>
            </a:extLst>
          </p:cNvPr>
          <p:cNvSpPr>
            <a:spLocks noGrp="1"/>
          </p:cNvSpPr>
          <p:nvPr>
            <p:ph type="title"/>
          </p:nvPr>
        </p:nvSpPr>
        <p:spPr>
          <a:xfrm>
            <a:off x="48683" y="762000"/>
            <a:ext cx="12192000" cy="369332"/>
          </a:xfrm>
        </p:spPr>
        <p:txBody>
          <a:bodyPr/>
          <a:lstStyle/>
          <a:p>
            <a:r>
              <a:rPr lang="en-US" dirty="0"/>
              <a:t>Career Opportunities &amp; Certifications for ICT624 Graduates</a:t>
            </a:r>
            <a:endParaRPr lang="en-AU" dirty="0"/>
          </a:p>
        </p:txBody>
      </p:sp>
      <p:pic>
        <p:nvPicPr>
          <p:cNvPr id="7" name="Picture 6">
            <a:extLst>
              <a:ext uri="{FF2B5EF4-FFF2-40B4-BE49-F238E27FC236}">
                <a16:creationId xmlns:a16="http://schemas.microsoft.com/office/drawing/2014/main" id="{7EC00F3B-8AC1-CF61-3733-ACFE4499594E}"/>
              </a:ext>
            </a:extLst>
          </p:cNvPr>
          <p:cNvPicPr>
            <a:picLocks noChangeAspect="1"/>
          </p:cNvPicPr>
          <p:nvPr/>
        </p:nvPicPr>
        <p:blipFill>
          <a:blip r:embed="rId2"/>
          <a:srcRect b="6601"/>
          <a:stretch>
            <a:fillRect/>
          </a:stretch>
        </p:blipFill>
        <p:spPr>
          <a:xfrm>
            <a:off x="48683" y="2052869"/>
            <a:ext cx="12105981" cy="6405331"/>
          </a:xfrm>
          <a:prstGeom prst="rect">
            <a:avLst/>
          </a:prstGeom>
        </p:spPr>
      </p:pic>
    </p:spTree>
    <p:extLst>
      <p:ext uri="{BB962C8B-B14F-4D97-AF65-F5344CB8AC3E}">
        <p14:creationId xmlns:p14="http://schemas.microsoft.com/office/powerpoint/2010/main" val="3747007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63A0C-638E-8035-3AD0-53B603028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A1F60-AA8A-995B-6B69-58D1B3544FC6}"/>
              </a:ext>
            </a:extLst>
          </p:cNvPr>
          <p:cNvSpPr>
            <a:spLocks noGrp="1"/>
          </p:cNvSpPr>
          <p:nvPr>
            <p:ph type="title"/>
          </p:nvPr>
        </p:nvSpPr>
        <p:spPr>
          <a:xfrm>
            <a:off x="14377" y="813299"/>
            <a:ext cx="1219200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B859935A-02A0-8FAE-DA72-9D41381C9D6B}"/>
              </a:ext>
            </a:extLst>
          </p:cNvPr>
          <p:cNvSpPr>
            <a:spLocks noGrp="1"/>
          </p:cNvSpPr>
          <p:nvPr>
            <p:ph idx="1"/>
          </p:nvPr>
        </p:nvSpPr>
        <p:spPr>
          <a:xfrm>
            <a:off x="0" y="2340902"/>
            <a:ext cx="12192000" cy="5856652"/>
          </a:xfrm>
        </p:spPr>
        <p:txBody>
          <a:bodyPr>
            <a:noAutofit/>
          </a:bodyPr>
          <a:lstStyle/>
          <a:p>
            <a:pPr>
              <a:lnSpc>
                <a:spcPct val="150000"/>
              </a:lnSpc>
            </a:pPr>
            <a:r>
              <a:rPr lang="en-US" sz="2400" b="1" dirty="0"/>
              <a:t>Relevant Certifications (Optional/Recommended)</a:t>
            </a:r>
          </a:p>
          <a:p>
            <a:pPr>
              <a:lnSpc>
                <a:spcPct val="150000"/>
              </a:lnSpc>
            </a:pPr>
            <a:r>
              <a:rPr lang="en-US" sz="2400" dirty="0"/>
              <a:t>Enhance your employability with these </a:t>
            </a:r>
            <a:r>
              <a:rPr lang="en-US" sz="2400" dirty="0" err="1"/>
              <a:t>recognised</a:t>
            </a:r>
            <a:r>
              <a:rPr lang="en-US" sz="2400" dirty="0"/>
              <a:t> certifications:</a:t>
            </a:r>
          </a:p>
          <a:p>
            <a:pPr>
              <a:lnSpc>
                <a:spcPct val="150000"/>
              </a:lnSpc>
            </a:pPr>
            <a:r>
              <a:rPr lang="en-US" sz="2400" b="1" dirty="0"/>
              <a:t>IBM Data Science Professional Certificate</a:t>
            </a:r>
            <a:r>
              <a:rPr lang="en-US" sz="2400" dirty="0"/>
              <a:t> (Coursera)</a:t>
            </a:r>
          </a:p>
        </p:txBody>
      </p:sp>
      <p:pic>
        <p:nvPicPr>
          <p:cNvPr id="5" name="Picture 4">
            <a:extLst>
              <a:ext uri="{FF2B5EF4-FFF2-40B4-BE49-F238E27FC236}">
                <a16:creationId xmlns:a16="http://schemas.microsoft.com/office/drawing/2014/main" id="{0334AA94-FD62-15CC-97B8-AD73C915A38C}"/>
              </a:ext>
            </a:extLst>
          </p:cNvPr>
          <p:cNvPicPr>
            <a:picLocks noChangeAspect="1"/>
          </p:cNvPicPr>
          <p:nvPr/>
        </p:nvPicPr>
        <p:blipFill>
          <a:blip r:embed="rId2"/>
          <a:srcRect t="6602" b="30400"/>
          <a:stretch>
            <a:fillRect/>
          </a:stretch>
        </p:blipFill>
        <p:spPr>
          <a:xfrm>
            <a:off x="0" y="4357125"/>
            <a:ext cx="12192000" cy="4320480"/>
          </a:xfrm>
          <a:prstGeom prst="rect">
            <a:avLst/>
          </a:prstGeom>
        </p:spPr>
      </p:pic>
    </p:spTree>
    <p:extLst>
      <p:ext uri="{BB962C8B-B14F-4D97-AF65-F5344CB8AC3E}">
        <p14:creationId xmlns:p14="http://schemas.microsoft.com/office/powerpoint/2010/main" val="1864844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8228-985B-76D5-E073-95D2D823C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B8CF2-7E66-B76B-7FF2-DE619B4C9A50}"/>
              </a:ext>
            </a:extLst>
          </p:cNvPr>
          <p:cNvSpPr>
            <a:spLocks noGrp="1"/>
          </p:cNvSpPr>
          <p:nvPr>
            <p:ph type="title"/>
          </p:nvPr>
        </p:nvSpPr>
        <p:spPr>
          <a:xfrm>
            <a:off x="71669" y="838200"/>
            <a:ext cx="1219200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8423C96A-DE48-D7FA-7233-054A79282C9D}"/>
              </a:ext>
            </a:extLst>
          </p:cNvPr>
          <p:cNvSpPr>
            <a:spLocks noGrp="1"/>
          </p:cNvSpPr>
          <p:nvPr>
            <p:ph idx="1"/>
          </p:nvPr>
        </p:nvSpPr>
        <p:spPr>
          <a:xfrm>
            <a:off x="0" y="2340902"/>
            <a:ext cx="12192000" cy="5856652"/>
          </a:xfrm>
        </p:spPr>
        <p:txBody>
          <a:bodyPr>
            <a:noAutofit/>
          </a:bodyPr>
          <a:lstStyle/>
          <a:p>
            <a:pPr>
              <a:lnSpc>
                <a:spcPct val="150000"/>
              </a:lnSpc>
            </a:pPr>
            <a:r>
              <a:rPr lang="en-US" sz="2400" b="1" dirty="0"/>
              <a:t>Google Advanced Data Analytics Certificate</a:t>
            </a:r>
            <a:endParaRPr lang="en-US" sz="2400" dirty="0"/>
          </a:p>
        </p:txBody>
      </p:sp>
      <p:pic>
        <p:nvPicPr>
          <p:cNvPr id="6" name="Picture 5">
            <a:extLst>
              <a:ext uri="{FF2B5EF4-FFF2-40B4-BE49-F238E27FC236}">
                <a16:creationId xmlns:a16="http://schemas.microsoft.com/office/drawing/2014/main" id="{6C8FB3BA-547F-555D-4717-83B7D2A2C037}"/>
              </a:ext>
            </a:extLst>
          </p:cNvPr>
          <p:cNvPicPr>
            <a:picLocks noChangeAspect="1"/>
          </p:cNvPicPr>
          <p:nvPr/>
        </p:nvPicPr>
        <p:blipFill>
          <a:blip r:embed="rId3"/>
          <a:srcRect b="38800"/>
          <a:stretch>
            <a:fillRect/>
          </a:stretch>
        </p:blipFill>
        <p:spPr>
          <a:xfrm>
            <a:off x="1775520" y="3301008"/>
            <a:ext cx="8784299" cy="3023987"/>
          </a:xfrm>
          <a:prstGeom prst="rect">
            <a:avLst/>
          </a:prstGeom>
        </p:spPr>
      </p:pic>
    </p:spTree>
    <p:extLst>
      <p:ext uri="{BB962C8B-B14F-4D97-AF65-F5344CB8AC3E}">
        <p14:creationId xmlns:p14="http://schemas.microsoft.com/office/powerpoint/2010/main" val="2034126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F5567-6191-5DF2-3394-DEFF78AD1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F6FA1-E2A6-F99A-43D3-70F0A64DFA00}"/>
              </a:ext>
            </a:extLst>
          </p:cNvPr>
          <p:cNvSpPr>
            <a:spLocks noGrp="1"/>
          </p:cNvSpPr>
          <p:nvPr>
            <p:ph type="title"/>
          </p:nvPr>
        </p:nvSpPr>
        <p:spPr>
          <a:xfrm>
            <a:off x="0" y="838200"/>
            <a:ext cx="1219200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F169BFB9-2EED-9A8D-37BE-62EFA6B536E8}"/>
              </a:ext>
            </a:extLst>
          </p:cNvPr>
          <p:cNvSpPr>
            <a:spLocks noGrp="1"/>
          </p:cNvSpPr>
          <p:nvPr>
            <p:ph idx="1"/>
          </p:nvPr>
        </p:nvSpPr>
        <p:spPr>
          <a:xfrm>
            <a:off x="0" y="2340902"/>
            <a:ext cx="12192000" cy="5856652"/>
          </a:xfrm>
        </p:spPr>
        <p:txBody>
          <a:bodyPr>
            <a:noAutofit/>
          </a:bodyPr>
          <a:lstStyle/>
          <a:p>
            <a:pPr>
              <a:lnSpc>
                <a:spcPct val="150000"/>
              </a:lnSpc>
            </a:pPr>
            <a:r>
              <a:rPr lang="en-US" sz="2400" b="1" dirty="0"/>
              <a:t>Microsoft Certified: Data Analyst Associate (Power BI)</a:t>
            </a:r>
            <a:endParaRPr lang="en-US" sz="2400" dirty="0"/>
          </a:p>
        </p:txBody>
      </p:sp>
      <p:pic>
        <p:nvPicPr>
          <p:cNvPr id="5" name="Picture 4">
            <a:extLst>
              <a:ext uri="{FF2B5EF4-FFF2-40B4-BE49-F238E27FC236}">
                <a16:creationId xmlns:a16="http://schemas.microsoft.com/office/drawing/2014/main" id="{DDBDE907-A7BB-2FD2-B6A9-1299CE4D2E6C}"/>
              </a:ext>
            </a:extLst>
          </p:cNvPr>
          <p:cNvPicPr>
            <a:picLocks noChangeAspect="1"/>
          </p:cNvPicPr>
          <p:nvPr/>
        </p:nvPicPr>
        <p:blipFill>
          <a:blip r:embed="rId3"/>
          <a:srcRect b="17801"/>
          <a:stretch>
            <a:fillRect/>
          </a:stretch>
        </p:blipFill>
        <p:spPr>
          <a:xfrm>
            <a:off x="0" y="3012976"/>
            <a:ext cx="12192000" cy="5637245"/>
          </a:xfrm>
          <a:prstGeom prst="rect">
            <a:avLst/>
          </a:prstGeom>
        </p:spPr>
      </p:pic>
    </p:spTree>
    <p:extLst>
      <p:ext uri="{BB962C8B-B14F-4D97-AF65-F5344CB8AC3E}">
        <p14:creationId xmlns:p14="http://schemas.microsoft.com/office/powerpoint/2010/main" val="4164227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3CE7-34CF-2C83-1025-680C7FEBF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3AC25-FE5A-F9B2-86F7-1ABBD1EAB191}"/>
              </a:ext>
            </a:extLst>
          </p:cNvPr>
          <p:cNvSpPr>
            <a:spLocks noGrp="1"/>
          </p:cNvSpPr>
          <p:nvPr>
            <p:ph type="title"/>
          </p:nvPr>
        </p:nvSpPr>
        <p:spPr>
          <a:xfrm>
            <a:off x="0" y="915454"/>
            <a:ext cx="12192000" cy="369332"/>
          </a:xfrm>
        </p:spPr>
        <p:txBody>
          <a:bodyPr/>
          <a:lstStyle/>
          <a:p>
            <a:r>
              <a:rPr lang="en-US" dirty="0"/>
              <a:t>Career Opportunities &amp; Certifications for ICT624 Graduates</a:t>
            </a:r>
            <a:endParaRPr lang="en-AU" dirty="0"/>
          </a:p>
        </p:txBody>
      </p:sp>
      <p:sp>
        <p:nvSpPr>
          <p:cNvPr id="3" name="Content Placeholder 2">
            <a:extLst>
              <a:ext uri="{FF2B5EF4-FFF2-40B4-BE49-F238E27FC236}">
                <a16:creationId xmlns:a16="http://schemas.microsoft.com/office/drawing/2014/main" id="{DFA12D31-9070-4D8D-667F-31C4C7D4BFA7}"/>
              </a:ext>
            </a:extLst>
          </p:cNvPr>
          <p:cNvSpPr>
            <a:spLocks noGrp="1"/>
          </p:cNvSpPr>
          <p:nvPr>
            <p:ph idx="1"/>
          </p:nvPr>
        </p:nvSpPr>
        <p:spPr>
          <a:xfrm>
            <a:off x="0" y="2340903"/>
            <a:ext cx="12192000" cy="2112235"/>
          </a:xfrm>
        </p:spPr>
        <p:txBody>
          <a:bodyPr>
            <a:noAutofit/>
          </a:bodyPr>
          <a:lstStyle/>
          <a:p>
            <a:pPr>
              <a:lnSpc>
                <a:spcPct val="150000"/>
              </a:lnSpc>
            </a:pPr>
            <a:r>
              <a:rPr lang="en-US" sz="2400" b="1" dirty="0"/>
              <a:t>AWS Certified Machine Learning – Specialty</a:t>
            </a:r>
            <a:endParaRPr lang="en-US" sz="2400" dirty="0"/>
          </a:p>
          <a:p>
            <a:pPr>
              <a:lnSpc>
                <a:spcPct val="150000"/>
              </a:lnSpc>
            </a:pPr>
            <a:r>
              <a:rPr lang="en-US" sz="2400" b="1" dirty="0"/>
              <a:t>SAS Certified Advanced Analytics Professional</a:t>
            </a:r>
            <a:endParaRPr lang="en-US" sz="2400" dirty="0"/>
          </a:p>
          <a:p>
            <a:pPr>
              <a:lnSpc>
                <a:spcPct val="150000"/>
              </a:lnSpc>
            </a:pPr>
            <a:r>
              <a:rPr lang="en-US" sz="2400" b="1" dirty="0"/>
              <a:t>Databricks Certified Data Engineer Associate</a:t>
            </a:r>
            <a:endParaRPr lang="en-US" sz="2400" dirty="0"/>
          </a:p>
        </p:txBody>
      </p:sp>
      <p:pic>
        <p:nvPicPr>
          <p:cNvPr id="6" name="Picture 5">
            <a:extLst>
              <a:ext uri="{FF2B5EF4-FFF2-40B4-BE49-F238E27FC236}">
                <a16:creationId xmlns:a16="http://schemas.microsoft.com/office/drawing/2014/main" id="{C3F64174-E350-CEBD-D21A-FB9FAFB0E247}"/>
              </a:ext>
            </a:extLst>
          </p:cNvPr>
          <p:cNvPicPr>
            <a:picLocks noChangeAspect="1"/>
          </p:cNvPicPr>
          <p:nvPr/>
        </p:nvPicPr>
        <p:blipFill>
          <a:blip r:embed="rId3"/>
          <a:srcRect t="9104" b="10800"/>
          <a:stretch>
            <a:fillRect/>
          </a:stretch>
        </p:blipFill>
        <p:spPr>
          <a:xfrm>
            <a:off x="1385186" y="4453138"/>
            <a:ext cx="9421628" cy="4244741"/>
          </a:xfrm>
          <a:prstGeom prst="rect">
            <a:avLst/>
          </a:prstGeom>
        </p:spPr>
      </p:pic>
    </p:spTree>
    <p:extLst>
      <p:ext uri="{BB962C8B-B14F-4D97-AF65-F5344CB8AC3E}">
        <p14:creationId xmlns:p14="http://schemas.microsoft.com/office/powerpoint/2010/main" val="2223629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EEF7B4-FDCD-B299-0995-B0D026DBE0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EFC469-CEC2-51C4-733B-44C0DD6DEBD8}"/>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Unit Overview – HI6040: AI and ML</a:t>
            </a:r>
          </a:p>
        </p:txBody>
      </p:sp>
      <p:pic>
        <p:nvPicPr>
          <p:cNvPr id="3" name="object 3">
            <a:extLst>
              <a:ext uri="{FF2B5EF4-FFF2-40B4-BE49-F238E27FC236}">
                <a16:creationId xmlns:a16="http://schemas.microsoft.com/office/drawing/2014/main" id="{05D06BCD-87D5-2EE8-3190-79A315967A12}"/>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746C918B-F9FB-0578-B1B4-3EE13C14DA6D}"/>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BF7905DC-C31A-C3C1-A7A2-993C9A30361C}"/>
              </a:ext>
            </a:extLst>
          </p:cNvPr>
          <p:cNvSpPr txBox="1"/>
          <p:nvPr/>
        </p:nvSpPr>
        <p:spPr>
          <a:xfrm>
            <a:off x="380999" y="1441079"/>
            <a:ext cx="11810999" cy="5196166"/>
          </a:xfrm>
          <a:prstGeom prst="rect">
            <a:avLst/>
          </a:prstGeom>
          <a:noFill/>
        </p:spPr>
        <p:txBody>
          <a:bodyPr wrap="square">
            <a:spAutoFit/>
          </a:bodyPr>
          <a:lstStyle/>
          <a:p>
            <a:pPr>
              <a:lnSpc>
                <a:spcPct val="150000"/>
              </a:lnSpc>
            </a:pPr>
            <a:r>
              <a:rPr lang="en-US" sz="2800" dirty="0">
                <a:latin typeface="+mj-lt"/>
              </a:rPr>
              <a:t>This unit introduces the foundational knowledge of Artificial Intelligence (AI) and Machine Learning (ML), focusing on:</a:t>
            </a:r>
          </a:p>
          <a:p>
            <a:pPr marL="457200" indent="-457200">
              <a:lnSpc>
                <a:spcPct val="150000"/>
              </a:lnSpc>
              <a:buFont typeface="Arial" panose="020B0604020202020204" pitchFamily="34" charset="0"/>
              <a:buChar char="•"/>
            </a:pPr>
            <a:r>
              <a:rPr lang="en-US" sz="2800" dirty="0">
                <a:latin typeface="+mj-lt"/>
              </a:rPr>
              <a:t>Core ML algorithms and workflows</a:t>
            </a:r>
          </a:p>
          <a:p>
            <a:pPr marL="457200" indent="-457200">
              <a:lnSpc>
                <a:spcPct val="150000"/>
              </a:lnSpc>
              <a:buFont typeface="Arial" panose="020B0604020202020204" pitchFamily="34" charset="0"/>
              <a:buChar char="•"/>
            </a:pPr>
            <a:r>
              <a:rPr lang="en-US" sz="2800" dirty="0">
                <a:latin typeface="+mj-lt"/>
              </a:rPr>
              <a:t>Application of AI in real-world decision-making</a:t>
            </a:r>
          </a:p>
          <a:p>
            <a:pPr marL="457200" indent="-457200">
              <a:lnSpc>
                <a:spcPct val="150000"/>
              </a:lnSpc>
              <a:buFont typeface="Arial" panose="020B0604020202020204" pitchFamily="34" charset="0"/>
              <a:buChar char="•"/>
            </a:pPr>
            <a:r>
              <a:rPr lang="en-US" sz="2800" dirty="0">
                <a:latin typeface="+mj-lt"/>
              </a:rPr>
              <a:t>Use of tools like </a:t>
            </a:r>
            <a:r>
              <a:rPr lang="en-US" sz="2800" b="1" dirty="0">
                <a:latin typeface="+mj-lt"/>
              </a:rPr>
              <a:t>Azure ML</a:t>
            </a:r>
            <a:r>
              <a:rPr lang="en-US" sz="2800" dirty="0">
                <a:latin typeface="+mj-lt"/>
              </a:rPr>
              <a:t>, </a:t>
            </a:r>
            <a:r>
              <a:rPr lang="en-US" sz="2800" b="1" dirty="0">
                <a:latin typeface="+mj-lt"/>
              </a:rPr>
              <a:t>Python</a:t>
            </a:r>
            <a:r>
              <a:rPr lang="en-US" sz="2800" dirty="0">
                <a:latin typeface="+mj-lt"/>
              </a:rPr>
              <a:t>, and </a:t>
            </a:r>
            <a:r>
              <a:rPr lang="en-US" sz="2800" b="1" dirty="0" err="1">
                <a:latin typeface="+mj-lt"/>
              </a:rPr>
              <a:t>Colab</a:t>
            </a:r>
            <a:endParaRPr lang="en-US" sz="2800" dirty="0">
              <a:latin typeface="+mj-lt"/>
            </a:endParaRPr>
          </a:p>
          <a:p>
            <a:pPr marL="457200" indent="-457200">
              <a:lnSpc>
                <a:spcPct val="150000"/>
              </a:lnSpc>
              <a:buFont typeface="Arial" panose="020B0604020202020204" pitchFamily="34" charset="0"/>
              <a:buChar char="•"/>
            </a:pPr>
            <a:r>
              <a:rPr lang="en-US" sz="2800" dirty="0">
                <a:latin typeface="+mj-lt"/>
              </a:rPr>
              <a:t>Understanding of ethical and social implications of AI</a:t>
            </a:r>
          </a:p>
          <a:p>
            <a:pPr>
              <a:lnSpc>
                <a:spcPct val="150000"/>
              </a:lnSpc>
            </a:pPr>
            <a:r>
              <a:rPr lang="en-US" sz="2800" dirty="0">
                <a:latin typeface="+mj-lt"/>
              </a:rPr>
              <a:t>You’ll engage in guided labs, real-world case studies, and team collaboration activities that mirror professional environments.</a:t>
            </a:r>
          </a:p>
        </p:txBody>
      </p:sp>
    </p:spTree>
    <p:extLst>
      <p:ext uri="{BB962C8B-B14F-4D97-AF65-F5344CB8AC3E}">
        <p14:creationId xmlns:p14="http://schemas.microsoft.com/office/powerpoint/2010/main" val="915296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A466660-F42F-D5BD-6E29-13AFE7C750D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586643-4706-F3AD-CA74-0B6DACD1AC84}"/>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Unit Expectations</a:t>
            </a:r>
          </a:p>
        </p:txBody>
      </p:sp>
      <p:pic>
        <p:nvPicPr>
          <p:cNvPr id="3" name="object 3">
            <a:extLst>
              <a:ext uri="{FF2B5EF4-FFF2-40B4-BE49-F238E27FC236}">
                <a16:creationId xmlns:a16="http://schemas.microsoft.com/office/drawing/2014/main" id="{5BC1A984-4974-1166-525E-5C2D32C713AB}"/>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D1A4324F-86C6-A966-4232-54DA2AF3E3F7}"/>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C9811FEE-9F2E-2DA4-C153-F606D1ACDE97}"/>
              </a:ext>
            </a:extLst>
          </p:cNvPr>
          <p:cNvSpPr txBox="1"/>
          <p:nvPr/>
        </p:nvSpPr>
        <p:spPr>
          <a:xfrm>
            <a:off x="380999" y="1441079"/>
            <a:ext cx="11810999" cy="3903504"/>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Attend all tutorials and engage in practical activities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Join a group before the deadline for Group Facilitation (Weeks 5–11)</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Complete the </a:t>
            </a:r>
            <a:r>
              <a:rPr kumimoji="0" lang="en-US" altLang="en-US" sz="2800" b="1" i="0" u="none" strike="noStrike" cap="none" normalizeH="0" baseline="0" dirty="0">
                <a:ln>
                  <a:noFill/>
                </a:ln>
                <a:solidFill>
                  <a:schemeClr val="tx1"/>
                </a:solidFill>
                <a:effectLst/>
                <a:latin typeface="+mj-lt"/>
              </a:rPr>
              <a:t>2 online tests</a:t>
            </a:r>
            <a:r>
              <a:rPr kumimoji="0" lang="en-US" altLang="en-US" sz="2800" b="0" i="0" u="none" strike="noStrike" cap="none" normalizeH="0" baseline="0" dirty="0">
                <a:ln>
                  <a:noFill/>
                </a:ln>
                <a:solidFill>
                  <a:schemeClr val="tx1"/>
                </a:solidFill>
                <a:effectLst/>
                <a:latin typeface="+mj-lt"/>
              </a:rPr>
              <a:t> on time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 your </a:t>
            </a:r>
            <a:r>
              <a:rPr kumimoji="0" lang="en-US" altLang="en-US" sz="2800" b="1" i="0" u="none" strike="noStrike" cap="none" normalizeH="0" baseline="0" dirty="0">
                <a:ln>
                  <a:noFill/>
                </a:ln>
                <a:solidFill>
                  <a:schemeClr val="tx1"/>
                </a:solidFill>
                <a:effectLst/>
                <a:latin typeface="+mj-lt"/>
              </a:rPr>
              <a:t>individual assignment</a:t>
            </a:r>
            <a:r>
              <a:rPr kumimoji="0" lang="en-US" altLang="en-US" sz="2800" b="0" i="0" u="none" strike="noStrike" cap="none" normalizeH="0" baseline="0" dirty="0">
                <a:ln>
                  <a:noFill/>
                </a:ln>
                <a:solidFill>
                  <a:schemeClr val="tx1"/>
                </a:solidFill>
                <a:effectLst/>
                <a:latin typeface="+mj-lt"/>
              </a:rPr>
              <a:t> following all submission policies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Practice academic integrity and adhere to formatting and referencing requirements</a:t>
            </a:r>
          </a:p>
        </p:txBody>
      </p:sp>
    </p:spTree>
    <p:extLst>
      <p:ext uri="{BB962C8B-B14F-4D97-AF65-F5344CB8AC3E}">
        <p14:creationId xmlns:p14="http://schemas.microsoft.com/office/powerpoint/2010/main" val="438887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31AC1D-C70D-8577-B654-440DED1C8B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58074F-A0B7-BBD8-FE61-0198D9D7003A}"/>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Key Assessment Dates</a:t>
            </a:r>
          </a:p>
        </p:txBody>
      </p:sp>
      <p:pic>
        <p:nvPicPr>
          <p:cNvPr id="3" name="object 3">
            <a:extLst>
              <a:ext uri="{FF2B5EF4-FFF2-40B4-BE49-F238E27FC236}">
                <a16:creationId xmlns:a16="http://schemas.microsoft.com/office/drawing/2014/main" id="{60C5A0D9-0C76-CF1D-7F93-2C2AD1E72522}"/>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C1867FA7-8FB2-0D50-8F73-FE6E0817E81B}"/>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graphicFrame>
        <p:nvGraphicFramePr>
          <p:cNvPr id="4" name="Table 3">
            <a:extLst>
              <a:ext uri="{FF2B5EF4-FFF2-40B4-BE49-F238E27FC236}">
                <a16:creationId xmlns:a16="http://schemas.microsoft.com/office/drawing/2014/main" id="{AEDF67B8-AE58-0F0B-0630-AF9F95FC1E69}"/>
              </a:ext>
            </a:extLst>
          </p:cNvPr>
          <p:cNvGraphicFramePr>
            <a:graphicFrameLocks noGrp="1"/>
          </p:cNvGraphicFramePr>
          <p:nvPr>
            <p:extLst>
              <p:ext uri="{D42A27DB-BD31-4B8C-83A1-F6EECF244321}">
                <p14:modId xmlns:p14="http://schemas.microsoft.com/office/powerpoint/2010/main" val="4135354054"/>
              </p:ext>
            </p:extLst>
          </p:nvPr>
        </p:nvGraphicFramePr>
        <p:xfrm>
          <a:off x="762000" y="2115438"/>
          <a:ext cx="10972800" cy="6527165"/>
        </p:xfrm>
        <a:graphic>
          <a:graphicData uri="http://schemas.openxmlformats.org/drawingml/2006/table">
            <a:tbl>
              <a:tblPr>
                <a:tableStyleId>{ED083AE6-46FA-4A59-8FB0-9F97EB10719F}</a:tableStyleId>
              </a:tblPr>
              <a:tblGrid>
                <a:gridCol w="2743200">
                  <a:extLst>
                    <a:ext uri="{9D8B030D-6E8A-4147-A177-3AD203B41FA5}">
                      <a16:colId xmlns:a16="http://schemas.microsoft.com/office/drawing/2014/main" val="1022160813"/>
                    </a:ext>
                  </a:extLst>
                </a:gridCol>
                <a:gridCol w="2743200">
                  <a:extLst>
                    <a:ext uri="{9D8B030D-6E8A-4147-A177-3AD203B41FA5}">
                      <a16:colId xmlns:a16="http://schemas.microsoft.com/office/drawing/2014/main" val="1984343265"/>
                    </a:ext>
                  </a:extLst>
                </a:gridCol>
                <a:gridCol w="2743200">
                  <a:extLst>
                    <a:ext uri="{9D8B030D-6E8A-4147-A177-3AD203B41FA5}">
                      <a16:colId xmlns:a16="http://schemas.microsoft.com/office/drawing/2014/main" val="3004756573"/>
                    </a:ext>
                  </a:extLst>
                </a:gridCol>
                <a:gridCol w="2743200">
                  <a:extLst>
                    <a:ext uri="{9D8B030D-6E8A-4147-A177-3AD203B41FA5}">
                      <a16:colId xmlns:a16="http://schemas.microsoft.com/office/drawing/2014/main" val="2751580772"/>
                    </a:ext>
                  </a:extLst>
                </a:gridCol>
              </a:tblGrid>
              <a:tr h="0">
                <a:tc>
                  <a:txBody>
                    <a:bodyPr/>
                    <a:lstStyle/>
                    <a:p>
                      <a:pPr>
                        <a:lnSpc>
                          <a:spcPct val="150000"/>
                        </a:lnSpc>
                      </a:pPr>
                      <a:r>
                        <a:rPr lang="en-US" sz="2800"/>
                        <a:t>Assessment</a:t>
                      </a:r>
                    </a:p>
                  </a:txBody>
                  <a:tcPr anchor="ctr"/>
                </a:tc>
                <a:tc>
                  <a:txBody>
                    <a:bodyPr/>
                    <a:lstStyle/>
                    <a:p>
                      <a:pPr>
                        <a:lnSpc>
                          <a:spcPct val="150000"/>
                        </a:lnSpc>
                      </a:pPr>
                      <a:r>
                        <a:rPr lang="en-US" sz="2800"/>
                        <a:t>Due Date</a:t>
                      </a:r>
                    </a:p>
                  </a:txBody>
                  <a:tcPr anchor="ctr"/>
                </a:tc>
                <a:tc>
                  <a:txBody>
                    <a:bodyPr/>
                    <a:lstStyle/>
                    <a:p>
                      <a:pPr>
                        <a:lnSpc>
                          <a:spcPct val="150000"/>
                        </a:lnSpc>
                      </a:pPr>
                      <a:r>
                        <a:rPr lang="en-US" sz="2800"/>
                        <a:t>Time</a:t>
                      </a:r>
                    </a:p>
                  </a:txBody>
                  <a:tcPr anchor="ctr"/>
                </a:tc>
                <a:tc>
                  <a:txBody>
                    <a:bodyPr/>
                    <a:lstStyle/>
                    <a:p>
                      <a:pPr>
                        <a:lnSpc>
                          <a:spcPct val="150000"/>
                        </a:lnSpc>
                      </a:pPr>
                      <a:r>
                        <a:rPr lang="en-US" sz="2800"/>
                        <a:t>Notes</a:t>
                      </a:r>
                    </a:p>
                  </a:txBody>
                  <a:tcPr anchor="ctr"/>
                </a:tc>
                <a:extLst>
                  <a:ext uri="{0D108BD9-81ED-4DB2-BD59-A6C34878D82A}">
                    <a16:rowId xmlns:a16="http://schemas.microsoft.com/office/drawing/2014/main" val="961765052"/>
                  </a:ext>
                </a:extLst>
              </a:tr>
              <a:tr h="0">
                <a:tc>
                  <a:txBody>
                    <a:bodyPr/>
                    <a:lstStyle/>
                    <a:p>
                      <a:pPr>
                        <a:lnSpc>
                          <a:spcPct val="150000"/>
                        </a:lnSpc>
                      </a:pPr>
                      <a:r>
                        <a:rPr lang="en-US" sz="2800" b="1" dirty="0"/>
                        <a:t>Test 1 (Online)</a:t>
                      </a:r>
                      <a:endParaRPr lang="en-US" sz="2800" dirty="0"/>
                    </a:p>
                  </a:txBody>
                  <a:tcPr anchor="ctr"/>
                </a:tc>
                <a:tc>
                  <a:txBody>
                    <a:bodyPr/>
                    <a:lstStyle/>
                    <a:p>
                      <a:pPr>
                        <a:lnSpc>
                          <a:spcPct val="150000"/>
                        </a:lnSpc>
                      </a:pPr>
                      <a:r>
                        <a:rPr lang="en-US" sz="2800"/>
                        <a:t>19 August 2025</a:t>
                      </a:r>
                    </a:p>
                  </a:txBody>
                  <a:tcPr anchor="ctr"/>
                </a:tc>
                <a:tc>
                  <a:txBody>
                    <a:bodyPr/>
                    <a:lstStyle/>
                    <a:p>
                      <a:pPr>
                        <a:lnSpc>
                          <a:spcPct val="150000"/>
                        </a:lnSpc>
                      </a:pPr>
                      <a:r>
                        <a:rPr lang="en-US" sz="2800"/>
                        <a:t>9:00 PM</a:t>
                      </a:r>
                    </a:p>
                  </a:txBody>
                  <a:tcPr anchor="ctr"/>
                </a:tc>
                <a:tc>
                  <a:txBody>
                    <a:bodyPr/>
                    <a:lstStyle/>
                    <a:p>
                      <a:pPr>
                        <a:lnSpc>
                          <a:spcPct val="150000"/>
                        </a:lnSpc>
                      </a:pPr>
                      <a:r>
                        <a:rPr lang="en-US" sz="2800"/>
                        <a:t>30 mins after launch</a:t>
                      </a:r>
                    </a:p>
                  </a:txBody>
                  <a:tcPr anchor="ctr"/>
                </a:tc>
                <a:extLst>
                  <a:ext uri="{0D108BD9-81ED-4DB2-BD59-A6C34878D82A}">
                    <a16:rowId xmlns:a16="http://schemas.microsoft.com/office/drawing/2014/main" val="2532092662"/>
                  </a:ext>
                </a:extLst>
              </a:tr>
              <a:tr h="0">
                <a:tc>
                  <a:txBody>
                    <a:bodyPr/>
                    <a:lstStyle/>
                    <a:p>
                      <a:pPr>
                        <a:lnSpc>
                          <a:spcPct val="150000"/>
                        </a:lnSpc>
                      </a:pPr>
                      <a:r>
                        <a:rPr lang="en-US" sz="2800" b="1"/>
                        <a:t>Test 2 (Online)</a:t>
                      </a:r>
                      <a:endParaRPr lang="en-US" sz="2800"/>
                    </a:p>
                  </a:txBody>
                  <a:tcPr anchor="ctr"/>
                </a:tc>
                <a:tc>
                  <a:txBody>
                    <a:bodyPr/>
                    <a:lstStyle/>
                    <a:p>
                      <a:pPr>
                        <a:lnSpc>
                          <a:spcPct val="150000"/>
                        </a:lnSpc>
                      </a:pPr>
                      <a:r>
                        <a:rPr lang="en-US" sz="2800"/>
                        <a:t>30 September 2025</a:t>
                      </a:r>
                    </a:p>
                  </a:txBody>
                  <a:tcPr anchor="ctr"/>
                </a:tc>
                <a:tc>
                  <a:txBody>
                    <a:bodyPr/>
                    <a:lstStyle/>
                    <a:p>
                      <a:pPr>
                        <a:lnSpc>
                          <a:spcPct val="150000"/>
                        </a:lnSpc>
                      </a:pPr>
                      <a:r>
                        <a:rPr lang="en-US" sz="2800"/>
                        <a:t>9:00 PM</a:t>
                      </a:r>
                    </a:p>
                  </a:txBody>
                  <a:tcPr anchor="ctr"/>
                </a:tc>
                <a:tc>
                  <a:txBody>
                    <a:bodyPr/>
                    <a:lstStyle/>
                    <a:p>
                      <a:pPr>
                        <a:lnSpc>
                          <a:spcPct val="150000"/>
                        </a:lnSpc>
                      </a:pPr>
                      <a:r>
                        <a:rPr lang="en-US" sz="2800"/>
                        <a:t>30 mins after launch</a:t>
                      </a:r>
                    </a:p>
                  </a:txBody>
                  <a:tcPr anchor="ctr"/>
                </a:tc>
                <a:extLst>
                  <a:ext uri="{0D108BD9-81ED-4DB2-BD59-A6C34878D82A}">
                    <a16:rowId xmlns:a16="http://schemas.microsoft.com/office/drawing/2014/main" val="661539188"/>
                  </a:ext>
                </a:extLst>
              </a:tr>
              <a:tr h="0">
                <a:tc>
                  <a:txBody>
                    <a:bodyPr/>
                    <a:lstStyle/>
                    <a:p>
                      <a:pPr>
                        <a:lnSpc>
                          <a:spcPct val="150000"/>
                        </a:lnSpc>
                      </a:pPr>
                      <a:r>
                        <a:rPr lang="en-US" sz="2800" b="1"/>
                        <a:t>Group Facilitation</a:t>
                      </a:r>
                      <a:endParaRPr lang="en-US" sz="2800"/>
                    </a:p>
                  </a:txBody>
                  <a:tcPr anchor="ctr"/>
                </a:tc>
                <a:tc>
                  <a:txBody>
                    <a:bodyPr/>
                    <a:lstStyle/>
                    <a:p>
                      <a:pPr>
                        <a:lnSpc>
                          <a:spcPct val="150000"/>
                        </a:lnSpc>
                      </a:pPr>
                      <a:r>
                        <a:rPr lang="en-US" sz="2800"/>
                        <a:t>Weeks 5–11 (In Class)</a:t>
                      </a:r>
                    </a:p>
                  </a:txBody>
                  <a:tcPr anchor="ctr"/>
                </a:tc>
                <a:tc>
                  <a:txBody>
                    <a:bodyPr/>
                    <a:lstStyle/>
                    <a:p>
                      <a:pPr>
                        <a:lnSpc>
                          <a:spcPct val="150000"/>
                        </a:lnSpc>
                      </a:pPr>
                      <a:r>
                        <a:rPr lang="en-US" sz="2800"/>
                        <a:t>In class</a:t>
                      </a:r>
                    </a:p>
                  </a:txBody>
                  <a:tcPr anchor="ctr"/>
                </a:tc>
                <a:tc>
                  <a:txBody>
                    <a:bodyPr/>
                    <a:lstStyle/>
                    <a:p>
                      <a:pPr>
                        <a:lnSpc>
                          <a:spcPct val="150000"/>
                        </a:lnSpc>
                      </a:pPr>
                      <a:r>
                        <a:rPr lang="en-US" sz="2800"/>
                        <a:t>Join group before cutoff (TBA)</a:t>
                      </a:r>
                    </a:p>
                  </a:txBody>
                  <a:tcPr anchor="ctr"/>
                </a:tc>
                <a:extLst>
                  <a:ext uri="{0D108BD9-81ED-4DB2-BD59-A6C34878D82A}">
                    <a16:rowId xmlns:a16="http://schemas.microsoft.com/office/drawing/2014/main" val="423971308"/>
                  </a:ext>
                </a:extLst>
              </a:tr>
              <a:tr h="0">
                <a:tc>
                  <a:txBody>
                    <a:bodyPr/>
                    <a:lstStyle/>
                    <a:p>
                      <a:pPr>
                        <a:lnSpc>
                          <a:spcPct val="150000"/>
                        </a:lnSpc>
                      </a:pPr>
                      <a:r>
                        <a:rPr lang="en-US" sz="2800" b="1"/>
                        <a:t>Individual Assignment</a:t>
                      </a:r>
                      <a:endParaRPr lang="en-US" sz="2800"/>
                    </a:p>
                  </a:txBody>
                  <a:tcPr anchor="ctr"/>
                </a:tc>
                <a:tc>
                  <a:txBody>
                    <a:bodyPr/>
                    <a:lstStyle/>
                    <a:p>
                      <a:pPr>
                        <a:lnSpc>
                          <a:spcPct val="150000"/>
                        </a:lnSpc>
                      </a:pPr>
                      <a:r>
                        <a:rPr lang="en-US" sz="2800"/>
                        <a:t>8 October 2025</a:t>
                      </a:r>
                    </a:p>
                  </a:txBody>
                  <a:tcPr anchor="ctr"/>
                </a:tc>
                <a:tc>
                  <a:txBody>
                    <a:bodyPr/>
                    <a:lstStyle/>
                    <a:p>
                      <a:pPr>
                        <a:lnSpc>
                          <a:spcPct val="150000"/>
                        </a:lnSpc>
                      </a:pPr>
                      <a:r>
                        <a:rPr lang="en-US" sz="2800"/>
                        <a:t>11:59 PM</a:t>
                      </a:r>
                    </a:p>
                  </a:txBody>
                  <a:tcPr anchor="ctr"/>
                </a:tc>
                <a:tc>
                  <a:txBody>
                    <a:bodyPr/>
                    <a:lstStyle/>
                    <a:p>
                      <a:pPr>
                        <a:lnSpc>
                          <a:spcPct val="150000"/>
                        </a:lnSpc>
                      </a:pPr>
                      <a:r>
                        <a:rPr lang="en-US" sz="2800" dirty="0"/>
                        <a:t>Strict formatting and submission rules</a:t>
                      </a:r>
                    </a:p>
                  </a:txBody>
                  <a:tcPr anchor="ctr"/>
                </a:tc>
                <a:extLst>
                  <a:ext uri="{0D108BD9-81ED-4DB2-BD59-A6C34878D82A}">
                    <a16:rowId xmlns:a16="http://schemas.microsoft.com/office/drawing/2014/main" val="2277478022"/>
                  </a:ext>
                </a:extLst>
              </a:tr>
            </a:tbl>
          </a:graphicData>
        </a:graphic>
      </p:graphicFrame>
    </p:spTree>
    <p:extLst>
      <p:ext uri="{BB962C8B-B14F-4D97-AF65-F5344CB8AC3E}">
        <p14:creationId xmlns:p14="http://schemas.microsoft.com/office/powerpoint/2010/main" val="1964676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C94E5A-4BC0-313A-CC18-C36B0CE090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52244A-8815-AD9F-EE5D-8B03A9688EFB}"/>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What to Avoid</a:t>
            </a:r>
          </a:p>
        </p:txBody>
      </p:sp>
      <p:pic>
        <p:nvPicPr>
          <p:cNvPr id="3" name="object 3">
            <a:extLst>
              <a:ext uri="{FF2B5EF4-FFF2-40B4-BE49-F238E27FC236}">
                <a16:creationId xmlns:a16="http://schemas.microsoft.com/office/drawing/2014/main" id="{4BAA9AE1-82E8-498C-F17F-03302F293DF9}"/>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6FCF1AD4-A02B-5E1A-CC4E-7774BA48BB77}"/>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D181E06C-D265-5BD6-C5EF-CE390589A187}"/>
              </a:ext>
            </a:extLst>
          </p:cNvPr>
          <p:cNvSpPr>
            <a:spLocks noChangeArrowheads="1"/>
          </p:cNvSpPr>
          <p:nvPr/>
        </p:nvSpPr>
        <p:spPr bwMode="auto">
          <a:xfrm>
            <a:off x="191211" y="2362200"/>
            <a:ext cx="11314316"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Submitting without a cover sheet or in the wrong format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Using screenshots or handwritten answers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Submitting via mobile/tablet or Blackboard App</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Not joining a group before the deadline (will result in 20% penalty if solo)</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Submitting from an overseas IP without clearance</a:t>
            </a:r>
          </a:p>
        </p:txBody>
      </p:sp>
    </p:spTree>
    <p:extLst>
      <p:ext uri="{BB962C8B-B14F-4D97-AF65-F5344CB8AC3E}">
        <p14:creationId xmlns:p14="http://schemas.microsoft.com/office/powerpoint/2010/main" val="1587971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5F20-8CEE-0950-41A6-6B1447841C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11F037C-A3A7-63B1-C335-FFC8D1A0F41C}"/>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
        <p:nvSpPr>
          <p:cNvPr id="5" name="object 5">
            <a:extLst>
              <a:ext uri="{FF2B5EF4-FFF2-40B4-BE49-F238E27FC236}">
                <a16:creationId xmlns:a16="http://schemas.microsoft.com/office/drawing/2014/main" id="{FFE035F0-5497-8BB0-5753-A8BB9FE1D75A}"/>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5C601BE9-D306-A970-A7ED-7BD10AE94829}"/>
              </a:ext>
            </a:extLst>
          </p:cNvPr>
          <p:cNvSpPr>
            <a:spLocks noChangeArrowheads="1"/>
          </p:cNvSpPr>
          <p:nvPr/>
        </p:nvSpPr>
        <p:spPr bwMode="auto">
          <a:xfrm>
            <a:off x="-29189" y="1448928"/>
            <a:ext cx="11988800" cy="6927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nSpc>
                <a:spcPct val="150000"/>
              </a:lnSpc>
            </a:pPr>
            <a:r>
              <a:rPr lang="en-US" sz="3733" b="1" dirty="0">
                <a:latin typeface="+mj-lt"/>
              </a:rPr>
              <a:t>Choosing the Right Tool for Python Programming:</a:t>
            </a:r>
            <a:endParaRPr lang="en-US" sz="3733" dirty="0">
              <a:latin typeface="+mj-lt"/>
            </a:endParaRPr>
          </a:p>
          <a:p>
            <a:pPr marL="609585" indent="-609585">
              <a:lnSpc>
                <a:spcPct val="150000"/>
              </a:lnSpc>
              <a:buFont typeface="Arial" panose="020B0604020202020204" pitchFamily="34" charset="0"/>
              <a:buChar char="•"/>
            </a:pPr>
            <a:r>
              <a:rPr lang="en-US" sz="3733" b="1" dirty="0">
                <a:latin typeface="+mj-lt"/>
              </a:rPr>
              <a:t>New to Python?</a:t>
            </a:r>
            <a:r>
              <a:rPr lang="en-US" sz="3733" dirty="0">
                <a:latin typeface="+mj-lt"/>
              </a:rPr>
              <a:t> Use </a:t>
            </a:r>
            <a:r>
              <a:rPr lang="en-US" sz="3733" b="1" dirty="0">
                <a:latin typeface="+mj-lt"/>
              </a:rPr>
              <a:t>Anaconda</a:t>
            </a:r>
            <a:r>
              <a:rPr lang="en-US" sz="3733" dirty="0">
                <a:latin typeface="+mj-lt"/>
              </a:rPr>
              <a:t> – it comes with Python and most data science libraries pre-installed, making setup easy.</a:t>
            </a:r>
          </a:p>
          <a:p>
            <a:pPr marL="609585" indent="-609585">
              <a:lnSpc>
                <a:spcPct val="150000"/>
              </a:lnSpc>
              <a:buFont typeface="Arial" panose="020B0604020202020204" pitchFamily="34" charset="0"/>
              <a:buChar char="•"/>
            </a:pPr>
            <a:r>
              <a:rPr lang="en-US" sz="3733" b="1" dirty="0">
                <a:latin typeface="+mj-lt"/>
              </a:rPr>
              <a:t>Comfortable with setup?</a:t>
            </a:r>
            <a:r>
              <a:rPr lang="en-US" sz="3733" dirty="0">
                <a:latin typeface="+mj-lt"/>
              </a:rPr>
              <a:t> Choose </a:t>
            </a:r>
            <a:r>
              <a:rPr lang="en-US" sz="3733" b="1" dirty="0">
                <a:latin typeface="+mj-lt"/>
              </a:rPr>
              <a:t>Visual Studio Code (VS Code)</a:t>
            </a:r>
            <a:r>
              <a:rPr lang="en-US" sz="3733" dirty="0">
                <a:latin typeface="+mj-lt"/>
              </a:rPr>
              <a:t> – it's lightweight and powerful. Just make sure to manually install any required libraries (e.g., NumPy, Pandas, Matplotlib).</a:t>
            </a:r>
          </a:p>
        </p:txBody>
      </p:sp>
    </p:spTree>
    <p:extLst>
      <p:ext uri="{BB962C8B-B14F-4D97-AF65-F5344CB8AC3E}">
        <p14:creationId xmlns:p14="http://schemas.microsoft.com/office/powerpoint/2010/main" val="2750291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99FA6-D981-C104-7D25-790019D49498}"/>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F357CAF4-7B8E-3E90-3454-E0D43C85841B}"/>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21606803-BBC7-237A-5259-951803224538}"/>
              </a:ext>
            </a:extLst>
          </p:cNvPr>
          <p:cNvSpPr>
            <a:spLocks noChangeArrowheads="1"/>
          </p:cNvSpPr>
          <p:nvPr/>
        </p:nvSpPr>
        <p:spPr bwMode="auto">
          <a:xfrm>
            <a:off x="-29189" y="3172348"/>
            <a:ext cx="11988800" cy="348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marL="609585" indent="-609585">
              <a:lnSpc>
                <a:spcPct val="150000"/>
              </a:lnSpc>
              <a:buFont typeface="Arial" panose="020B0604020202020204" pitchFamily="34" charset="0"/>
              <a:buChar char="•"/>
            </a:pPr>
            <a:r>
              <a:rPr lang="en-US" sz="3733" b="1" dirty="0">
                <a:latin typeface="+mj-lt"/>
              </a:rPr>
              <a:t>Need cloud access or device flexibility?</a:t>
            </a:r>
            <a:r>
              <a:rPr lang="en-US" sz="3733" dirty="0">
                <a:latin typeface="+mj-lt"/>
              </a:rPr>
              <a:t> Try </a:t>
            </a:r>
            <a:r>
              <a:rPr lang="en-US" sz="3733" b="1" dirty="0">
                <a:latin typeface="+mj-lt"/>
              </a:rPr>
              <a:t>Google </a:t>
            </a:r>
            <a:r>
              <a:rPr lang="en-US" sz="3733" b="1" dirty="0" err="1">
                <a:latin typeface="+mj-lt"/>
              </a:rPr>
              <a:t>Colab</a:t>
            </a:r>
            <a:r>
              <a:rPr lang="en-US" sz="3733" dirty="0">
                <a:latin typeface="+mj-lt"/>
              </a:rPr>
              <a:t> – perfect for writing, running, and sharing code online. Ideal when working across devices or if local installation is restricted.</a:t>
            </a:r>
          </a:p>
        </p:txBody>
      </p:sp>
      <p:sp>
        <p:nvSpPr>
          <p:cNvPr id="3" name="object 2">
            <a:extLst>
              <a:ext uri="{FF2B5EF4-FFF2-40B4-BE49-F238E27FC236}">
                <a16:creationId xmlns:a16="http://schemas.microsoft.com/office/drawing/2014/main" id="{057BF00B-869C-F5B6-54CE-2529D775E7AF}"/>
              </a:ext>
            </a:extLst>
          </p:cNvPr>
          <p:cNvSpPr txBox="1">
            <a:spLocks/>
          </p:cNvSpPr>
          <p:nvPr/>
        </p:nvSpPr>
        <p:spPr>
          <a:xfrm>
            <a:off x="2933700" y="-228600"/>
            <a:ext cx="9227820" cy="857328"/>
          </a:xfrm>
          <a:prstGeom prst="rect">
            <a:avLst/>
          </a:prstGeom>
        </p:spPr>
        <p:txBody>
          <a:bodyPr vert="horz" wrap="square" lIns="0" tIns="346117" rIns="0" bIns="0" rtlCol="0">
            <a:spAutoFit/>
          </a:bodyPr>
          <a:lstStyle>
            <a:lvl1pPr>
              <a:defRPr sz="2400" b="1" i="0">
                <a:solidFill>
                  <a:srgbClr val="0D0D0D"/>
                </a:solidFill>
                <a:latin typeface="Calibri"/>
                <a:ea typeface="+mj-ea"/>
                <a:cs typeface="Calibri"/>
              </a:defRPr>
            </a:lvl1pPr>
          </a:lstStyle>
          <a:p>
            <a:pPr marL="165096">
              <a:spcBef>
                <a:spcPts val="133"/>
              </a:spcBef>
            </a:pPr>
            <a:r>
              <a:rPr lang="en-US" sz="3300" spc="-27"/>
              <a:t>Step-by-Step Installation Guide</a:t>
            </a:r>
            <a:endParaRPr lang="en-US" sz="3300" spc="-27" dirty="0"/>
          </a:p>
        </p:txBody>
      </p:sp>
    </p:spTree>
    <p:extLst>
      <p:ext uri="{BB962C8B-B14F-4D97-AF65-F5344CB8AC3E}">
        <p14:creationId xmlns:p14="http://schemas.microsoft.com/office/powerpoint/2010/main" val="2731545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8586-03CB-3DF5-1F25-CF5147C8F69D}"/>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3D60080-1C8E-F4F0-3EC7-8562E7218270}"/>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D49673F3-2026-01D2-869F-178C01AB50EB}"/>
              </a:ext>
            </a:extLst>
          </p:cNvPr>
          <p:cNvSpPr>
            <a:spLocks noChangeArrowheads="1"/>
          </p:cNvSpPr>
          <p:nvPr/>
        </p:nvSpPr>
        <p:spPr bwMode="auto">
          <a:xfrm>
            <a:off x="101600" y="1464153"/>
            <a:ext cx="11988800" cy="713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r>
              <a:rPr lang="en-US" sz="3067" b="1" kern="1200" dirty="0">
                <a:solidFill>
                  <a:prstClr val="black"/>
                </a:solidFill>
                <a:latin typeface="Calibri" panose="020F0502020204030204"/>
              </a:rPr>
              <a:t>1. Install Anaconda (Optional) (Includes Python, </a:t>
            </a:r>
            <a:r>
              <a:rPr lang="en-US" sz="3067" b="1" kern="1200" dirty="0" err="1">
                <a:solidFill>
                  <a:prstClr val="black"/>
                </a:solidFill>
                <a:latin typeface="Calibri" panose="020F0502020204030204"/>
              </a:rPr>
              <a:t>Jupyter</a:t>
            </a:r>
            <a:r>
              <a:rPr lang="en-US" sz="3067" b="1" kern="1200" dirty="0">
                <a:solidFill>
                  <a:prstClr val="black"/>
                </a:solidFill>
                <a:latin typeface="Calibri" panose="020F0502020204030204"/>
              </a:rPr>
              <a:t>, pandas, </a:t>
            </a:r>
            <a:r>
              <a:rPr lang="en-US" sz="3067" b="1" kern="1200" dirty="0" err="1">
                <a:solidFill>
                  <a:prstClr val="black"/>
                </a:solidFill>
                <a:latin typeface="Calibri" panose="020F0502020204030204"/>
              </a:rPr>
              <a:t>numpy</a:t>
            </a:r>
            <a:r>
              <a:rPr lang="en-US" sz="3067" b="1" kern="1200" dirty="0">
                <a:solidFill>
                  <a:prstClr val="black"/>
                </a:solidFill>
                <a:latin typeface="Calibri" panose="020F0502020204030204"/>
              </a:rPr>
              <a:t>, etc.)</a:t>
            </a:r>
          </a:p>
          <a:p>
            <a:pPr algn="l" defTabSz="1219170" rtl="0">
              <a:lnSpc>
                <a:spcPct val="150000"/>
              </a:lnSpc>
              <a:defRPr/>
            </a:pPr>
            <a:r>
              <a:rPr lang="en-US" sz="3067" kern="1200" dirty="0">
                <a:solidFill>
                  <a:prstClr val="black"/>
                </a:solidFill>
                <a:latin typeface="Calibri" panose="020F0502020204030204"/>
              </a:rPr>
              <a:t>Why: Needed for local coding and Spark integration</a:t>
            </a:r>
            <a:br>
              <a:rPr lang="en-US" sz="3067" kern="1200" dirty="0">
                <a:solidFill>
                  <a:prstClr val="black"/>
                </a:solidFill>
                <a:latin typeface="Calibri" panose="020F0502020204030204"/>
              </a:rPr>
            </a:br>
            <a:r>
              <a:rPr lang="en-US" sz="3067" kern="1200" dirty="0">
                <a:solidFill>
                  <a:prstClr val="black"/>
                </a:solidFill>
                <a:latin typeface="Calibri" panose="020F0502020204030204"/>
              </a:rPr>
              <a:t>Steps:</a:t>
            </a:r>
          </a:p>
          <a:p>
            <a:pPr marL="1295368" lvl="1" indent="-685783" algn="l" defTabSz="1219170" rtl="0">
              <a:lnSpc>
                <a:spcPct val="150000"/>
              </a:lnSpc>
              <a:buFont typeface="+mj-lt"/>
              <a:buAutoNum type="arabicPeriod"/>
              <a:defRPr/>
            </a:pPr>
            <a:r>
              <a:rPr lang="en-US" sz="3067" kern="1200" dirty="0">
                <a:solidFill>
                  <a:prstClr val="black"/>
                </a:solidFill>
                <a:latin typeface="Calibri" panose="020F0502020204030204"/>
              </a:rPr>
              <a:t>Go to </a:t>
            </a:r>
            <a:r>
              <a:rPr lang="en-US" sz="3067" kern="1200" dirty="0">
                <a:solidFill>
                  <a:prstClr val="black"/>
                </a:solidFill>
                <a:latin typeface="Calibri" panose="020F0502020204030204"/>
                <a:hlinkClick r:id="rId2"/>
              </a:rPr>
              <a:t>https://www.anaconda.com/download</a:t>
            </a:r>
            <a:r>
              <a:rPr lang="en-US" sz="3067" kern="1200" dirty="0">
                <a:solidFill>
                  <a:prstClr val="black"/>
                </a:solidFill>
                <a:latin typeface="Calibri" panose="020F0502020204030204"/>
              </a:rPr>
              <a:t> </a:t>
            </a:r>
          </a:p>
          <a:p>
            <a:pPr marL="1295368" lvl="1" indent="-685783" algn="l" defTabSz="1219170" rtl="0">
              <a:lnSpc>
                <a:spcPct val="150000"/>
              </a:lnSpc>
              <a:buFont typeface="+mj-lt"/>
              <a:buAutoNum type="arabicPeriod"/>
              <a:defRPr/>
            </a:pPr>
            <a:r>
              <a:rPr lang="en-US" sz="3067" kern="1200" dirty="0">
                <a:solidFill>
                  <a:prstClr val="black"/>
                </a:solidFill>
                <a:latin typeface="Calibri" panose="020F0502020204030204"/>
              </a:rPr>
              <a:t>Download Anaconda Individual Edition for your OS (Windows/macOS)</a:t>
            </a:r>
          </a:p>
          <a:p>
            <a:pPr marL="1295368" lvl="1" indent="-685783" algn="l" defTabSz="1219170" rtl="0">
              <a:lnSpc>
                <a:spcPct val="150000"/>
              </a:lnSpc>
              <a:buFont typeface="+mj-lt"/>
              <a:buAutoNum type="arabicPeriod"/>
              <a:defRPr/>
            </a:pPr>
            <a:r>
              <a:rPr lang="en-US" sz="3067" kern="1200" dirty="0">
                <a:solidFill>
                  <a:prstClr val="black"/>
                </a:solidFill>
                <a:latin typeface="Calibri" panose="020F0502020204030204"/>
              </a:rPr>
              <a:t>Follow the installation instructions (click Next &gt; Accept &gt; Install)</a:t>
            </a:r>
          </a:p>
          <a:p>
            <a:pPr marL="1295368" lvl="1" indent="-685783" algn="l" defTabSz="1219170" rtl="0">
              <a:lnSpc>
                <a:spcPct val="150000"/>
              </a:lnSpc>
              <a:buFont typeface="+mj-lt"/>
              <a:buAutoNum type="arabicPeriod"/>
              <a:defRPr/>
            </a:pPr>
            <a:r>
              <a:rPr lang="en-US" sz="3067" kern="1200" dirty="0">
                <a:solidFill>
                  <a:prstClr val="black"/>
                </a:solidFill>
                <a:latin typeface="Calibri" panose="020F0502020204030204"/>
              </a:rPr>
              <a:t>After install, open Anaconda Navigator or </a:t>
            </a:r>
            <a:r>
              <a:rPr lang="en-US" sz="3067" kern="1200" dirty="0" err="1">
                <a:solidFill>
                  <a:prstClr val="black"/>
                </a:solidFill>
                <a:latin typeface="Calibri" panose="020F0502020204030204"/>
              </a:rPr>
              <a:t>Jupyter</a:t>
            </a:r>
            <a:r>
              <a:rPr lang="en-US" sz="3067" kern="1200" dirty="0">
                <a:solidFill>
                  <a:prstClr val="black"/>
                </a:solidFill>
                <a:latin typeface="Calibri" panose="020F0502020204030204"/>
              </a:rPr>
              <a:t> Notebook from Start Menu</a:t>
            </a:r>
          </a:p>
        </p:txBody>
      </p:sp>
      <p:sp>
        <p:nvSpPr>
          <p:cNvPr id="7" name="object 2">
            <a:extLst>
              <a:ext uri="{FF2B5EF4-FFF2-40B4-BE49-F238E27FC236}">
                <a16:creationId xmlns:a16="http://schemas.microsoft.com/office/drawing/2014/main" id="{A279FD18-6331-D841-8E98-84B50A8B35EE}"/>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3429966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B849A-D03E-D22B-B0DD-E217BE0E99DE}"/>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CC9FDE32-C87D-0538-3E36-F97920840C3A}"/>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3A3C8C45-FA32-E186-1392-02C2ADDFA7CC}"/>
              </a:ext>
            </a:extLst>
          </p:cNvPr>
          <p:cNvSpPr>
            <a:spLocks noChangeArrowheads="1"/>
          </p:cNvSpPr>
          <p:nvPr/>
        </p:nvSpPr>
        <p:spPr bwMode="auto">
          <a:xfrm>
            <a:off x="101600" y="1996157"/>
            <a:ext cx="11988800" cy="6066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r>
              <a:rPr lang="en-US" sz="3733" b="1" kern="1200" dirty="0">
                <a:solidFill>
                  <a:prstClr val="black"/>
                </a:solidFill>
                <a:latin typeface="Calibri" panose="020F0502020204030204"/>
              </a:rPr>
              <a:t>2. Set Up Google </a:t>
            </a:r>
            <a:r>
              <a:rPr lang="en-US" sz="3733" b="1" kern="1200" dirty="0" err="1">
                <a:solidFill>
                  <a:prstClr val="black"/>
                </a:solidFill>
                <a:latin typeface="Calibri" panose="020F0502020204030204"/>
              </a:rPr>
              <a:t>Colab</a:t>
            </a:r>
            <a:r>
              <a:rPr lang="en-US" sz="3733" b="1" kern="1200" dirty="0">
                <a:solidFill>
                  <a:prstClr val="black"/>
                </a:solidFill>
                <a:latin typeface="Calibri" panose="020F0502020204030204"/>
              </a:rPr>
              <a:t> (Recommended)</a:t>
            </a:r>
          </a:p>
          <a:p>
            <a:pPr algn="l" defTabSz="1219170" rtl="0">
              <a:lnSpc>
                <a:spcPct val="150000"/>
              </a:lnSpc>
              <a:defRPr/>
            </a:pPr>
            <a:r>
              <a:rPr lang="en-US" sz="3733" b="1" kern="1200" dirty="0">
                <a:solidFill>
                  <a:prstClr val="black"/>
                </a:solidFill>
                <a:latin typeface="Calibri" panose="020F0502020204030204"/>
              </a:rPr>
              <a:t>Why:</a:t>
            </a:r>
            <a:r>
              <a:rPr lang="en-US" sz="3733" kern="1200" dirty="0">
                <a:solidFill>
                  <a:prstClr val="black"/>
                </a:solidFill>
                <a:latin typeface="Calibri" panose="020F0502020204030204"/>
              </a:rPr>
              <a:t> Cloud-based notebooks used for labs and coding</a:t>
            </a:r>
            <a:br>
              <a:rPr lang="en-US" sz="3733" kern="1200" dirty="0">
                <a:solidFill>
                  <a:prstClr val="black"/>
                </a:solidFill>
                <a:latin typeface="Calibri" panose="020F0502020204030204"/>
              </a:rPr>
            </a:br>
            <a:r>
              <a:rPr lang="en-US" sz="3733" b="1" kern="1200" dirty="0">
                <a:solidFill>
                  <a:prstClr val="black"/>
                </a:solidFill>
                <a:latin typeface="Calibri" panose="020F0502020204030204"/>
              </a:rPr>
              <a:t>Steps:</a:t>
            </a:r>
            <a:endParaRPr lang="en-US" sz="3733" kern="1200" dirty="0">
              <a:solidFill>
                <a:prstClr val="black"/>
              </a:solidFill>
              <a:latin typeface="Calibri" panose="020F0502020204030204"/>
            </a:endParaRPr>
          </a:p>
          <a:p>
            <a:pPr marL="1295368" lvl="1" indent="-685783" algn="l" defTabSz="1219170" rtl="0">
              <a:lnSpc>
                <a:spcPct val="150000"/>
              </a:lnSpc>
              <a:buFont typeface="+mj-lt"/>
              <a:buAutoNum type="arabicPeriod"/>
              <a:defRPr/>
            </a:pPr>
            <a:r>
              <a:rPr lang="en-US" sz="3733" kern="1200" dirty="0">
                <a:solidFill>
                  <a:prstClr val="black"/>
                </a:solidFill>
                <a:latin typeface="Calibri" panose="020F0502020204030204"/>
              </a:rPr>
              <a:t>Go to </a:t>
            </a:r>
            <a:r>
              <a:rPr lang="en-US" sz="3733" kern="1200" dirty="0">
                <a:solidFill>
                  <a:prstClr val="black"/>
                </a:solidFill>
                <a:latin typeface="Calibri" panose="020F0502020204030204"/>
                <a:hlinkClick r:id="rId2"/>
              </a:rPr>
              <a:t>https://colab.research.google.com</a:t>
            </a:r>
            <a:r>
              <a:rPr lang="en-US" sz="3733" kern="1200" dirty="0">
                <a:solidFill>
                  <a:prstClr val="black"/>
                </a:solidFill>
                <a:latin typeface="Calibri" panose="020F0502020204030204"/>
              </a:rPr>
              <a:t> </a:t>
            </a:r>
          </a:p>
          <a:p>
            <a:pPr marL="1295368" lvl="1" indent="-685783" algn="l" defTabSz="1219170" rtl="0">
              <a:lnSpc>
                <a:spcPct val="150000"/>
              </a:lnSpc>
              <a:buFont typeface="+mj-lt"/>
              <a:buAutoNum type="arabicPeriod"/>
              <a:defRPr/>
            </a:pPr>
            <a:r>
              <a:rPr lang="en-US" sz="3733" kern="1200" dirty="0">
                <a:solidFill>
                  <a:prstClr val="black"/>
                </a:solidFill>
                <a:latin typeface="Calibri" panose="020F0502020204030204"/>
              </a:rPr>
              <a:t>Sign in using your student Google account</a:t>
            </a:r>
          </a:p>
          <a:p>
            <a:pPr marL="1295368" lvl="1" indent="-685783" algn="l" defTabSz="1219170" rtl="0">
              <a:lnSpc>
                <a:spcPct val="150000"/>
              </a:lnSpc>
              <a:buFont typeface="+mj-lt"/>
              <a:buAutoNum type="arabicPeriod"/>
              <a:defRPr/>
            </a:pPr>
            <a:r>
              <a:rPr lang="en-US" sz="3733" kern="1200" dirty="0">
                <a:solidFill>
                  <a:prstClr val="black"/>
                </a:solidFill>
                <a:latin typeface="Calibri" panose="020F0502020204030204"/>
              </a:rPr>
              <a:t>Create or open notebooks anytime without install</a:t>
            </a:r>
          </a:p>
          <a:p>
            <a:pPr marL="1295368" lvl="1" indent="-685783" algn="l" defTabSz="1219170" rtl="0">
              <a:lnSpc>
                <a:spcPct val="150000"/>
              </a:lnSpc>
              <a:buFont typeface="+mj-lt"/>
              <a:buAutoNum type="arabicPeriod"/>
              <a:defRPr/>
            </a:pPr>
            <a:r>
              <a:rPr lang="en-US" sz="3733" kern="1200" dirty="0">
                <a:solidFill>
                  <a:prstClr val="black"/>
                </a:solidFill>
                <a:latin typeface="Calibri" panose="020F0502020204030204"/>
              </a:rPr>
              <a:t>We’ll share lab notebooks weekly via Moodle</a:t>
            </a:r>
          </a:p>
        </p:txBody>
      </p:sp>
      <p:sp>
        <p:nvSpPr>
          <p:cNvPr id="7" name="object 2">
            <a:extLst>
              <a:ext uri="{FF2B5EF4-FFF2-40B4-BE49-F238E27FC236}">
                <a16:creationId xmlns:a16="http://schemas.microsoft.com/office/drawing/2014/main" id="{7AE6A0CC-E695-DB2B-859A-10DF6085DF43}"/>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3827445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B389-530E-E3CA-7E76-75531339126C}"/>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F60F6B9F-C159-0521-3BCA-FEF53F6EA3B1}"/>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74035509-53CC-394B-7B27-397DF4BEC9AF}"/>
              </a:ext>
            </a:extLst>
          </p:cNvPr>
          <p:cNvSpPr>
            <a:spLocks noChangeArrowheads="1"/>
          </p:cNvSpPr>
          <p:nvPr/>
        </p:nvSpPr>
        <p:spPr bwMode="auto">
          <a:xfrm>
            <a:off x="17380" y="1269990"/>
            <a:ext cx="11988800" cy="89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r>
              <a:rPr lang="en-US" sz="3733" b="1" kern="1200" dirty="0">
                <a:solidFill>
                  <a:prstClr val="black"/>
                </a:solidFill>
                <a:latin typeface="Calibri" panose="020F0502020204030204"/>
              </a:rPr>
              <a:t>3. Install Visual Studio Code (Optional)</a:t>
            </a:r>
          </a:p>
        </p:txBody>
      </p:sp>
      <p:sp>
        <p:nvSpPr>
          <p:cNvPr id="3" name="TextBox 2">
            <a:extLst>
              <a:ext uri="{FF2B5EF4-FFF2-40B4-BE49-F238E27FC236}">
                <a16:creationId xmlns:a16="http://schemas.microsoft.com/office/drawing/2014/main" id="{9B54E493-B732-EC45-58B9-18ACEC4E2111}"/>
              </a:ext>
            </a:extLst>
          </p:cNvPr>
          <p:cNvSpPr txBox="1"/>
          <p:nvPr/>
        </p:nvSpPr>
        <p:spPr>
          <a:xfrm>
            <a:off x="0" y="2230822"/>
            <a:ext cx="11899888" cy="4549835"/>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Step 1: Install Python</a:t>
            </a:r>
          </a:p>
          <a:p>
            <a:pPr lvl="0" eaLnBrk="0" fontAlgn="base" hangingPunct="0">
              <a:lnSpc>
                <a:spcPct val="150000"/>
              </a:lnSpc>
              <a:spcBef>
                <a:spcPct val="0"/>
              </a:spcBef>
              <a:spcAft>
                <a:spcPct val="0"/>
              </a:spcAft>
            </a:pPr>
            <a:r>
              <a:rPr lang="en-US" altLang="en-US" sz="2800" b="1" dirty="0">
                <a:latin typeface="Calibir"/>
              </a:rPr>
              <a:t>For Windows 11:</a:t>
            </a:r>
          </a:p>
          <a:p>
            <a:pPr marL="514338" indent="-514338" eaLnBrk="0" fontAlgn="base" hangingPunct="0">
              <a:lnSpc>
                <a:spcPct val="150000"/>
              </a:lnSpc>
              <a:spcBef>
                <a:spcPct val="0"/>
              </a:spcBef>
              <a:spcAft>
                <a:spcPct val="0"/>
              </a:spcAft>
              <a:buFont typeface="+mj-lt"/>
              <a:buAutoNum type="arabicPeriod"/>
            </a:pPr>
            <a:r>
              <a:rPr lang="en-US" altLang="en-US" sz="2800" dirty="0">
                <a:latin typeface="Calibir"/>
              </a:rPr>
              <a:t>Go to the official site: </a:t>
            </a:r>
            <a:r>
              <a:rPr lang="en-US" altLang="en-US" sz="2800" dirty="0">
                <a:latin typeface="Calibir"/>
                <a:hlinkClick r:id="rId2"/>
              </a:rPr>
              <a:t>https://www.python.org/downloads/</a:t>
            </a:r>
            <a:endParaRPr lang="en-US" altLang="en-US" sz="2800" dirty="0">
              <a:latin typeface="Calibir"/>
            </a:endParaRPr>
          </a:p>
          <a:p>
            <a:pPr marL="514338" indent="-514338" eaLnBrk="0" fontAlgn="base" hangingPunct="0">
              <a:lnSpc>
                <a:spcPct val="150000"/>
              </a:lnSpc>
              <a:spcBef>
                <a:spcPct val="0"/>
              </a:spcBef>
              <a:spcAft>
                <a:spcPct val="0"/>
              </a:spcAft>
              <a:buFont typeface="+mj-lt"/>
              <a:buAutoNum type="arabicPeriod"/>
            </a:pPr>
            <a:r>
              <a:rPr lang="en-US" altLang="en-US" sz="2800" dirty="0">
                <a:latin typeface="Calibir"/>
              </a:rPr>
              <a:t>Download the latest </a:t>
            </a:r>
            <a:r>
              <a:rPr lang="en-US" altLang="en-US" sz="2800" b="1" dirty="0">
                <a:latin typeface="Calibir"/>
              </a:rPr>
              <a:t>Python 3.x Windows Installer</a:t>
            </a:r>
            <a:r>
              <a:rPr lang="en-US" altLang="en-US" sz="2800" dirty="0">
                <a:latin typeface="Calibir"/>
              </a:rPr>
              <a:t>.</a:t>
            </a:r>
          </a:p>
          <a:p>
            <a:pPr marL="514338" indent="-514338" eaLnBrk="0" fontAlgn="base" hangingPunct="0">
              <a:lnSpc>
                <a:spcPct val="150000"/>
              </a:lnSpc>
              <a:spcBef>
                <a:spcPct val="0"/>
              </a:spcBef>
              <a:spcAft>
                <a:spcPct val="0"/>
              </a:spcAft>
              <a:buFont typeface="+mj-lt"/>
              <a:buAutoNum type="arabicPeriod"/>
            </a:pPr>
            <a:r>
              <a:rPr lang="en-US" altLang="en-US" sz="2800" b="1" dirty="0">
                <a:latin typeface="Calibir"/>
              </a:rPr>
              <a:t>Important</a:t>
            </a:r>
            <a:r>
              <a:rPr lang="en-US" altLang="en-US" sz="2800" dirty="0">
                <a:latin typeface="Calibir"/>
              </a:rPr>
              <a:t>: During installation, </a:t>
            </a:r>
            <a:r>
              <a:rPr lang="en-US" altLang="en-US" sz="2800" b="1" dirty="0">
                <a:latin typeface="Calibir"/>
              </a:rPr>
              <a:t>check the box that says</a:t>
            </a:r>
            <a:r>
              <a:rPr lang="en-US" altLang="en-US" sz="2800" dirty="0">
                <a:latin typeface="Calibir"/>
              </a:rPr>
              <a:t> Add Python 3.x to PATH </a:t>
            </a:r>
            <a:r>
              <a:rPr lang="en-US" altLang="en-US" sz="2800" b="1" dirty="0">
                <a:latin typeface="Calibir"/>
              </a:rPr>
              <a:t>before clicking Install Now</a:t>
            </a:r>
            <a:r>
              <a:rPr lang="en-US" altLang="en-US" sz="2800" dirty="0">
                <a:latin typeface="Calibir"/>
              </a:rPr>
              <a:t>.</a:t>
            </a:r>
          </a:p>
          <a:p>
            <a:pPr marL="514338" indent="-514338" eaLnBrk="0" fontAlgn="base" hangingPunct="0">
              <a:lnSpc>
                <a:spcPct val="150000"/>
              </a:lnSpc>
              <a:spcBef>
                <a:spcPct val="0"/>
              </a:spcBef>
              <a:spcAft>
                <a:spcPct val="0"/>
              </a:spcAft>
              <a:buFont typeface="+mj-lt"/>
              <a:buAutoNum type="arabicPeriod"/>
            </a:pPr>
            <a:r>
              <a:rPr lang="en-US" altLang="en-US" sz="2800" dirty="0">
                <a:latin typeface="Calibir"/>
              </a:rPr>
              <a:t>After installation, open </a:t>
            </a:r>
            <a:r>
              <a:rPr lang="en-US" altLang="en-US" sz="2800" b="1" dirty="0">
                <a:latin typeface="Calibir"/>
              </a:rPr>
              <a:t>Command Prompt (</a:t>
            </a:r>
            <a:r>
              <a:rPr lang="en-US" altLang="en-US" sz="2800" b="1" dirty="0" err="1">
                <a:latin typeface="Calibir"/>
              </a:rPr>
              <a:t>cmd</a:t>
            </a:r>
            <a:r>
              <a:rPr lang="en-US" altLang="en-US" sz="2800" b="1" dirty="0">
                <a:latin typeface="Calibir"/>
              </a:rPr>
              <a:t>)</a:t>
            </a:r>
            <a:r>
              <a:rPr lang="en-US" altLang="en-US" sz="2800" dirty="0">
                <a:latin typeface="Calibir"/>
              </a:rPr>
              <a:t> and type: </a:t>
            </a:r>
            <a:r>
              <a:rPr lang="en-US" altLang="en-US" sz="2800" dirty="0">
                <a:highlight>
                  <a:srgbClr val="FFFF00"/>
                </a:highlight>
                <a:latin typeface="Calibir"/>
              </a:rPr>
              <a:t>python --version</a:t>
            </a:r>
            <a:endParaRPr lang="en-US" altLang="en-US" sz="2800" dirty="0">
              <a:latin typeface="Calibir"/>
            </a:endParaRPr>
          </a:p>
        </p:txBody>
      </p:sp>
      <p:pic>
        <p:nvPicPr>
          <p:cNvPr id="6" name="Picture 5">
            <a:extLst>
              <a:ext uri="{FF2B5EF4-FFF2-40B4-BE49-F238E27FC236}">
                <a16:creationId xmlns:a16="http://schemas.microsoft.com/office/drawing/2014/main" id="{11EAFF8D-E739-1F9D-6213-9EE3CA95E761}"/>
              </a:ext>
            </a:extLst>
          </p:cNvPr>
          <p:cNvPicPr>
            <a:picLocks noChangeAspect="1"/>
          </p:cNvPicPr>
          <p:nvPr/>
        </p:nvPicPr>
        <p:blipFill>
          <a:blip r:embed="rId3"/>
          <a:srcRect r="50000" b="63333"/>
          <a:stretch>
            <a:fillRect/>
          </a:stretch>
        </p:blipFill>
        <p:spPr>
          <a:xfrm>
            <a:off x="92366" y="6912101"/>
            <a:ext cx="6650181" cy="1371600"/>
          </a:xfrm>
          <a:prstGeom prst="rect">
            <a:avLst/>
          </a:prstGeom>
        </p:spPr>
      </p:pic>
      <p:sp>
        <p:nvSpPr>
          <p:cNvPr id="7" name="TextBox 6">
            <a:extLst>
              <a:ext uri="{FF2B5EF4-FFF2-40B4-BE49-F238E27FC236}">
                <a16:creationId xmlns:a16="http://schemas.microsoft.com/office/drawing/2014/main" id="{29A7B370-6F9A-39A4-6C49-6059CA8384BC}"/>
              </a:ext>
            </a:extLst>
          </p:cNvPr>
          <p:cNvSpPr txBox="1"/>
          <p:nvPr/>
        </p:nvSpPr>
        <p:spPr>
          <a:xfrm>
            <a:off x="6742548" y="6912101"/>
            <a:ext cx="5357089" cy="1563377"/>
          </a:xfrm>
          <a:prstGeom prst="rect">
            <a:avLst/>
          </a:prstGeom>
          <a:noFill/>
        </p:spPr>
        <p:txBody>
          <a:bodyPr wrap="square">
            <a:spAutoFit/>
          </a:bodyPr>
          <a:lstStyle/>
          <a:p>
            <a:pPr>
              <a:lnSpc>
                <a:spcPct val="150000"/>
              </a:lnSpc>
            </a:pPr>
            <a:r>
              <a:rPr lang="en-US" sz="2200" dirty="0">
                <a:latin typeface="Calibir"/>
              </a:rPr>
              <a:t>You should see the Python version printed. This confirms it's correctly installed and added to PATH.</a:t>
            </a:r>
            <a:endParaRPr lang="en-AU" sz="2200" dirty="0">
              <a:latin typeface="Calibir"/>
            </a:endParaRPr>
          </a:p>
        </p:txBody>
      </p:sp>
      <p:sp>
        <p:nvSpPr>
          <p:cNvPr id="10" name="object 2">
            <a:extLst>
              <a:ext uri="{FF2B5EF4-FFF2-40B4-BE49-F238E27FC236}">
                <a16:creationId xmlns:a16="http://schemas.microsoft.com/office/drawing/2014/main" id="{21240BF2-A4AD-5A0E-6461-17A019F04EE9}"/>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2951791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17361-9286-DDD9-7287-A684E1CE7E76}"/>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099FE529-910E-C15E-DF9C-31D278D639A5}"/>
              </a:ext>
            </a:extLst>
          </p:cNvPr>
          <p:cNvSpPr>
            <a:spLocks noChangeArrowheads="1"/>
          </p:cNvSpPr>
          <p:nvPr/>
        </p:nvSpPr>
        <p:spPr bwMode="auto">
          <a:xfrm>
            <a:off x="17380" y="1269990"/>
            <a:ext cx="11988800" cy="89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r>
              <a:rPr lang="en-US" sz="3733" b="1" kern="1200" dirty="0">
                <a:solidFill>
                  <a:prstClr val="black"/>
                </a:solidFill>
                <a:latin typeface="Calibri" panose="020F0502020204030204"/>
              </a:rPr>
              <a:t>3. Install Visual Studio Code (Optional)</a:t>
            </a:r>
          </a:p>
        </p:txBody>
      </p:sp>
      <p:sp>
        <p:nvSpPr>
          <p:cNvPr id="8" name="TextBox 7">
            <a:extLst>
              <a:ext uri="{FF2B5EF4-FFF2-40B4-BE49-F238E27FC236}">
                <a16:creationId xmlns:a16="http://schemas.microsoft.com/office/drawing/2014/main" id="{4D51F502-DEBF-C525-1924-9E675C66C74B}"/>
              </a:ext>
            </a:extLst>
          </p:cNvPr>
          <p:cNvSpPr txBox="1"/>
          <p:nvPr/>
        </p:nvSpPr>
        <p:spPr>
          <a:xfrm>
            <a:off x="17380" y="2045310"/>
            <a:ext cx="15866517" cy="4311886"/>
          </a:xfrm>
          <a:prstGeom prst="rect">
            <a:avLst/>
          </a:prstGeom>
          <a:noFill/>
        </p:spPr>
        <p:txBody>
          <a:bodyPr wrap="square">
            <a:spAutoFit/>
          </a:bodyPr>
          <a:lstStyle/>
          <a:p>
            <a:pPr>
              <a:lnSpc>
                <a:spcPct val="150000"/>
              </a:lnSpc>
            </a:pPr>
            <a:r>
              <a:rPr lang="en-US" sz="3733" b="1" dirty="0">
                <a:latin typeface="Calibir"/>
              </a:rPr>
              <a:t>For macOS:</a:t>
            </a:r>
          </a:p>
          <a:p>
            <a:pPr marL="685783" indent="-685783">
              <a:lnSpc>
                <a:spcPct val="150000"/>
              </a:lnSpc>
              <a:buFont typeface="+mj-lt"/>
              <a:buAutoNum type="arabicPeriod"/>
            </a:pPr>
            <a:r>
              <a:rPr lang="en-US" sz="3733" dirty="0">
                <a:latin typeface="Calibir"/>
              </a:rPr>
              <a:t>Download the macOS installer from </a:t>
            </a:r>
            <a:r>
              <a:rPr lang="en-US" sz="3733" dirty="0">
                <a:latin typeface="Calibir"/>
                <a:hlinkClick r:id="rId2"/>
              </a:rPr>
              <a:t>https://www.python.org/downloads/mac-osx/</a:t>
            </a:r>
            <a:endParaRPr lang="en-US" sz="3733" dirty="0">
              <a:latin typeface="Calibir"/>
            </a:endParaRPr>
          </a:p>
          <a:p>
            <a:pPr marL="685783" indent="-685783">
              <a:lnSpc>
                <a:spcPct val="150000"/>
              </a:lnSpc>
              <a:buFont typeface="+mj-lt"/>
              <a:buAutoNum type="arabicPeriod"/>
            </a:pPr>
            <a:r>
              <a:rPr lang="en-US" sz="3733" dirty="0">
                <a:latin typeface="Calibir"/>
              </a:rPr>
              <a:t>Follow the installer instructions.</a:t>
            </a:r>
          </a:p>
          <a:p>
            <a:pPr marL="685783" indent="-685783">
              <a:lnSpc>
                <a:spcPct val="150000"/>
              </a:lnSpc>
              <a:buFont typeface="+mj-lt"/>
              <a:buAutoNum type="arabicPeriod"/>
            </a:pPr>
            <a:r>
              <a:rPr lang="en-US" sz="3733" dirty="0">
                <a:latin typeface="Calibir"/>
              </a:rPr>
              <a:t>To verify, open </a:t>
            </a:r>
            <a:r>
              <a:rPr lang="en-US" sz="3733" b="1" dirty="0">
                <a:latin typeface="Calibir"/>
              </a:rPr>
              <a:t>Terminal</a:t>
            </a:r>
            <a:r>
              <a:rPr lang="en-US" sz="3733" dirty="0">
                <a:latin typeface="Calibir"/>
              </a:rPr>
              <a:t> and run:</a:t>
            </a:r>
          </a:p>
        </p:txBody>
      </p:sp>
      <p:sp>
        <p:nvSpPr>
          <p:cNvPr id="9" name="TextBox 8">
            <a:extLst>
              <a:ext uri="{FF2B5EF4-FFF2-40B4-BE49-F238E27FC236}">
                <a16:creationId xmlns:a16="http://schemas.microsoft.com/office/drawing/2014/main" id="{3F587234-3566-B8EB-2A01-9ABFBAF35730}"/>
              </a:ext>
            </a:extLst>
          </p:cNvPr>
          <p:cNvSpPr txBox="1"/>
          <p:nvPr/>
        </p:nvSpPr>
        <p:spPr>
          <a:xfrm>
            <a:off x="17381" y="6231134"/>
            <a:ext cx="7142785" cy="865045"/>
          </a:xfrm>
          <a:prstGeom prst="rect">
            <a:avLst/>
          </a:prstGeom>
          <a:noFill/>
        </p:spPr>
        <p:txBody>
          <a:bodyPr wrap="square">
            <a:spAutoFit/>
          </a:bodyPr>
          <a:lstStyle/>
          <a:p>
            <a:pPr>
              <a:lnSpc>
                <a:spcPct val="150000"/>
              </a:lnSpc>
            </a:pPr>
            <a:r>
              <a:rPr lang="en-US" sz="3733" dirty="0">
                <a:highlight>
                  <a:srgbClr val="FFFF00"/>
                </a:highlight>
                <a:latin typeface="Calibir"/>
              </a:rPr>
              <a:t>python3 --version</a:t>
            </a:r>
          </a:p>
        </p:txBody>
      </p:sp>
      <p:sp>
        <p:nvSpPr>
          <p:cNvPr id="10" name="Rectangle 9">
            <a:extLst>
              <a:ext uri="{FF2B5EF4-FFF2-40B4-BE49-F238E27FC236}">
                <a16:creationId xmlns:a16="http://schemas.microsoft.com/office/drawing/2014/main" id="{B5A3103E-65D7-AF27-D660-D2E66E19C761}"/>
              </a:ext>
            </a:extLst>
          </p:cNvPr>
          <p:cNvSpPr>
            <a:spLocks noChangeArrowheads="1"/>
          </p:cNvSpPr>
          <p:nvPr/>
        </p:nvSpPr>
        <p:spPr bwMode="auto">
          <a:xfrm>
            <a:off x="17380" y="7126925"/>
            <a:ext cx="10311477" cy="89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algn="l" defTabSz="1219170" rtl="0" eaLnBrk="0" fontAlgn="base" hangingPunct="0">
              <a:lnSpc>
                <a:spcPct val="150000"/>
              </a:lnSpc>
              <a:spcBef>
                <a:spcPct val="0"/>
              </a:spcBef>
              <a:spcAft>
                <a:spcPct val="0"/>
              </a:spcAft>
            </a:pPr>
            <a:r>
              <a:rPr lang="en-US" altLang="en-US" sz="3733" dirty="0">
                <a:solidFill>
                  <a:schemeClr val="tx1"/>
                </a:solidFill>
                <a:latin typeface="Calibir"/>
              </a:rPr>
              <a:t>(On Mac, we often use python3 instead of python.) </a:t>
            </a:r>
          </a:p>
        </p:txBody>
      </p:sp>
      <p:sp>
        <p:nvSpPr>
          <p:cNvPr id="11" name="TextBox 10">
            <a:extLst>
              <a:ext uri="{FF2B5EF4-FFF2-40B4-BE49-F238E27FC236}">
                <a16:creationId xmlns:a16="http://schemas.microsoft.com/office/drawing/2014/main" id="{B2B446A2-3B9A-2E37-8EB7-1EF7B1DB2DE8}"/>
              </a:ext>
            </a:extLst>
          </p:cNvPr>
          <p:cNvSpPr txBox="1"/>
          <p:nvPr/>
        </p:nvSpPr>
        <p:spPr>
          <a:xfrm>
            <a:off x="23519" y="8287016"/>
            <a:ext cx="8212083" cy="1241237"/>
          </a:xfrm>
          <a:prstGeom prst="rect">
            <a:avLst/>
          </a:prstGeom>
          <a:noFill/>
        </p:spPr>
        <p:txBody>
          <a:bodyPr wrap="square">
            <a:spAutoFit/>
          </a:bodyPr>
          <a:lstStyle/>
          <a:p>
            <a:r>
              <a:rPr lang="en-AU" sz="3733" dirty="0">
                <a:latin typeface="Calibir"/>
              </a:rPr>
              <a:t>To update:</a:t>
            </a:r>
          </a:p>
          <a:p>
            <a:r>
              <a:rPr lang="en-AU" sz="3733" dirty="0">
                <a:highlight>
                  <a:srgbClr val="FFFF00"/>
                </a:highlight>
                <a:latin typeface="Calibir"/>
              </a:rPr>
              <a:t>python -m pip install --upgrade pip</a:t>
            </a:r>
          </a:p>
        </p:txBody>
      </p:sp>
      <p:sp>
        <p:nvSpPr>
          <p:cNvPr id="6" name="object 2">
            <a:extLst>
              <a:ext uri="{FF2B5EF4-FFF2-40B4-BE49-F238E27FC236}">
                <a16:creationId xmlns:a16="http://schemas.microsoft.com/office/drawing/2014/main" id="{4C90F5D3-B2E1-0650-0DBC-1E2A24E1B860}"/>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1562511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A387A-BEA3-7E6D-9C87-2C5BE7CC992B}"/>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81E1FABA-D717-D744-4796-DFC3C87DCE2B}"/>
              </a:ext>
            </a:extLst>
          </p:cNvPr>
          <p:cNvSpPr>
            <a:spLocks noChangeArrowheads="1"/>
          </p:cNvSpPr>
          <p:nvPr/>
        </p:nvSpPr>
        <p:spPr bwMode="auto">
          <a:xfrm>
            <a:off x="17380" y="1269990"/>
            <a:ext cx="11988800" cy="89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r>
              <a:rPr lang="en-US" sz="3733" b="1" kern="1200" dirty="0">
                <a:solidFill>
                  <a:prstClr val="black"/>
                </a:solidFill>
                <a:latin typeface="Calibri" panose="020F0502020204030204"/>
              </a:rPr>
              <a:t>3. Install Visual Studio Code (Optional)</a:t>
            </a:r>
          </a:p>
        </p:txBody>
      </p:sp>
      <p:sp>
        <p:nvSpPr>
          <p:cNvPr id="3" name="TextBox 2">
            <a:extLst>
              <a:ext uri="{FF2B5EF4-FFF2-40B4-BE49-F238E27FC236}">
                <a16:creationId xmlns:a16="http://schemas.microsoft.com/office/drawing/2014/main" id="{5236B0B5-7FC5-B259-FCCA-E5D8973ADD44}"/>
              </a:ext>
            </a:extLst>
          </p:cNvPr>
          <p:cNvSpPr txBox="1"/>
          <p:nvPr/>
        </p:nvSpPr>
        <p:spPr>
          <a:xfrm>
            <a:off x="17380" y="2165802"/>
            <a:ext cx="15866517" cy="3450175"/>
          </a:xfrm>
          <a:prstGeom prst="rect">
            <a:avLst/>
          </a:prstGeom>
          <a:noFill/>
        </p:spPr>
        <p:txBody>
          <a:bodyPr wrap="square">
            <a:spAutoFit/>
          </a:bodyPr>
          <a:lstStyle/>
          <a:p>
            <a:pPr>
              <a:lnSpc>
                <a:spcPct val="150000"/>
              </a:lnSpc>
            </a:pPr>
            <a:r>
              <a:rPr lang="en-US" sz="3733" b="1" dirty="0">
                <a:latin typeface="Calibir"/>
              </a:rPr>
              <a:t>Step 2: Install VS Code</a:t>
            </a:r>
          </a:p>
          <a:p>
            <a:pPr marL="685783" indent="-685783">
              <a:lnSpc>
                <a:spcPct val="150000"/>
              </a:lnSpc>
              <a:buFont typeface="+mj-lt"/>
              <a:buAutoNum type="arabicPeriod"/>
            </a:pPr>
            <a:r>
              <a:rPr lang="en-US" sz="3733" dirty="0">
                <a:latin typeface="Calibir"/>
              </a:rPr>
              <a:t>Download VS Code: </a:t>
            </a:r>
            <a:r>
              <a:rPr lang="en-US" sz="3733" dirty="0">
                <a:latin typeface="Calibir"/>
                <a:hlinkClick r:id="rId2"/>
              </a:rPr>
              <a:t>https://code.visualstudio.com/</a:t>
            </a:r>
            <a:r>
              <a:rPr lang="en-US" sz="3733" dirty="0">
                <a:latin typeface="Calibir"/>
              </a:rPr>
              <a:t> </a:t>
            </a:r>
          </a:p>
          <a:p>
            <a:pPr marL="685783" indent="-685783">
              <a:lnSpc>
                <a:spcPct val="150000"/>
              </a:lnSpc>
              <a:buFont typeface="+mj-lt"/>
              <a:buAutoNum type="arabicPeriod"/>
            </a:pPr>
            <a:r>
              <a:rPr lang="en-US" sz="3733" dirty="0">
                <a:latin typeface="Calibir"/>
              </a:rPr>
              <a:t>Install it like any other application.</a:t>
            </a:r>
          </a:p>
          <a:p>
            <a:pPr marL="685783" indent="-685783">
              <a:lnSpc>
                <a:spcPct val="150000"/>
              </a:lnSpc>
              <a:buFont typeface="+mj-lt"/>
              <a:buAutoNum type="arabicPeriod"/>
            </a:pPr>
            <a:r>
              <a:rPr lang="en-US" sz="3733" dirty="0">
                <a:latin typeface="Calibir"/>
              </a:rPr>
              <a:t>Open VS Code.</a:t>
            </a:r>
          </a:p>
        </p:txBody>
      </p:sp>
      <p:pic>
        <p:nvPicPr>
          <p:cNvPr id="5" name="Picture 4">
            <a:extLst>
              <a:ext uri="{FF2B5EF4-FFF2-40B4-BE49-F238E27FC236}">
                <a16:creationId xmlns:a16="http://schemas.microsoft.com/office/drawing/2014/main" id="{27D031E6-E53F-B53C-F9FF-FE017469173C}"/>
              </a:ext>
            </a:extLst>
          </p:cNvPr>
          <p:cNvPicPr>
            <a:picLocks noChangeAspect="1"/>
          </p:cNvPicPr>
          <p:nvPr/>
        </p:nvPicPr>
        <p:blipFill>
          <a:blip r:embed="rId3"/>
          <a:srcRect b="5287"/>
          <a:stretch>
            <a:fillRect/>
          </a:stretch>
        </p:blipFill>
        <p:spPr>
          <a:xfrm>
            <a:off x="4908193" y="4794188"/>
            <a:ext cx="7306524" cy="3892613"/>
          </a:xfrm>
          <a:prstGeom prst="rect">
            <a:avLst/>
          </a:prstGeom>
        </p:spPr>
      </p:pic>
      <p:sp>
        <p:nvSpPr>
          <p:cNvPr id="8" name="object 2">
            <a:extLst>
              <a:ext uri="{FF2B5EF4-FFF2-40B4-BE49-F238E27FC236}">
                <a16:creationId xmlns:a16="http://schemas.microsoft.com/office/drawing/2014/main" id="{0494DC90-2D95-AB3C-D884-5A337C88069C}"/>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250043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3C5C-2173-CAB9-5DD5-EFE83F12E8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C984BD-04FF-99A8-C3A9-23B202343172}"/>
              </a:ext>
            </a:extLst>
          </p:cNvPr>
          <p:cNvSpPr txBox="1"/>
          <p:nvPr/>
        </p:nvSpPr>
        <p:spPr>
          <a:xfrm>
            <a:off x="-31668" y="1371600"/>
            <a:ext cx="12189488" cy="7485447"/>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3600" b="1" dirty="0">
                <a:latin typeface="Calibir"/>
              </a:rPr>
              <a:t>Search and Install:</a:t>
            </a:r>
          </a:p>
          <a:p>
            <a:pPr marL="685783" indent="-685783" eaLnBrk="0" fontAlgn="base" hangingPunct="0">
              <a:lnSpc>
                <a:spcPct val="150000"/>
              </a:lnSpc>
              <a:spcBef>
                <a:spcPct val="0"/>
              </a:spcBef>
              <a:spcAft>
                <a:spcPct val="0"/>
              </a:spcAft>
              <a:buFont typeface="+mj-lt"/>
              <a:buAutoNum type="arabicPeriod"/>
            </a:pPr>
            <a:r>
              <a:rPr lang="en-US" altLang="en-US" sz="3600" b="1" dirty="0">
                <a:latin typeface="Calibir"/>
              </a:rPr>
              <a:t>Search</a:t>
            </a:r>
            <a:r>
              <a:rPr lang="en-US" altLang="en-US" sz="3600" dirty="0">
                <a:latin typeface="Calibir"/>
              </a:rPr>
              <a:t>: Python</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600" dirty="0">
                <a:latin typeface="Calibir"/>
              </a:rPr>
              <a:t>Install the </a:t>
            </a:r>
            <a:r>
              <a:rPr lang="en-US" altLang="en-US" sz="3600" b="1" dirty="0">
                <a:latin typeface="Calibir"/>
              </a:rPr>
              <a:t>Python extension</a:t>
            </a:r>
            <a:r>
              <a:rPr lang="en-US" altLang="en-US" sz="3600" dirty="0">
                <a:latin typeface="Calibir"/>
              </a:rPr>
              <a:t> by </a:t>
            </a:r>
            <a:r>
              <a:rPr lang="en-US" altLang="en-US" sz="3600" b="1" dirty="0">
                <a:latin typeface="Calibir"/>
              </a:rPr>
              <a:t>Microsoft</a:t>
            </a:r>
            <a:r>
              <a:rPr lang="en-US" altLang="en-US" sz="3600" dirty="0">
                <a:latin typeface="Calibir"/>
              </a:rPr>
              <a:t> (most important!).</a:t>
            </a:r>
          </a:p>
          <a:p>
            <a:pPr marL="685783" indent="-685783" eaLnBrk="0" fontAlgn="base" hangingPunct="0">
              <a:lnSpc>
                <a:spcPct val="150000"/>
              </a:lnSpc>
              <a:spcBef>
                <a:spcPct val="0"/>
              </a:spcBef>
              <a:spcAft>
                <a:spcPct val="0"/>
              </a:spcAft>
              <a:buFont typeface="+mj-lt"/>
              <a:buAutoNum type="arabicPeriod"/>
            </a:pPr>
            <a:r>
              <a:rPr lang="en-US" altLang="en-US" sz="3600" dirty="0">
                <a:latin typeface="Calibir"/>
              </a:rPr>
              <a:t>(Optional but helpful) Install:</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600" b="1" dirty="0" err="1">
                <a:latin typeface="Calibir"/>
              </a:rPr>
              <a:t>Jupyter</a:t>
            </a:r>
            <a:r>
              <a:rPr lang="en-US" altLang="en-US" sz="3600" dirty="0">
                <a:latin typeface="Calibir"/>
              </a:rPr>
              <a:t> (for .</a:t>
            </a:r>
            <a:r>
              <a:rPr lang="en-US" altLang="en-US" sz="3600" dirty="0" err="1">
                <a:latin typeface="Calibir"/>
              </a:rPr>
              <a:t>ipynb</a:t>
            </a:r>
            <a:r>
              <a:rPr lang="en-US" altLang="en-US" sz="3600" dirty="0">
                <a:latin typeface="Calibir"/>
              </a:rPr>
              <a:t> interactive notebook support)</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600" b="1" dirty="0" err="1">
                <a:latin typeface="Calibir"/>
              </a:rPr>
              <a:t>Pylance</a:t>
            </a:r>
            <a:r>
              <a:rPr lang="en-US" altLang="en-US" sz="3600" dirty="0">
                <a:latin typeface="Calibir"/>
              </a:rPr>
              <a:t> (for IntelliSense)</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600" b="1" dirty="0">
                <a:latin typeface="Calibir"/>
              </a:rPr>
              <a:t>Code Runner</a:t>
            </a:r>
            <a:r>
              <a:rPr lang="en-US" altLang="en-US" sz="3600" dirty="0">
                <a:latin typeface="Calibir"/>
              </a:rPr>
              <a:t> (if students want simpler one-click run for .</a:t>
            </a:r>
            <a:r>
              <a:rPr lang="en-US" altLang="en-US" sz="3600" dirty="0" err="1">
                <a:latin typeface="Calibir"/>
              </a:rPr>
              <a:t>py</a:t>
            </a:r>
            <a:r>
              <a:rPr lang="en-US" altLang="en-US" sz="3600" dirty="0">
                <a:latin typeface="Calibir"/>
              </a:rPr>
              <a:t> files)</a:t>
            </a:r>
          </a:p>
        </p:txBody>
      </p:sp>
      <p:sp>
        <p:nvSpPr>
          <p:cNvPr id="5" name="object 2">
            <a:extLst>
              <a:ext uri="{FF2B5EF4-FFF2-40B4-BE49-F238E27FC236}">
                <a16:creationId xmlns:a16="http://schemas.microsoft.com/office/drawing/2014/main" id="{8A39BFB9-A4AD-93F5-01DF-9458C121D7D7}"/>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4035351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2D00C-398B-2D1C-2FD2-675B7A4306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73670F-68ED-43B5-2CF3-00DD22970894}"/>
              </a:ext>
            </a:extLst>
          </p:cNvPr>
          <p:cNvSpPr txBox="1"/>
          <p:nvPr/>
        </p:nvSpPr>
        <p:spPr>
          <a:xfrm>
            <a:off x="6139" y="1574801"/>
            <a:ext cx="12185861" cy="7485447"/>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3600" b="1" dirty="0">
                <a:latin typeface="Calibir"/>
              </a:rPr>
              <a:t>Step 4: Enable the Run Button (play) with Interactive Window</a:t>
            </a:r>
          </a:p>
          <a:p>
            <a:pPr marL="685783" indent="-685783" eaLnBrk="0" fontAlgn="base" hangingPunct="0">
              <a:lnSpc>
                <a:spcPct val="150000"/>
              </a:lnSpc>
              <a:spcBef>
                <a:spcPct val="0"/>
              </a:spcBef>
              <a:spcAft>
                <a:spcPct val="0"/>
              </a:spcAft>
              <a:buFont typeface="+mj-lt"/>
              <a:buAutoNum type="arabicPeriod"/>
            </a:pPr>
            <a:r>
              <a:rPr lang="en-US" altLang="en-US" sz="3600" b="1" dirty="0">
                <a:latin typeface="Calibir"/>
              </a:rPr>
              <a:t>Open a .</a:t>
            </a:r>
            <a:r>
              <a:rPr lang="en-US" altLang="en-US" sz="3600" b="1" dirty="0" err="1">
                <a:latin typeface="Calibir"/>
              </a:rPr>
              <a:t>py</a:t>
            </a:r>
            <a:r>
              <a:rPr lang="en-US" altLang="en-US" sz="3600" b="1" dirty="0">
                <a:latin typeface="Calibir"/>
              </a:rPr>
              <a:t> file</a:t>
            </a:r>
            <a:r>
              <a:rPr lang="en-US" altLang="en-US" sz="3600" dirty="0">
                <a:latin typeface="Calibir"/>
              </a:rPr>
              <a:t> or create a new file and save it as yourfile.py.</a:t>
            </a:r>
          </a:p>
          <a:p>
            <a:pPr marL="685783" indent="-685783" eaLnBrk="0" fontAlgn="base" hangingPunct="0">
              <a:lnSpc>
                <a:spcPct val="150000"/>
              </a:lnSpc>
              <a:spcBef>
                <a:spcPct val="0"/>
              </a:spcBef>
              <a:spcAft>
                <a:spcPct val="0"/>
              </a:spcAft>
              <a:buFont typeface="+mj-lt"/>
              <a:buAutoNum type="arabicPeriod"/>
            </a:pPr>
            <a:r>
              <a:rPr lang="en-US" altLang="en-US" sz="3600" dirty="0">
                <a:latin typeface="Calibir"/>
              </a:rPr>
              <a:t>After the Python extension is installed, VS Code will show a play </a:t>
            </a:r>
            <a:r>
              <a:rPr lang="en-US" altLang="en-US" sz="3600" b="1" dirty="0">
                <a:latin typeface="Calibir"/>
              </a:rPr>
              <a:t>Run button</a:t>
            </a:r>
            <a:r>
              <a:rPr lang="en-US" altLang="en-US" sz="3600" dirty="0">
                <a:latin typeface="Calibir"/>
              </a:rPr>
              <a:t> in the top right.</a:t>
            </a:r>
          </a:p>
          <a:p>
            <a:pPr marL="685783" indent="-685783" eaLnBrk="0" fontAlgn="base" hangingPunct="0">
              <a:lnSpc>
                <a:spcPct val="150000"/>
              </a:lnSpc>
              <a:spcBef>
                <a:spcPct val="0"/>
              </a:spcBef>
              <a:spcAft>
                <a:spcPct val="0"/>
              </a:spcAft>
              <a:buFont typeface="+mj-lt"/>
              <a:buAutoNum type="arabicPeriod"/>
            </a:pPr>
            <a:r>
              <a:rPr lang="en-US" altLang="en-US" sz="3600" dirty="0">
                <a:latin typeface="Calibir"/>
              </a:rPr>
              <a:t>Click the dropdown arrow next to the play and choose:</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600" b="1" dirty="0">
                <a:latin typeface="Calibir"/>
              </a:rPr>
              <a:t>"Run Current File in Interactive Window"</a:t>
            </a:r>
            <a:r>
              <a:rPr lang="en-US" altLang="en-US" sz="3600" dirty="0">
                <a:latin typeface="Calibir"/>
              </a:rPr>
              <a:t>.</a:t>
            </a:r>
          </a:p>
          <a:p>
            <a:pPr lvl="0" eaLnBrk="0" fontAlgn="base" hangingPunct="0">
              <a:lnSpc>
                <a:spcPct val="150000"/>
              </a:lnSpc>
              <a:spcBef>
                <a:spcPct val="0"/>
              </a:spcBef>
              <a:spcAft>
                <a:spcPct val="0"/>
              </a:spcAft>
            </a:pPr>
            <a:r>
              <a:rPr lang="en-US" altLang="en-US" sz="3600" dirty="0">
                <a:latin typeface="Calibir"/>
              </a:rPr>
              <a:t>If you are using a .</a:t>
            </a:r>
            <a:r>
              <a:rPr lang="en-US" altLang="en-US" sz="3600" dirty="0" err="1">
                <a:latin typeface="Calibir"/>
              </a:rPr>
              <a:t>ipynb</a:t>
            </a:r>
            <a:r>
              <a:rPr lang="en-US" altLang="en-US" sz="3600" dirty="0">
                <a:latin typeface="Calibir"/>
              </a:rPr>
              <a:t> (</a:t>
            </a:r>
            <a:r>
              <a:rPr lang="en-US" altLang="en-US" sz="3600" dirty="0" err="1">
                <a:latin typeface="Calibir"/>
              </a:rPr>
              <a:t>Jupyter</a:t>
            </a:r>
            <a:r>
              <a:rPr lang="en-US" altLang="en-US" sz="3600" dirty="0">
                <a:latin typeface="Calibir"/>
              </a:rPr>
              <a:t> Notebook) file, it will automatically show “Run Cell” and work interactively once the </a:t>
            </a:r>
            <a:r>
              <a:rPr lang="en-US" altLang="en-US" sz="3600" dirty="0" err="1">
                <a:latin typeface="Calibir"/>
              </a:rPr>
              <a:t>Jupyter</a:t>
            </a:r>
            <a:r>
              <a:rPr lang="en-US" altLang="en-US" sz="3600" dirty="0">
                <a:latin typeface="Calibir"/>
              </a:rPr>
              <a:t> extension is installed.</a:t>
            </a:r>
          </a:p>
        </p:txBody>
      </p:sp>
      <p:sp>
        <p:nvSpPr>
          <p:cNvPr id="6" name="object 2">
            <a:extLst>
              <a:ext uri="{FF2B5EF4-FFF2-40B4-BE49-F238E27FC236}">
                <a16:creationId xmlns:a16="http://schemas.microsoft.com/office/drawing/2014/main" id="{825AC7D0-ADC2-EE12-FE33-7D9B9EC16DE6}"/>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2470624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348F-3CE7-B265-B014-0C6AAC02A0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EC4095-B8CB-9F31-F0A4-A8D2DABE82B5}"/>
              </a:ext>
            </a:extLst>
          </p:cNvPr>
          <p:cNvSpPr txBox="1"/>
          <p:nvPr/>
        </p:nvSpPr>
        <p:spPr>
          <a:xfrm>
            <a:off x="6139" y="2082800"/>
            <a:ext cx="12185861" cy="5173596"/>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3733" b="1" dirty="0">
                <a:latin typeface="Calibir"/>
              </a:rPr>
              <a:t>Step 5: Select Python Interpreter (If Not Detected)</a:t>
            </a:r>
          </a:p>
          <a:p>
            <a:pPr marL="685783" indent="-685783" eaLnBrk="0" fontAlgn="base" hangingPunct="0">
              <a:lnSpc>
                <a:spcPct val="150000"/>
              </a:lnSpc>
              <a:spcBef>
                <a:spcPct val="0"/>
              </a:spcBef>
              <a:spcAft>
                <a:spcPct val="0"/>
              </a:spcAft>
              <a:buFont typeface="+mj-lt"/>
              <a:buAutoNum type="arabicPeriod"/>
            </a:pPr>
            <a:r>
              <a:rPr lang="en-US" altLang="en-US" sz="3733" dirty="0">
                <a:latin typeface="Calibir"/>
              </a:rPr>
              <a:t>Press </a:t>
            </a:r>
            <a:r>
              <a:rPr lang="en-US" altLang="en-US" sz="3733" dirty="0" err="1">
                <a:latin typeface="Calibir"/>
              </a:rPr>
              <a:t>Ctrl+Shift+P</a:t>
            </a:r>
            <a:r>
              <a:rPr lang="en-US" altLang="en-US" sz="3733" dirty="0">
                <a:latin typeface="Calibir"/>
              </a:rPr>
              <a:t> (or </a:t>
            </a:r>
            <a:r>
              <a:rPr lang="en-US" altLang="en-US" sz="3733" dirty="0" err="1">
                <a:latin typeface="Calibir"/>
              </a:rPr>
              <a:t>Cmd+Shift+P</a:t>
            </a:r>
            <a:r>
              <a:rPr lang="en-US" altLang="en-US" sz="3733" dirty="0">
                <a:latin typeface="Calibir"/>
              </a:rPr>
              <a:t> on Mac) to open the command palette.</a:t>
            </a:r>
          </a:p>
          <a:p>
            <a:pPr marL="685783" indent="-685783" eaLnBrk="0" fontAlgn="base" hangingPunct="0">
              <a:lnSpc>
                <a:spcPct val="150000"/>
              </a:lnSpc>
              <a:spcBef>
                <a:spcPct val="0"/>
              </a:spcBef>
              <a:spcAft>
                <a:spcPct val="0"/>
              </a:spcAft>
              <a:buFont typeface="+mj-lt"/>
              <a:buAutoNum type="arabicPeriod"/>
            </a:pPr>
            <a:r>
              <a:rPr lang="en-US" altLang="en-US" sz="3733" dirty="0">
                <a:latin typeface="Calibir"/>
              </a:rPr>
              <a:t>Type: </a:t>
            </a:r>
            <a:r>
              <a:rPr lang="en-US" altLang="en-US" sz="3733" b="1" dirty="0">
                <a:latin typeface="Calibir"/>
              </a:rPr>
              <a:t>Python: Select Interpreter</a:t>
            </a:r>
            <a:endParaRPr lang="en-US" altLang="en-US" sz="3733" dirty="0">
              <a:latin typeface="Calibir"/>
            </a:endParaRPr>
          </a:p>
          <a:p>
            <a:pPr marL="685783" indent="-685783" eaLnBrk="0" fontAlgn="base" hangingPunct="0">
              <a:lnSpc>
                <a:spcPct val="150000"/>
              </a:lnSpc>
              <a:spcBef>
                <a:spcPct val="0"/>
              </a:spcBef>
              <a:spcAft>
                <a:spcPct val="0"/>
              </a:spcAft>
              <a:buFont typeface="+mj-lt"/>
              <a:buAutoNum type="arabicPeriod"/>
            </a:pPr>
            <a:r>
              <a:rPr lang="en-US" altLang="en-US" sz="3733" dirty="0">
                <a:latin typeface="Calibir"/>
              </a:rPr>
              <a:t>Choose the one that shows your installed Python path (e.g., Python 3.x with correct version).</a:t>
            </a:r>
          </a:p>
        </p:txBody>
      </p:sp>
      <p:sp>
        <p:nvSpPr>
          <p:cNvPr id="6" name="object 2">
            <a:extLst>
              <a:ext uri="{FF2B5EF4-FFF2-40B4-BE49-F238E27FC236}">
                <a16:creationId xmlns:a16="http://schemas.microsoft.com/office/drawing/2014/main" id="{CEC4649F-AA98-8ADF-2C4E-AF9C37F9FAE0}"/>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3770621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C10D-1B81-5907-D155-C43301A636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41E8DF-1786-AD3C-D627-3B85BAC7FE55}"/>
              </a:ext>
            </a:extLst>
          </p:cNvPr>
          <p:cNvSpPr txBox="1"/>
          <p:nvPr/>
        </p:nvSpPr>
        <p:spPr>
          <a:xfrm>
            <a:off x="6139" y="1438167"/>
            <a:ext cx="12185861" cy="7706662"/>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3333" b="1" dirty="0">
                <a:latin typeface="Calibir"/>
              </a:rPr>
              <a:t>Troubleshooting Common Issues</a:t>
            </a:r>
          </a:p>
          <a:p>
            <a:pPr lvl="0" eaLnBrk="0" fontAlgn="base" hangingPunct="0">
              <a:lnSpc>
                <a:spcPct val="150000"/>
              </a:lnSpc>
              <a:spcBef>
                <a:spcPct val="0"/>
              </a:spcBef>
              <a:spcAft>
                <a:spcPct val="0"/>
              </a:spcAft>
            </a:pPr>
            <a:r>
              <a:rPr lang="en-US" altLang="en-US" sz="3333" b="1" dirty="0">
                <a:latin typeface="Calibir"/>
              </a:rPr>
              <a:t>Run Button Not Appearing?</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Make sure:</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Python extension is installed.</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File is saved with .</a:t>
            </a:r>
            <a:r>
              <a:rPr lang="en-US" altLang="en-US" sz="3333" dirty="0" err="1">
                <a:latin typeface="Calibir"/>
              </a:rPr>
              <a:t>py</a:t>
            </a:r>
            <a:r>
              <a:rPr lang="en-US" altLang="en-US" sz="3333" dirty="0">
                <a:latin typeface="Calibir"/>
              </a:rPr>
              <a:t> or .</a:t>
            </a:r>
            <a:r>
              <a:rPr lang="en-US" altLang="en-US" sz="3333" dirty="0" err="1">
                <a:latin typeface="Calibir"/>
              </a:rPr>
              <a:t>ipynb</a:t>
            </a:r>
            <a:r>
              <a:rPr lang="en-US" altLang="en-US" sz="3333" dirty="0">
                <a:latin typeface="Calibir"/>
              </a:rPr>
              <a:t> extension.</a:t>
            </a:r>
          </a:p>
          <a:p>
            <a:pPr marL="1219170" lvl="1"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Python interpreter is selected in bottom-left/status bar.</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b="1" dirty="0">
                <a:latin typeface="Calibir"/>
              </a:rPr>
              <a:t>Getting “Python not found”?</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On Windows, make sure Add to PATH was checked during installation.</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On macOS, use python3 instead of python.</a:t>
            </a:r>
          </a:p>
        </p:txBody>
      </p:sp>
      <p:sp>
        <p:nvSpPr>
          <p:cNvPr id="6" name="object 2">
            <a:extLst>
              <a:ext uri="{FF2B5EF4-FFF2-40B4-BE49-F238E27FC236}">
                <a16:creationId xmlns:a16="http://schemas.microsoft.com/office/drawing/2014/main" id="{06360F0B-A888-3B52-8D01-69F9CBB85165}"/>
              </a:ext>
            </a:extLst>
          </p:cNvPr>
          <p:cNvSpPr txBox="1">
            <a:spLocks noGrp="1"/>
          </p:cNvSpPr>
          <p:nvPr>
            <p:ph type="title"/>
          </p:nvPr>
        </p:nvSpPr>
        <p:spPr>
          <a:xfrm>
            <a:off x="2933700" y="-228600"/>
            <a:ext cx="9227820" cy="857328"/>
          </a:xfrm>
          <a:prstGeom prst="rect">
            <a:avLst/>
          </a:prstGeom>
        </p:spPr>
        <p:txBody>
          <a:bodyPr vert="horz" wrap="square" lIns="0" tIns="346117" rIns="0" bIns="0" rtlCol="0">
            <a:spAutoFit/>
          </a:bodyPr>
          <a:lstStyle/>
          <a:p>
            <a:pPr marL="165096">
              <a:spcBef>
                <a:spcPts val="133"/>
              </a:spcBef>
            </a:pPr>
            <a:r>
              <a:rPr lang="en-US" sz="3300" spc="-27" dirty="0"/>
              <a:t>Step-by-Step Installation Guide</a:t>
            </a:r>
            <a:endParaRPr sz="3300" spc="-27" dirty="0"/>
          </a:p>
        </p:txBody>
      </p:sp>
    </p:spTree>
    <p:extLst>
      <p:ext uri="{BB962C8B-B14F-4D97-AF65-F5344CB8AC3E}">
        <p14:creationId xmlns:p14="http://schemas.microsoft.com/office/powerpoint/2010/main" val="1753088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8BDD-4AA5-651F-5F37-B2280D34150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88046C-01F0-0E66-3341-F0C7F24978DF}"/>
              </a:ext>
            </a:extLst>
          </p:cNvPr>
          <p:cNvSpPr txBox="1">
            <a:spLocks noGrp="1"/>
          </p:cNvSpPr>
          <p:nvPr>
            <p:ph type="title"/>
          </p:nvPr>
        </p:nvSpPr>
        <p:spPr>
          <a:xfrm>
            <a:off x="0" y="645004"/>
            <a:ext cx="9227820" cy="1006152"/>
          </a:xfrm>
          <a:prstGeom prst="rect">
            <a:avLst/>
          </a:prstGeom>
        </p:spPr>
        <p:txBody>
          <a:bodyPr vert="horz" wrap="square" lIns="0" tIns="346117" rIns="0" bIns="0" rtlCol="0">
            <a:spAutoFit/>
          </a:bodyPr>
          <a:lstStyle/>
          <a:p>
            <a:pPr algn="l" defTabSz="1219170" rtl="0" eaLnBrk="0" fontAlgn="base" hangingPunct="0">
              <a:spcBef>
                <a:spcPct val="0"/>
              </a:spcBef>
              <a:spcAft>
                <a:spcPct val="0"/>
              </a:spcAft>
            </a:pPr>
            <a:r>
              <a:rPr lang="en-US" altLang="en-US" sz="4267" dirty="0">
                <a:solidFill>
                  <a:schemeClr val="tx1"/>
                </a:solidFill>
                <a:latin typeface="Calibir"/>
              </a:rPr>
              <a:t>Summary Checklist</a:t>
            </a:r>
          </a:p>
        </p:txBody>
      </p:sp>
      <p:sp>
        <p:nvSpPr>
          <p:cNvPr id="4" name="Rectangle 1">
            <a:extLst>
              <a:ext uri="{FF2B5EF4-FFF2-40B4-BE49-F238E27FC236}">
                <a16:creationId xmlns:a16="http://schemas.microsoft.com/office/drawing/2014/main" id="{DC9440EB-18EF-0D6E-F99B-008FA0934B69}"/>
              </a:ext>
            </a:extLst>
          </p:cNvPr>
          <p:cNvSpPr>
            <a:spLocks noChangeArrowheads="1"/>
          </p:cNvSpPr>
          <p:nvPr/>
        </p:nvSpPr>
        <p:spPr bwMode="auto">
          <a:xfrm>
            <a:off x="3944217" y="3081503"/>
            <a:ext cx="167942" cy="503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3127" tIns="41564" rIns="83127" bIns="41564" numCol="1" anchor="ctr" anchorCtr="0" compatLnSpc="1">
            <a:prstTxWarp prst="textNoShape">
              <a:avLst/>
            </a:prstTxWarp>
            <a:spAutoFit/>
          </a:bodyPr>
          <a:lstStyle/>
          <a:p>
            <a:pPr defTabSz="831230" eaLnBrk="0" fontAlgn="base" hangingPunct="0">
              <a:spcBef>
                <a:spcPct val="0"/>
              </a:spcBef>
              <a:spcAft>
                <a:spcPct val="0"/>
              </a:spcAft>
            </a:pPr>
            <a:endParaRPr lang="en-US" altLang="en-US" sz="1091" b="1">
              <a:latin typeface="+mj-lt"/>
            </a:endParaRPr>
          </a:p>
          <a:p>
            <a:pPr defTabSz="831230" eaLnBrk="0" fontAlgn="base" hangingPunct="0">
              <a:spcBef>
                <a:spcPct val="0"/>
              </a:spcBef>
              <a:spcAft>
                <a:spcPct val="0"/>
              </a:spcAft>
            </a:pPr>
            <a:endParaRPr lang="en-US" altLang="en-US" sz="1636">
              <a:latin typeface="+mj-lt"/>
            </a:endParaRPr>
          </a:p>
        </p:txBody>
      </p:sp>
      <p:graphicFrame>
        <p:nvGraphicFramePr>
          <p:cNvPr id="5" name="Table 4">
            <a:extLst>
              <a:ext uri="{FF2B5EF4-FFF2-40B4-BE49-F238E27FC236}">
                <a16:creationId xmlns:a16="http://schemas.microsoft.com/office/drawing/2014/main" id="{8E8C10BC-8B59-6E1D-14D4-34C867C96C19}"/>
              </a:ext>
            </a:extLst>
          </p:cNvPr>
          <p:cNvGraphicFramePr>
            <a:graphicFrameLocks noGrp="1"/>
          </p:cNvGraphicFramePr>
          <p:nvPr/>
        </p:nvGraphicFramePr>
        <p:xfrm>
          <a:off x="32216" y="2489200"/>
          <a:ext cx="12159786" cy="6421120"/>
        </p:xfrm>
        <a:graphic>
          <a:graphicData uri="http://schemas.openxmlformats.org/drawingml/2006/table">
            <a:tbl>
              <a:tblPr>
                <a:tableStyleId>{BDBED569-4797-4DF1-A0F4-6AAB3CD982D8}</a:tableStyleId>
              </a:tblPr>
              <a:tblGrid>
                <a:gridCol w="1444659">
                  <a:extLst>
                    <a:ext uri="{9D8B030D-6E8A-4147-A177-3AD203B41FA5}">
                      <a16:colId xmlns:a16="http://schemas.microsoft.com/office/drawing/2014/main" val="3690725267"/>
                    </a:ext>
                  </a:extLst>
                </a:gridCol>
                <a:gridCol w="4368800">
                  <a:extLst>
                    <a:ext uri="{9D8B030D-6E8A-4147-A177-3AD203B41FA5}">
                      <a16:colId xmlns:a16="http://schemas.microsoft.com/office/drawing/2014/main" val="889038560"/>
                    </a:ext>
                  </a:extLst>
                </a:gridCol>
                <a:gridCol w="3399927">
                  <a:extLst>
                    <a:ext uri="{9D8B030D-6E8A-4147-A177-3AD203B41FA5}">
                      <a16:colId xmlns:a16="http://schemas.microsoft.com/office/drawing/2014/main" val="1603276272"/>
                    </a:ext>
                  </a:extLst>
                </a:gridCol>
                <a:gridCol w="2946400">
                  <a:extLst>
                    <a:ext uri="{9D8B030D-6E8A-4147-A177-3AD203B41FA5}">
                      <a16:colId xmlns:a16="http://schemas.microsoft.com/office/drawing/2014/main" val="4139749435"/>
                    </a:ext>
                  </a:extLst>
                </a:gridCol>
              </a:tblGrid>
              <a:tr h="690880">
                <a:tc>
                  <a:txBody>
                    <a:bodyPr/>
                    <a:lstStyle/>
                    <a:p>
                      <a:pPr>
                        <a:buNone/>
                      </a:pPr>
                      <a:r>
                        <a:rPr lang="en-US" sz="3700" dirty="0">
                          <a:latin typeface="Calibir"/>
                        </a:rPr>
                        <a:t>Step</a:t>
                      </a:r>
                    </a:p>
                  </a:txBody>
                  <a:tcPr marL="121920" marR="121920" marT="60960" marB="60960" anchor="ctr"/>
                </a:tc>
                <a:tc>
                  <a:txBody>
                    <a:bodyPr/>
                    <a:lstStyle/>
                    <a:p>
                      <a:pPr>
                        <a:buNone/>
                      </a:pPr>
                      <a:r>
                        <a:rPr lang="en-US" sz="3700">
                          <a:latin typeface="Calibir"/>
                        </a:rPr>
                        <a:t>Task</a:t>
                      </a:r>
                    </a:p>
                  </a:txBody>
                  <a:tcPr marL="121920" marR="121920" marT="60960" marB="60960" anchor="ctr"/>
                </a:tc>
                <a:tc>
                  <a:txBody>
                    <a:bodyPr/>
                    <a:lstStyle/>
                    <a:p>
                      <a:pPr>
                        <a:buNone/>
                      </a:pPr>
                      <a:r>
                        <a:rPr lang="en-US" sz="3700">
                          <a:latin typeface="Calibir"/>
                        </a:rPr>
                        <a:t>Windows</a:t>
                      </a:r>
                    </a:p>
                  </a:txBody>
                  <a:tcPr marL="121920" marR="121920" marT="60960" marB="60960" anchor="ctr"/>
                </a:tc>
                <a:tc>
                  <a:txBody>
                    <a:bodyPr/>
                    <a:lstStyle/>
                    <a:p>
                      <a:pPr>
                        <a:buNone/>
                      </a:pPr>
                      <a:r>
                        <a:rPr lang="en-US" sz="3700">
                          <a:latin typeface="Calibir"/>
                        </a:rPr>
                        <a:t>Mac</a:t>
                      </a:r>
                    </a:p>
                  </a:txBody>
                  <a:tcPr marL="121920" marR="121920" marT="60960" marB="60960" anchor="ctr"/>
                </a:tc>
                <a:extLst>
                  <a:ext uri="{0D108BD9-81ED-4DB2-BD59-A6C34878D82A}">
                    <a16:rowId xmlns:a16="http://schemas.microsoft.com/office/drawing/2014/main" val="1180577908"/>
                  </a:ext>
                </a:extLst>
              </a:tr>
              <a:tr h="1259840">
                <a:tc>
                  <a:txBody>
                    <a:bodyPr/>
                    <a:lstStyle/>
                    <a:p>
                      <a:pPr>
                        <a:buNone/>
                      </a:pPr>
                      <a:r>
                        <a:rPr lang="en-US" sz="3700">
                          <a:latin typeface="Calibir"/>
                        </a:rPr>
                        <a:t>1</a:t>
                      </a:r>
                    </a:p>
                  </a:txBody>
                  <a:tcPr marL="121920" marR="121920" marT="60960" marB="60960" anchor="ctr"/>
                </a:tc>
                <a:tc>
                  <a:txBody>
                    <a:bodyPr/>
                    <a:lstStyle/>
                    <a:p>
                      <a:pPr>
                        <a:buNone/>
                      </a:pPr>
                      <a:r>
                        <a:rPr lang="en-US" sz="3700" dirty="0">
                          <a:latin typeface="Calibir"/>
                        </a:rPr>
                        <a:t>Install Python</a:t>
                      </a:r>
                    </a:p>
                  </a:txBody>
                  <a:tcPr marL="121920" marR="121920" marT="60960" marB="60960" anchor="ctr"/>
                </a:tc>
                <a:tc>
                  <a:txBody>
                    <a:bodyPr/>
                    <a:lstStyle/>
                    <a:p>
                      <a:pPr>
                        <a:buNone/>
                      </a:pPr>
                      <a:r>
                        <a:rPr lang="en-US" sz="3700" dirty="0">
                          <a:latin typeface="Calibir"/>
                        </a:rPr>
                        <a:t>[ Add to PATH]</a:t>
                      </a:r>
                    </a:p>
                  </a:txBody>
                  <a:tcPr marL="121920" marR="121920" marT="60960" marB="60960" anchor="ctr"/>
                </a:tc>
                <a:tc>
                  <a:txBody>
                    <a:bodyPr/>
                    <a:lstStyle/>
                    <a:p>
                      <a:pPr>
                        <a:buNone/>
                      </a:pPr>
                      <a:r>
                        <a:rPr lang="en-US" sz="3700" dirty="0">
                          <a:latin typeface="Calibir"/>
                        </a:rPr>
                        <a:t>[Use python3]</a:t>
                      </a:r>
                    </a:p>
                  </a:txBody>
                  <a:tcPr marL="121920" marR="121920" marT="60960" marB="60960" anchor="ctr"/>
                </a:tc>
                <a:extLst>
                  <a:ext uri="{0D108BD9-81ED-4DB2-BD59-A6C34878D82A}">
                    <a16:rowId xmlns:a16="http://schemas.microsoft.com/office/drawing/2014/main" val="544114699"/>
                  </a:ext>
                </a:extLst>
              </a:tr>
              <a:tr h="690880">
                <a:tc>
                  <a:txBody>
                    <a:bodyPr/>
                    <a:lstStyle/>
                    <a:p>
                      <a:pPr>
                        <a:buNone/>
                      </a:pPr>
                      <a:r>
                        <a:rPr lang="en-US" sz="3700" dirty="0">
                          <a:latin typeface="Calibir"/>
                        </a:rPr>
                        <a:t>2</a:t>
                      </a:r>
                    </a:p>
                  </a:txBody>
                  <a:tcPr marL="121920" marR="121920" marT="60960" marB="60960" anchor="ctr"/>
                </a:tc>
                <a:tc>
                  <a:txBody>
                    <a:bodyPr/>
                    <a:lstStyle/>
                    <a:p>
                      <a:pPr>
                        <a:buNone/>
                      </a:pPr>
                      <a:r>
                        <a:rPr lang="en-US" sz="3700">
                          <a:latin typeface="Calibir"/>
                        </a:rPr>
                        <a:t>Install VS Code</a:t>
                      </a:r>
                    </a:p>
                  </a:txBody>
                  <a:tcPr marL="121920" marR="121920" marT="60960" marB="60960" anchor="ctr"/>
                </a:tc>
                <a:tc>
                  <a:txBody>
                    <a:bodyPr/>
                    <a:lstStyle/>
                    <a:p>
                      <a:pPr marL="342900" indent="-342900">
                        <a:buFont typeface="Wingdings" panose="05000000000000000000" pitchFamily="2" charset="2"/>
                        <a:buChar char="ü"/>
                      </a:pPr>
                      <a:r>
                        <a:rPr lang="en-US" sz="3700" dirty="0">
                          <a:latin typeface="Calibir"/>
                        </a:rPr>
                        <a:t> </a:t>
                      </a:r>
                    </a:p>
                  </a:txBody>
                  <a:tcPr marL="121920" marR="121920" marT="60960" marB="60960" anchor="ctr"/>
                </a:tc>
                <a:tc>
                  <a:txBody>
                    <a:bodyPr/>
                    <a:lstStyle/>
                    <a:p>
                      <a:pPr marL="342900" indent="-342900">
                        <a:buFont typeface="Wingdings" panose="05000000000000000000" pitchFamily="2" charset="2"/>
                        <a:buChar char="ü"/>
                      </a:pPr>
                      <a:r>
                        <a:rPr lang="en-US" sz="3700" dirty="0">
                          <a:latin typeface="Calibir"/>
                        </a:rPr>
                        <a:t> </a:t>
                      </a:r>
                    </a:p>
                  </a:txBody>
                  <a:tcPr marL="121920" marR="121920" marT="60960" marB="60960" anchor="ctr"/>
                </a:tc>
                <a:extLst>
                  <a:ext uri="{0D108BD9-81ED-4DB2-BD59-A6C34878D82A}">
                    <a16:rowId xmlns:a16="http://schemas.microsoft.com/office/drawing/2014/main" val="1961026254"/>
                  </a:ext>
                </a:extLst>
              </a:tr>
              <a:tr h="690880">
                <a:tc>
                  <a:txBody>
                    <a:bodyPr/>
                    <a:lstStyle/>
                    <a:p>
                      <a:pPr>
                        <a:buNone/>
                      </a:pPr>
                      <a:r>
                        <a:rPr lang="en-US" sz="3700">
                          <a:latin typeface="Calibir"/>
                        </a:rPr>
                        <a:t>3</a:t>
                      </a:r>
                    </a:p>
                  </a:txBody>
                  <a:tcPr marL="121920" marR="121920" marT="60960" marB="60960" anchor="ctr"/>
                </a:tc>
                <a:tc>
                  <a:txBody>
                    <a:bodyPr/>
                    <a:lstStyle/>
                    <a:p>
                      <a:pPr>
                        <a:buNone/>
                      </a:pPr>
                      <a:r>
                        <a:rPr lang="en-US" sz="3700">
                          <a:latin typeface="Calibir"/>
                        </a:rPr>
                        <a:t>Install Extensions</a:t>
                      </a:r>
                    </a:p>
                  </a:txBody>
                  <a:tcPr marL="121920" marR="121920" marT="60960" marB="60960" anchor="ctr"/>
                </a:tc>
                <a:tc>
                  <a:txBody>
                    <a:bodyPr/>
                    <a:lstStyle/>
                    <a:p>
                      <a:pPr>
                        <a:buNone/>
                      </a:pPr>
                      <a:r>
                        <a:rPr lang="en-US" sz="3700">
                          <a:latin typeface="Calibir"/>
                        </a:rPr>
                        <a:t>Python, Jupyter</a:t>
                      </a:r>
                    </a:p>
                  </a:txBody>
                  <a:tcPr marL="121920" marR="121920" marT="60960" marB="60960" anchor="ctr"/>
                </a:tc>
                <a:tc>
                  <a:txBody>
                    <a:bodyPr/>
                    <a:lstStyle/>
                    <a:p>
                      <a:pPr>
                        <a:buNone/>
                      </a:pPr>
                      <a:r>
                        <a:rPr lang="en-US" sz="3700">
                          <a:latin typeface="Calibir"/>
                        </a:rPr>
                        <a:t>Same</a:t>
                      </a:r>
                    </a:p>
                  </a:txBody>
                  <a:tcPr marL="121920" marR="121920" marT="60960" marB="60960" anchor="ctr"/>
                </a:tc>
                <a:extLst>
                  <a:ext uri="{0D108BD9-81ED-4DB2-BD59-A6C34878D82A}">
                    <a16:rowId xmlns:a16="http://schemas.microsoft.com/office/drawing/2014/main" val="3356483608"/>
                  </a:ext>
                </a:extLst>
              </a:tr>
              <a:tr h="1259840">
                <a:tc>
                  <a:txBody>
                    <a:bodyPr/>
                    <a:lstStyle/>
                    <a:p>
                      <a:pPr>
                        <a:buNone/>
                      </a:pPr>
                      <a:r>
                        <a:rPr lang="en-US" sz="3700">
                          <a:latin typeface="Calibir"/>
                        </a:rPr>
                        <a:t>4</a:t>
                      </a:r>
                    </a:p>
                  </a:txBody>
                  <a:tcPr marL="121920" marR="121920" marT="60960" marB="60960" anchor="ctr"/>
                </a:tc>
                <a:tc>
                  <a:txBody>
                    <a:bodyPr/>
                    <a:lstStyle/>
                    <a:p>
                      <a:pPr>
                        <a:buNone/>
                      </a:pPr>
                      <a:r>
                        <a:rPr lang="en-US" sz="3700">
                          <a:latin typeface="Calibir"/>
                        </a:rPr>
                        <a:t>Configure Interpreter</a:t>
                      </a:r>
                    </a:p>
                  </a:txBody>
                  <a:tcPr marL="121920" marR="121920" marT="60960" marB="60960" anchor="ctr"/>
                </a:tc>
                <a:tc>
                  <a:txBody>
                    <a:bodyPr/>
                    <a:lstStyle/>
                    <a:p>
                      <a:pPr>
                        <a:buNone/>
                      </a:pPr>
                      <a:r>
                        <a:rPr lang="en-US" sz="3700">
                          <a:latin typeface="Calibir"/>
                        </a:rPr>
                        <a:t>Ctrl+Shift+P → Select Python</a:t>
                      </a:r>
                    </a:p>
                  </a:txBody>
                  <a:tcPr marL="121920" marR="121920" marT="60960" marB="60960" anchor="ctr"/>
                </a:tc>
                <a:tc>
                  <a:txBody>
                    <a:bodyPr/>
                    <a:lstStyle/>
                    <a:p>
                      <a:pPr>
                        <a:buNone/>
                      </a:pPr>
                      <a:r>
                        <a:rPr lang="en-US" sz="3700">
                          <a:latin typeface="Calibir"/>
                        </a:rPr>
                        <a:t>Same</a:t>
                      </a:r>
                    </a:p>
                  </a:txBody>
                  <a:tcPr marL="121920" marR="121920" marT="60960" marB="60960" anchor="ctr"/>
                </a:tc>
                <a:extLst>
                  <a:ext uri="{0D108BD9-81ED-4DB2-BD59-A6C34878D82A}">
                    <a16:rowId xmlns:a16="http://schemas.microsoft.com/office/drawing/2014/main" val="3623402797"/>
                  </a:ext>
                </a:extLst>
              </a:tr>
              <a:tr h="1828800">
                <a:tc>
                  <a:txBody>
                    <a:bodyPr/>
                    <a:lstStyle/>
                    <a:p>
                      <a:pPr>
                        <a:buNone/>
                      </a:pPr>
                      <a:r>
                        <a:rPr lang="en-US" sz="3700">
                          <a:latin typeface="Calibir"/>
                        </a:rPr>
                        <a:t>5</a:t>
                      </a:r>
                    </a:p>
                  </a:txBody>
                  <a:tcPr marL="121920" marR="121920" marT="60960" marB="60960" anchor="ctr"/>
                </a:tc>
                <a:tc>
                  <a:txBody>
                    <a:bodyPr/>
                    <a:lstStyle/>
                    <a:p>
                      <a:pPr>
                        <a:buNone/>
                      </a:pPr>
                      <a:r>
                        <a:rPr lang="en-US" sz="3700">
                          <a:latin typeface="Calibir"/>
                        </a:rPr>
                        <a:t>Run Code</a:t>
                      </a:r>
                    </a:p>
                  </a:txBody>
                  <a:tcPr marL="121920" marR="121920" marT="60960" marB="60960" anchor="ctr"/>
                </a:tc>
                <a:tc>
                  <a:txBody>
                    <a:bodyPr/>
                    <a:lstStyle/>
                    <a:p>
                      <a:pPr>
                        <a:buNone/>
                      </a:pPr>
                      <a:r>
                        <a:rPr lang="en-US" sz="3700" dirty="0">
                          <a:latin typeface="Calibir"/>
                        </a:rPr>
                        <a:t>Play → Interactive Window</a:t>
                      </a:r>
                    </a:p>
                  </a:txBody>
                  <a:tcPr marL="121920" marR="121920" marT="60960" marB="60960" anchor="ctr"/>
                </a:tc>
                <a:tc>
                  <a:txBody>
                    <a:bodyPr/>
                    <a:lstStyle/>
                    <a:p>
                      <a:pPr>
                        <a:buNone/>
                      </a:pPr>
                      <a:r>
                        <a:rPr lang="en-US" sz="3700" dirty="0">
                          <a:latin typeface="Calibir"/>
                        </a:rPr>
                        <a:t>Play works the same</a:t>
                      </a:r>
                    </a:p>
                  </a:txBody>
                  <a:tcPr marL="121920" marR="121920" marT="60960" marB="60960" anchor="ctr"/>
                </a:tc>
                <a:extLst>
                  <a:ext uri="{0D108BD9-81ED-4DB2-BD59-A6C34878D82A}">
                    <a16:rowId xmlns:a16="http://schemas.microsoft.com/office/drawing/2014/main" val="1219613985"/>
                  </a:ext>
                </a:extLst>
              </a:tr>
            </a:tbl>
          </a:graphicData>
        </a:graphic>
      </p:graphicFrame>
    </p:spTree>
    <p:extLst>
      <p:ext uri="{BB962C8B-B14F-4D97-AF65-F5344CB8AC3E}">
        <p14:creationId xmlns:p14="http://schemas.microsoft.com/office/powerpoint/2010/main" val="2986416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BA3FB-B4C4-5B5F-B58E-24544E0EB5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46D4AF0-674E-C1A5-8D30-983367FB5837}"/>
              </a:ext>
            </a:extLst>
          </p:cNvPr>
          <p:cNvSpPr txBox="1">
            <a:spLocks noGrp="1"/>
          </p:cNvSpPr>
          <p:nvPr>
            <p:ph type="title"/>
          </p:nvPr>
        </p:nvSpPr>
        <p:spPr>
          <a:xfrm>
            <a:off x="-30480" y="592928"/>
            <a:ext cx="9227820" cy="1006152"/>
          </a:xfrm>
          <a:prstGeom prst="rect">
            <a:avLst/>
          </a:prstGeom>
        </p:spPr>
        <p:txBody>
          <a:bodyPr vert="horz" wrap="square" lIns="0" tIns="346117" rIns="0" bIns="0" rtlCol="0">
            <a:spAutoFit/>
          </a:bodyPr>
          <a:lstStyle/>
          <a:p>
            <a:pPr algn="l" defTabSz="1219170" rtl="0" eaLnBrk="0" fontAlgn="base" hangingPunct="0">
              <a:spcBef>
                <a:spcPct val="0"/>
              </a:spcBef>
              <a:spcAft>
                <a:spcPct val="0"/>
              </a:spcAft>
            </a:pPr>
            <a:r>
              <a:rPr lang="en-US" altLang="en-US" sz="4267" dirty="0">
                <a:solidFill>
                  <a:schemeClr val="tx1"/>
                </a:solidFill>
                <a:latin typeface="Calibir"/>
              </a:rPr>
              <a:t>Handle Error</a:t>
            </a:r>
          </a:p>
        </p:txBody>
      </p:sp>
      <p:sp>
        <p:nvSpPr>
          <p:cNvPr id="4" name="Rectangle 1">
            <a:extLst>
              <a:ext uri="{FF2B5EF4-FFF2-40B4-BE49-F238E27FC236}">
                <a16:creationId xmlns:a16="http://schemas.microsoft.com/office/drawing/2014/main" id="{52233BED-9799-F33A-A125-6FBF03F20250}"/>
              </a:ext>
            </a:extLst>
          </p:cNvPr>
          <p:cNvSpPr>
            <a:spLocks noChangeArrowheads="1"/>
          </p:cNvSpPr>
          <p:nvPr/>
        </p:nvSpPr>
        <p:spPr bwMode="auto">
          <a:xfrm>
            <a:off x="3944217" y="3081503"/>
            <a:ext cx="167942" cy="503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3127" tIns="41564" rIns="83127" bIns="41564" numCol="1" anchor="ctr" anchorCtr="0" compatLnSpc="1">
            <a:prstTxWarp prst="textNoShape">
              <a:avLst/>
            </a:prstTxWarp>
            <a:spAutoFit/>
          </a:bodyPr>
          <a:lstStyle/>
          <a:p>
            <a:pPr defTabSz="831230" eaLnBrk="0" fontAlgn="base" hangingPunct="0">
              <a:spcBef>
                <a:spcPct val="0"/>
              </a:spcBef>
              <a:spcAft>
                <a:spcPct val="0"/>
              </a:spcAft>
            </a:pPr>
            <a:endParaRPr lang="en-US" altLang="en-US" sz="1091" b="1">
              <a:latin typeface="+mj-lt"/>
            </a:endParaRPr>
          </a:p>
          <a:p>
            <a:pPr defTabSz="831230" eaLnBrk="0" fontAlgn="base" hangingPunct="0">
              <a:spcBef>
                <a:spcPct val="0"/>
              </a:spcBef>
              <a:spcAft>
                <a:spcPct val="0"/>
              </a:spcAft>
            </a:pPr>
            <a:endParaRPr lang="en-US" altLang="en-US" sz="1636">
              <a:latin typeface="+mj-lt"/>
            </a:endParaRPr>
          </a:p>
        </p:txBody>
      </p:sp>
      <p:sp>
        <p:nvSpPr>
          <p:cNvPr id="3" name="Rectangle 1">
            <a:extLst>
              <a:ext uri="{FF2B5EF4-FFF2-40B4-BE49-F238E27FC236}">
                <a16:creationId xmlns:a16="http://schemas.microsoft.com/office/drawing/2014/main" id="{30F1E0CF-A446-74BF-A20B-EE73C258FDF0}"/>
              </a:ext>
            </a:extLst>
          </p:cNvPr>
          <p:cNvSpPr>
            <a:spLocks noChangeArrowheads="1"/>
          </p:cNvSpPr>
          <p:nvPr/>
        </p:nvSpPr>
        <p:spPr bwMode="auto">
          <a:xfrm>
            <a:off x="0" y="1614320"/>
            <a:ext cx="12192000" cy="6198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3333" dirty="0">
                <a:latin typeface="Calibir"/>
              </a:rPr>
              <a:t>Sometimes, students may see an error like:</a:t>
            </a:r>
          </a:p>
          <a:p>
            <a:pPr lvl="0" eaLnBrk="0" fontAlgn="base" hangingPunct="0">
              <a:lnSpc>
                <a:spcPct val="150000"/>
              </a:lnSpc>
              <a:spcBef>
                <a:spcPct val="0"/>
              </a:spcBef>
              <a:spcAft>
                <a:spcPct val="0"/>
              </a:spcAft>
            </a:pPr>
            <a:r>
              <a:rPr lang="en-US" altLang="en-US" sz="3333" dirty="0">
                <a:latin typeface="Calibir"/>
              </a:rPr>
              <a:t>"Cannot run cells, </a:t>
            </a:r>
            <a:r>
              <a:rPr lang="en-US" altLang="en-US" sz="3333" dirty="0" err="1">
                <a:latin typeface="Calibir"/>
              </a:rPr>
              <a:t>ipykernel</a:t>
            </a:r>
            <a:r>
              <a:rPr lang="en-US" altLang="en-US" sz="3333" dirty="0">
                <a:latin typeface="Calibir"/>
              </a:rPr>
              <a:t> is not installed."</a:t>
            </a:r>
            <a:br>
              <a:rPr lang="en-US" altLang="en-US" sz="3333" dirty="0">
                <a:latin typeface="Calibir"/>
              </a:rPr>
            </a:br>
            <a:r>
              <a:rPr lang="en-US" altLang="en-US" sz="3333" dirty="0">
                <a:latin typeface="Calibir"/>
              </a:rPr>
              <a:t>or</a:t>
            </a:r>
            <a:br>
              <a:rPr lang="en-US" altLang="en-US" sz="3333" dirty="0">
                <a:latin typeface="Calibir"/>
              </a:rPr>
            </a:br>
            <a:r>
              <a:rPr lang="en-US" altLang="en-US" sz="3333" dirty="0">
                <a:latin typeface="Calibir"/>
              </a:rPr>
              <a:t>"Kernel 'Python 3' cannot be started using the selected interpreter."</a:t>
            </a:r>
          </a:p>
          <a:p>
            <a:pPr lvl="0" eaLnBrk="0" fontAlgn="base" hangingPunct="0">
              <a:lnSpc>
                <a:spcPct val="150000"/>
              </a:lnSpc>
              <a:spcBef>
                <a:spcPct val="0"/>
              </a:spcBef>
              <a:spcAft>
                <a:spcPct val="0"/>
              </a:spcAft>
            </a:pPr>
            <a:r>
              <a:rPr lang="en-US" altLang="en-US" sz="3333" dirty="0">
                <a:latin typeface="Calibir"/>
              </a:rPr>
              <a:t>This happens if:</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They installed Python but haven't installed any packages (especially in a new/clean environment).</a:t>
            </a:r>
          </a:p>
          <a:p>
            <a:pPr marL="609585" indent="-609585" eaLnBrk="0" fontAlgn="base" hangingPunct="0">
              <a:lnSpc>
                <a:spcPct val="150000"/>
              </a:lnSpc>
              <a:spcBef>
                <a:spcPct val="0"/>
              </a:spcBef>
              <a:spcAft>
                <a:spcPct val="0"/>
              </a:spcAft>
              <a:buFont typeface="Arial" panose="020B0604020202020204" pitchFamily="34" charset="0"/>
              <a:buChar char="•"/>
            </a:pPr>
            <a:r>
              <a:rPr lang="en-US" altLang="en-US" sz="3333" dirty="0">
                <a:latin typeface="Calibir"/>
              </a:rPr>
              <a:t>They’re using a virtual environment that doesn’t have </a:t>
            </a:r>
            <a:r>
              <a:rPr lang="en-US" altLang="en-US" sz="3333" dirty="0" err="1">
                <a:latin typeface="Calibir"/>
              </a:rPr>
              <a:t>ipykernel</a:t>
            </a:r>
            <a:r>
              <a:rPr lang="en-US" altLang="en-US" sz="3333" dirty="0">
                <a:latin typeface="Calibir"/>
              </a:rPr>
              <a:t>.</a:t>
            </a:r>
          </a:p>
        </p:txBody>
      </p:sp>
    </p:spTree>
    <p:extLst>
      <p:ext uri="{BB962C8B-B14F-4D97-AF65-F5344CB8AC3E}">
        <p14:creationId xmlns:p14="http://schemas.microsoft.com/office/powerpoint/2010/main" val="2125817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68D4C-1DA2-0179-DCAB-3644A8D79AB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926BC3-B87B-0A91-4192-184F02A49998}"/>
              </a:ext>
            </a:extLst>
          </p:cNvPr>
          <p:cNvSpPr txBox="1">
            <a:spLocks noGrp="1"/>
          </p:cNvSpPr>
          <p:nvPr>
            <p:ph type="title"/>
          </p:nvPr>
        </p:nvSpPr>
        <p:spPr>
          <a:xfrm>
            <a:off x="0" y="564875"/>
            <a:ext cx="9227820" cy="1006152"/>
          </a:xfrm>
          <a:prstGeom prst="rect">
            <a:avLst/>
          </a:prstGeom>
        </p:spPr>
        <p:txBody>
          <a:bodyPr vert="horz" wrap="square" lIns="0" tIns="346117" rIns="0" bIns="0" rtlCol="0">
            <a:spAutoFit/>
          </a:bodyPr>
          <a:lstStyle/>
          <a:p>
            <a:pPr algn="l" defTabSz="1219170" rtl="0" eaLnBrk="0" fontAlgn="base" hangingPunct="0">
              <a:spcBef>
                <a:spcPct val="0"/>
              </a:spcBef>
              <a:spcAft>
                <a:spcPct val="0"/>
              </a:spcAft>
            </a:pPr>
            <a:r>
              <a:rPr lang="en-US" altLang="en-US" sz="4267" dirty="0">
                <a:solidFill>
                  <a:schemeClr val="tx1"/>
                </a:solidFill>
                <a:latin typeface="Calibir"/>
              </a:rPr>
              <a:t>Handle Error</a:t>
            </a:r>
          </a:p>
        </p:txBody>
      </p:sp>
      <p:sp>
        <p:nvSpPr>
          <p:cNvPr id="4" name="Rectangle 1">
            <a:extLst>
              <a:ext uri="{FF2B5EF4-FFF2-40B4-BE49-F238E27FC236}">
                <a16:creationId xmlns:a16="http://schemas.microsoft.com/office/drawing/2014/main" id="{6A750974-C49B-9329-E7F2-B063DF577162}"/>
              </a:ext>
            </a:extLst>
          </p:cNvPr>
          <p:cNvSpPr>
            <a:spLocks noChangeArrowheads="1"/>
          </p:cNvSpPr>
          <p:nvPr/>
        </p:nvSpPr>
        <p:spPr bwMode="auto">
          <a:xfrm>
            <a:off x="3944217" y="3081503"/>
            <a:ext cx="167942" cy="503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3127" tIns="41564" rIns="83127" bIns="41564" numCol="1" anchor="ctr" anchorCtr="0" compatLnSpc="1">
            <a:prstTxWarp prst="textNoShape">
              <a:avLst/>
            </a:prstTxWarp>
            <a:spAutoFit/>
          </a:bodyPr>
          <a:lstStyle/>
          <a:p>
            <a:pPr defTabSz="831230" eaLnBrk="0" fontAlgn="base" hangingPunct="0">
              <a:spcBef>
                <a:spcPct val="0"/>
              </a:spcBef>
              <a:spcAft>
                <a:spcPct val="0"/>
              </a:spcAft>
            </a:pPr>
            <a:endParaRPr lang="en-US" altLang="en-US" sz="1091" b="1">
              <a:latin typeface="+mj-lt"/>
            </a:endParaRPr>
          </a:p>
          <a:p>
            <a:pPr defTabSz="831230" eaLnBrk="0" fontAlgn="base" hangingPunct="0">
              <a:spcBef>
                <a:spcPct val="0"/>
              </a:spcBef>
              <a:spcAft>
                <a:spcPct val="0"/>
              </a:spcAft>
            </a:pPr>
            <a:endParaRPr lang="en-US" altLang="en-US" sz="1636">
              <a:latin typeface="+mj-lt"/>
            </a:endParaRPr>
          </a:p>
        </p:txBody>
      </p:sp>
      <p:sp>
        <p:nvSpPr>
          <p:cNvPr id="5" name="Rectangle 1">
            <a:extLst>
              <a:ext uri="{FF2B5EF4-FFF2-40B4-BE49-F238E27FC236}">
                <a16:creationId xmlns:a16="http://schemas.microsoft.com/office/drawing/2014/main" id="{F7561FD4-FFFD-A54F-CCD5-A731D0B8BAEC}"/>
              </a:ext>
            </a:extLst>
          </p:cNvPr>
          <p:cNvSpPr>
            <a:spLocks noChangeArrowheads="1"/>
          </p:cNvSpPr>
          <p:nvPr/>
        </p:nvSpPr>
        <p:spPr bwMode="auto">
          <a:xfrm>
            <a:off x="0" y="2409903"/>
            <a:ext cx="12192000" cy="2619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3733" b="1" dirty="0">
                <a:latin typeface="Calibir"/>
              </a:rPr>
              <a:t>To fix it (if needed), they can run:</a:t>
            </a:r>
          </a:p>
          <a:p>
            <a:pPr lvl="0" eaLnBrk="0" fontAlgn="base" hangingPunct="0">
              <a:lnSpc>
                <a:spcPct val="150000"/>
              </a:lnSpc>
              <a:spcBef>
                <a:spcPct val="0"/>
              </a:spcBef>
              <a:spcAft>
                <a:spcPct val="0"/>
              </a:spcAft>
            </a:pPr>
            <a:r>
              <a:rPr lang="en-US" altLang="en-US" sz="3733" b="1" dirty="0">
                <a:latin typeface="Calibir"/>
              </a:rPr>
              <a:t>On Windows (Command Prompt):</a:t>
            </a:r>
          </a:p>
          <a:p>
            <a:pPr lvl="0" eaLnBrk="0" fontAlgn="base" hangingPunct="0">
              <a:lnSpc>
                <a:spcPct val="150000"/>
              </a:lnSpc>
              <a:spcBef>
                <a:spcPct val="0"/>
              </a:spcBef>
              <a:spcAft>
                <a:spcPct val="0"/>
              </a:spcAft>
            </a:pPr>
            <a:r>
              <a:rPr lang="en-US" altLang="en-US" sz="3733" dirty="0">
                <a:latin typeface="Calibir"/>
              </a:rPr>
              <a:t>pip install </a:t>
            </a:r>
            <a:r>
              <a:rPr lang="en-US" altLang="en-US" sz="3733" dirty="0" err="1">
                <a:latin typeface="Calibir"/>
              </a:rPr>
              <a:t>ipykernel</a:t>
            </a:r>
            <a:endParaRPr lang="en-US" altLang="en-US" sz="3733" dirty="0">
              <a:latin typeface="Calibir"/>
            </a:endParaRPr>
          </a:p>
        </p:txBody>
      </p:sp>
      <p:sp>
        <p:nvSpPr>
          <p:cNvPr id="6" name="Rectangle 1">
            <a:extLst>
              <a:ext uri="{FF2B5EF4-FFF2-40B4-BE49-F238E27FC236}">
                <a16:creationId xmlns:a16="http://schemas.microsoft.com/office/drawing/2014/main" id="{AA6F71D8-0405-9BC5-5126-79ECC7938B15}"/>
              </a:ext>
            </a:extLst>
          </p:cNvPr>
          <p:cNvSpPr>
            <a:spLocks noChangeArrowheads="1"/>
          </p:cNvSpPr>
          <p:nvPr/>
        </p:nvSpPr>
        <p:spPr bwMode="auto">
          <a:xfrm>
            <a:off x="-31668" y="5594591"/>
            <a:ext cx="12192000" cy="175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3733" b="1" dirty="0">
                <a:latin typeface="Calibir"/>
              </a:rPr>
              <a:t>On macOS (Terminal):</a:t>
            </a:r>
          </a:p>
          <a:p>
            <a:pPr lvl="0" eaLnBrk="0" fontAlgn="base" hangingPunct="0">
              <a:lnSpc>
                <a:spcPct val="150000"/>
              </a:lnSpc>
              <a:spcBef>
                <a:spcPct val="0"/>
              </a:spcBef>
              <a:spcAft>
                <a:spcPct val="0"/>
              </a:spcAft>
            </a:pPr>
            <a:r>
              <a:rPr lang="en-US" altLang="en-US" sz="3733" dirty="0">
                <a:latin typeface="Calibir"/>
              </a:rPr>
              <a:t>pip3 install </a:t>
            </a:r>
            <a:r>
              <a:rPr lang="en-US" altLang="en-US" sz="3733" dirty="0" err="1">
                <a:latin typeface="Calibir"/>
              </a:rPr>
              <a:t>ipykernel</a:t>
            </a:r>
            <a:endParaRPr lang="en-US" altLang="en-US" sz="3733" dirty="0">
              <a:latin typeface="Calibir"/>
            </a:endParaRPr>
          </a:p>
        </p:txBody>
      </p:sp>
      <p:sp>
        <p:nvSpPr>
          <p:cNvPr id="7" name="Rectangle 1">
            <a:extLst>
              <a:ext uri="{FF2B5EF4-FFF2-40B4-BE49-F238E27FC236}">
                <a16:creationId xmlns:a16="http://schemas.microsoft.com/office/drawing/2014/main" id="{0B1F5EC9-C3A8-90FC-A0B8-1FD00D4DD4F5}"/>
              </a:ext>
            </a:extLst>
          </p:cNvPr>
          <p:cNvSpPr>
            <a:spLocks noChangeArrowheads="1"/>
          </p:cNvSpPr>
          <p:nvPr/>
        </p:nvSpPr>
        <p:spPr bwMode="auto">
          <a:xfrm>
            <a:off x="-4409" y="7843647"/>
            <a:ext cx="12196409" cy="175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3733" dirty="0">
                <a:latin typeface="Calibir"/>
              </a:rPr>
              <a:t>Or from inside VS Code's terminal (Ctrl + ~), run:</a:t>
            </a:r>
          </a:p>
          <a:p>
            <a:pPr lvl="0" eaLnBrk="0" fontAlgn="base" hangingPunct="0">
              <a:lnSpc>
                <a:spcPct val="150000"/>
              </a:lnSpc>
              <a:spcBef>
                <a:spcPct val="0"/>
              </a:spcBef>
              <a:spcAft>
                <a:spcPct val="0"/>
              </a:spcAft>
            </a:pPr>
            <a:r>
              <a:rPr lang="en-US" altLang="en-US" sz="3733" dirty="0">
                <a:latin typeface="Calibir"/>
              </a:rPr>
              <a:t>python -m pip install </a:t>
            </a:r>
            <a:r>
              <a:rPr lang="en-US" altLang="en-US" sz="3733" dirty="0" err="1">
                <a:latin typeface="Calibir"/>
              </a:rPr>
              <a:t>ipykernel</a:t>
            </a:r>
            <a:endParaRPr lang="en-US" altLang="en-US" sz="3733" dirty="0">
              <a:latin typeface="Calibir"/>
            </a:endParaRPr>
          </a:p>
        </p:txBody>
      </p:sp>
    </p:spTree>
    <p:extLst>
      <p:ext uri="{BB962C8B-B14F-4D97-AF65-F5344CB8AC3E}">
        <p14:creationId xmlns:p14="http://schemas.microsoft.com/office/powerpoint/2010/main" val="1488727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C74E-F749-1A5E-CDBB-5C5C09015A8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3B828A5-3632-05EE-0AD9-C92408C7441C}"/>
              </a:ext>
            </a:extLst>
          </p:cNvPr>
          <p:cNvSpPr txBox="1">
            <a:spLocks noGrp="1"/>
          </p:cNvSpPr>
          <p:nvPr>
            <p:ph type="title"/>
          </p:nvPr>
        </p:nvSpPr>
        <p:spPr>
          <a:xfrm>
            <a:off x="19333" y="277433"/>
            <a:ext cx="9227820" cy="934273"/>
          </a:xfrm>
          <a:prstGeom prst="rect">
            <a:avLst/>
          </a:prstGeom>
        </p:spPr>
        <p:txBody>
          <a:bodyPr vert="horz" wrap="square" lIns="0" tIns="346117" rIns="0" bIns="0" rtlCol="0">
            <a:spAutoFit/>
          </a:bodyPr>
          <a:lstStyle/>
          <a:p>
            <a:pPr marL="165096">
              <a:spcBef>
                <a:spcPts val="133"/>
              </a:spcBef>
            </a:pPr>
            <a:r>
              <a:rPr lang="en-US" sz="3800" spc="-27" dirty="0"/>
              <a:t>Update</a:t>
            </a:r>
            <a:endParaRPr sz="3800" spc="-27" dirty="0"/>
          </a:p>
        </p:txBody>
      </p:sp>
      <p:sp>
        <p:nvSpPr>
          <p:cNvPr id="5" name="object 5">
            <a:extLst>
              <a:ext uri="{FF2B5EF4-FFF2-40B4-BE49-F238E27FC236}">
                <a16:creationId xmlns:a16="http://schemas.microsoft.com/office/drawing/2014/main" id="{4A8948A9-F9F9-3280-DDA8-D32799B01E4D}"/>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A60CCD26-C2F3-2B78-9633-8869CBF28105}"/>
              </a:ext>
            </a:extLst>
          </p:cNvPr>
          <p:cNvSpPr>
            <a:spLocks noChangeArrowheads="1"/>
          </p:cNvSpPr>
          <p:nvPr/>
        </p:nvSpPr>
        <p:spPr bwMode="auto">
          <a:xfrm>
            <a:off x="19333" y="1925544"/>
            <a:ext cx="11988800" cy="4342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l" defTabSz="1219170" rtl="0">
              <a:lnSpc>
                <a:spcPct val="150000"/>
              </a:lnSpc>
              <a:defRPr/>
            </a:pPr>
            <a:endParaRPr lang="en-US" sz="3733" b="1" kern="1200" dirty="0">
              <a:solidFill>
                <a:prstClr val="black"/>
              </a:solidFill>
              <a:latin typeface="Calibri" panose="020F0502020204030204"/>
            </a:endParaRPr>
          </a:p>
          <a:p>
            <a:pPr algn="l" defTabSz="1219170" rtl="0">
              <a:lnSpc>
                <a:spcPct val="150000"/>
              </a:lnSpc>
              <a:defRPr/>
            </a:pPr>
            <a:br>
              <a:rPr lang="en-US" sz="3733" kern="1200" dirty="0">
                <a:solidFill>
                  <a:prstClr val="black"/>
                </a:solidFill>
                <a:latin typeface="Calibri" panose="020F0502020204030204"/>
              </a:rPr>
            </a:br>
            <a:endParaRPr lang="en-US" sz="3733" kern="1200" dirty="0">
              <a:solidFill>
                <a:prstClr val="black"/>
              </a:solidFill>
              <a:latin typeface="Calibri" panose="020F0502020204030204"/>
            </a:endParaRPr>
          </a:p>
          <a:p>
            <a:pPr marL="609585" indent="-609585" algn="l" defTabSz="1219170" rtl="0">
              <a:lnSpc>
                <a:spcPct val="150000"/>
              </a:lnSpc>
              <a:buFont typeface="Arial" panose="020B0604020202020204" pitchFamily="34" charset="0"/>
              <a:buChar char="•"/>
              <a:defRPr/>
            </a:pPr>
            <a:r>
              <a:rPr lang="en-US" sz="3733" b="1" kern="1200" dirty="0">
                <a:solidFill>
                  <a:prstClr val="black"/>
                </a:solidFill>
                <a:latin typeface="Calibri" panose="020F0502020204030204"/>
              </a:rPr>
              <a:t>Install required libraries via terminal (CMD or VS Code terminal):</a:t>
            </a:r>
            <a:endParaRPr lang="en-US" sz="3733" kern="1200" dirty="0">
              <a:solidFill>
                <a:prstClr val="black"/>
              </a:solidFill>
              <a:latin typeface="Calibri" panose="020F0502020204030204"/>
            </a:endParaRPr>
          </a:p>
        </p:txBody>
      </p:sp>
      <p:sp>
        <p:nvSpPr>
          <p:cNvPr id="3" name="TextBox 2">
            <a:extLst>
              <a:ext uri="{FF2B5EF4-FFF2-40B4-BE49-F238E27FC236}">
                <a16:creationId xmlns:a16="http://schemas.microsoft.com/office/drawing/2014/main" id="{05FA7779-A0F5-F639-5C6A-327CBF24071F}"/>
              </a:ext>
            </a:extLst>
          </p:cNvPr>
          <p:cNvSpPr txBox="1"/>
          <p:nvPr/>
        </p:nvSpPr>
        <p:spPr>
          <a:xfrm>
            <a:off x="183868" y="2097523"/>
            <a:ext cx="10519305" cy="1077218"/>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Windows:</a:t>
            </a:r>
            <a:br>
              <a:rPr lang="en-AU" sz="3200" kern="1200" dirty="0">
                <a:solidFill>
                  <a:prstClr val="black"/>
                </a:solidFill>
                <a:highlight>
                  <a:srgbClr val="00FF00"/>
                </a:highlight>
                <a:latin typeface="Calibri" panose="020F0502020204030204"/>
                <a:ea typeface="+mn-ea"/>
                <a:cs typeface="+mn-cs"/>
              </a:rPr>
            </a:br>
            <a:r>
              <a:rPr lang="en-AU" sz="3200" kern="1200" dirty="0">
                <a:solidFill>
                  <a:prstClr val="black"/>
                </a:solidFill>
                <a:highlight>
                  <a:srgbClr val="00FF00"/>
                </a:highlight>
                <a:latin typeface="Calibri" panose="020F0502020204030204"/>
                <a:ea typeface="+mn-ea"/>
                <a:cs typeface="+mn-cs"/>
              </a:rPr>
              <a:t>python.exe –m pip install --upgrade pip</a:t>
            </a:r>
          </a:p>
        </p:txBody>
      </p:sp>
      <p:sp>
        <p:nvSpPr>
          <p:cNvPr id="6" name="TextBox 5">
            <a:extLst>
              <a:ext uri="{FF2B5EF4-FFF2-40B4-BE49-F238E27FC236}">
                <a16:creationId xmlns:a16="http://schemas.microsoft.com/office/drawing/2014/main" id="{870C2C32-4AEF-11C7-027D-B0DF3DBA9E29}"/>
              </a:ext>
            </a:extLst>
          </p:cNvPr>
          <p:cNvSpPr txBox="1"/>
          <p:nvPr/>
        </p:nvSpPr>
        <p:spPr>
          <a:xfrm>
            <a:off x="183868" y="3542879"/>
            <a:ext cx="10519305" cy="1077218"/>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MAC:</a:t>
            </a:r>
            <a:br>
              <a:rPr lang="en-AU" sz="3200" kern="1200" dirty="0">
                <a:solidFill>
                  <a:prstClr val="black"/>
                </a:solidFill>
                <a:highlight>
                  <a:srgbClr val="00FF00"/>
                </a:highlight>
                <a:latin typeface="Calibri" panose="020F0502020204030204"/>
                <a:ea typeface="+mn-ea"/>
                <a:cs typeface="+mn-cs"/>
              </a:rPr>
            </a:br>
            <a:r>
              <a:rPr lang="en-AU" sz="3200" kern="1200" dirty="0">
                <a:solidFill>
                  <a:prstClr val="black"/>
                </a:solidFill>
                <a:highlight>
                  <a:srgbClr val="00FF00"/>
                </a:highlight>
                <a:latin typeface="Calibri" panose="020F0502020204030204"/>
                <a:ea typeface="+mn-ea"/>
                <a:cs typeface="+mn-cs"/>
              </a:rPr>
              <a:t>python.exe –m pip</a:t>
            </a:r>
            <a:r>
              <a:rPr lang="en-AU" sz="3200" dirty="0">
                <a:solidFill>
                  <a:prstClr val="black"/>
                </a:solidFill>
                <a:highlight>
                  <a:srgbClr val="00FF00"/>
                </a:highlight>
                <a:latin typeface="Calibri" panose="020F0502020204030204"/>
              </a:rPr>
              <a:t>3 </a:t>
            </a:r>
            <a:r>
              <a:rPr lang="en-AU" sz="3200" kern="1200" dirty="0">
                <a:solidFill>
                  <a:prstClr val="black"/>
                </a:solidFill>
                <a:highlight>
                  <a:srgbClr val="00FF00"/>
                </a:highlight>
                <a:latin typeface="Calibri" panose="020F0502020204030204"/>
                <a:ea typeface="+mn-ea"/>
                <a:cs typeface="+mn-cs"/>
              </a:rPr>
              <a:t>install --upgrade pip</a:t>
            </a:r>
          </a:p>
        </p:txBody>
      </p:sp>
      <p:sp>
        <p:nvSpPr>
          <p:cNvPr id="7" name="TextBox 6">
            <a:extLst>
              <a:ext uri="{FF2B5EF4-FFF2-40B4-BE49-F238E27FC236}">
                <a16:creationId xmlns:a16="http://schemas.microsoft.com/office/drawing/2014/main" id="{24C6D1A9-458D-6DE5-FF80-5E4CC110C78C}"/>
              </a:ext>
            </a:extLst>
          </p:cNvPr>
          <p:cNvSpPr txBox="1"/>
          <p:nvPr/>
        </p:nvSpPr>
        <p:spPr>
          <a:xfrm>
            <a:off x="183868" y="6371964"/>
            <a:ext cx="10519305" cy="1077218"/>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Windows:</a:t>
            </a:r>
            <a:br>
              <a:rPr lang="en-AU" sz="3200" kern="1200" dirty="0">
                <a:solidFill>
                  <a:prstClr val="black"/>
                </a:solidFill>
                <a:highlight>
                  <a:srgbClr val="00FF00"/>
                </a:highlight>
                <a:latin typeface="Calibri" panose="020F0502020204030204"/>
                <a:ea typeface="+mn-ea"/>
                <a:cs typeface="+mn-cs"/>
              </a:rPr>
            </a:br>
            <a:r>
              <a:rPr lang="en-AU" sz="3200" kern="1200" dirty="0">
                <a:solidFill>
                  <a:prstClr val="black"/>
                </a:solidFill>
                <a:highlight>
                  <a:srgbClr val="00FF00"/>
                </a:highlight>
                <a:latin typeface="Calibri" panose="020F0502020204030204"/>
                <a:ea typeface="+mn-ea"/>
                <a:cs typeface="+mn-cs"/>
              </a:rPr>
              <a:t>pip install pandas </a:t>
            </a:r>
            <a:r>
              <a:rPr lang="en-AU" sz="3200" kern="1200" dirty="0" err="1">
                <a:solidFill>
                  <a:prstClr val="black"/>
                </a:solidFill>
                <a:highlight>
                  <a:srgbClr val="00FF00"/>
                </a:highlight>
                <a:latin typeface="Calibri" panose="020F0502020204030204"/>
                <a:ea typeface="+mn-ea"/>
                <a:cs typeface="+mn-cs"/>
              </a:rPr>
              <a:t>numpy</a:t>
            </a:r>
            <a:r>
              <a:rPr lang="en-AU" sz="3200" kern="1200" dirty="0">
                <a:solidFill>
                  <a:prstClr val="black"/>
                </a:solidFill>
                <a:highlight>
                  <a:srgbClr val="00FF00"/>
                </a:highlight>
                <a:latin typeface="Calibri" panose="020F0502020204030204"/>
                <a:ea typeface="+mn-ea"/>
                <a:cs typeface="+mn-cs"/>
              </a:rPr>
              <a:t> </a:t>
            </a:r>
            <a:r>
              <a:rPr lang="en-AU" sz="3200" kern="1200" dirty="0" err="1">
                <a:solidFill>
                  <a:prstClr val="black"/>
                </a:solidFill>
                <a:highlight>
                  <a:srgbClr val="00FF00"/>
                </a:highlight>
                <a:latin typeface="Calibri" panose="020F0502020204030204"/>
                <a:ea typeface="+mn-ea"/>
                <a:cs typeface="+mn-cs"/>
              </a:rPr>
              <a:t>pyspark</a:t>
            </a:r>
            <a:r>
              <a:rPr lang="en-AU" sz="3200" kern="1200" dirty="0">
                <a:solidFill>
                  <a:prstClr val="black"/>
                </a:solidFill>
                <a:highlight>
                  <a:srgbClr val="00FF00"/>
                </a:highlight>
                <a:latin typeface="Calibri" panose="020F0502020204030204"/>
                <a:ea typeface="+mn-ea"/>
                <a:cs typeface="+mn-cs"/>
              </a:rPr>
              <a:t> matplotlib </a:t>
            </a:r>
            <a:r>
              <a:rPr lang="en-AU" sz="3200" kern="1200" dirty="0" err="1">
                <a:solidFill>
                  <a:prstClr val="black"/>
                </a:solidFill>
                <a:highlight>
                  <a:srgbClr val="00FF00"/>
                </a:highlight>
                <a:latin typeface="Calibri" panose="020F0502020204030204"/>
                <a:ea typeface="+mn-ea"/>
                <a:cs typeface="+mn-cs"/>
              </a:rPr>
              <a:t>jupyter</a:t>
            </a:r>
            <a:endParaRPr lang="en-AU" sz="3200" kern="1200" dirty="0">
              <a:solidFill>
                <a:prstClr val="black"/>
              </a:solidFill>
              <a:highlight>
                <a:srgbClr val="00FF00"/>
              </a:highlight>
              <a:latin typeface="Calibri" panose="020F0502020204030204"/>
              <a:ea typeface="+mn-ea"/>
              <a:cs typeface="+mn-cs"/>
            </a:endParaRPr>
          </a:p>
        </p:txBody>
      </p:sp>
      <p:sp>
        <p:nvSpPr>
          <p:cNvPr id="8" name="TextBox 7">
            <a:extLst>
              <a:ext uri="{FF2B5EF4-FFF2-40B4-BE49-F238E27FC236}">
                <a16:creationId xmlns:a16="http://schemas.microsoft.com/office/drawing/2014/main" id="{3884C601-0D77-6917-4F68-DE5566325824}"/>
              </a:ext>
            </a:extLst>
          </p:cNvPr>
          <p:cNvSpPr txBox="1"/>
          <p:nvPr/>
        </p:nvSpPr>
        <p:spPr>
          <a:xfrm>
            <a:off x="213604" y="7800512"/>
            <a:ext cx="10519305" cy="1077218"/>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MAC:</a:t>
            </a:r>
          </a:p>
          <a:p>
            <a:pPr algn="l" defTabSz="1219170" rtl="0">
              <a:defRPr/>
            </a:pPr>
            <a:r>
              <a:rPr lang="en-AU" sz="3200" kern="1200" dirty="0">
                <a:solidFill>
                  <a:prstClr val="black"/>
                </a:solidFill>
                <a:highlight>
                  <a:srgbClr val="00FF00"/>
                </a:highlight>
                <a:latin typeface="Calibri" panose="020F0502020204030204"/>
                <a:ea typeface="+mn-ea"/>
                <a:cs typeface="+mn-cs"/>
              </a:rPr>
              <a:t>pip3 install pandas </a:t>
            </a:r>
            <a:r>
              <a:rPr lang="en-AU" sz="3200" kern="1200" dirty="0" err="1">
                <a:solidFill>
                  <a:prstClr val="black"/>
                </a:solidFill>
                <a:highlight>
                  <a:srgbClr val="00FF00"/>
                </a:highlight>
                <a:latin typeface="Calibri" panose="020F0502020204030204"/>
                <a:ea typeface="+mn-ea"/>
                <a:cs typeface="+mn-cs"/>
              </a:rPr>
              <a:t>numpy</a:t>
            </a:r>
            <a:r>
              <a:rPr lang="en-AU" sz="3200" kern="1200" dirty="0">
                <a:solidFill>
                  <a:prstClr val="black"/>
                </a:solidFill>
                <a:highlight>
                  <a:srgbClr val="00FF00"/>
                </a:highlight>
                <a:latin typeface="Calibri" panose="020F0502020204030204"/>
                <a:ea typeface="+mn-ea"/>
                <a:cs typeface="+mn-cs"/>
              </a:rPr>
              <a:t> </a:t>
            </a:r>
            <a:r>
              <a:rPr lang="en-AU" sz="3200" kern="1200" dirty="0" err="1">
                <a:solidFill>
                  <a:prstClr val="black"/>
                </a:solidFill>
                <a:highlight>
                  <a:srgbClr val="00FF00"/>
                </a:highlight>
                <a:latin typeface="Calibri" panose="020F0502020204030204"/>
                <a:ea typeface="+mn-ea"/>
                <a:cs typeface="+mn-cs"/>
              </a:rPr>
              <a:t>pyspark</a:t>
            </a:r>
            <a:r>
              <a:rPr lang="en-AU" sz="3200" kern="1200" dirty="0">
                <a:solidFill>
                  <a:prstClr val="black"/>
                </a:solidFill>
                <a:highlight>
                  <a:srgbClr val="00FF00"/>
                </a:highlight>
                <a:latin typeface="Calibri" panose="020F0502020204030204"/>
                <a:ea typeface="+mn-ea"/>
                <a:cs typeface="+mn-cs"/>
              </a:rPr>
              <a:t> matplotlib </a:t>
            </a:r>
            <a:r>
              <a:rPr lang="en-AU" sz="3200" kern="1200" dirty="0" err="1">
                <a:solidFill>
                  <a:prstClr val="black"/>
                </a:solidFill>
                <a:highlight>
                  <a:srgbClr val="00FF00"/>
                </a:highlight>
                <a:latin typeface="Calibri" panose="020F0502020204030204"/>
                <a:ea typeface="+mn-ea"/>
                <a:cs typeface="+mn-cs"/>
              </a:rPr>
              <a:t>jupyter</a:t>
            </a:r>
            <a:endParaRPr lang="en-AU" sz="3200" kern="1200" dirty="0">
              <a:solidFill>
                <a:prstClr val="black"/>
              </a:solidFill>
              <a:highlight>
                <a:srgbClr val="00FF00"/>
              </a:highlight>
              <a:latin typeface="Calibri" panose="020F0502020204030204"/>
              <a:ea typeface="+mn-ea"/>
              <a:cs typeface="+mn-cs"/>
            </a:endParaRPr>
          </a:p>
        </p:txBody>
      </p:sp>
      <p:sp>
        <p:nvSpPr>
          <p:cNvPr id="9" name="TextBox 8">
            <a:extLst>
              <a:ext uri="{FF2B5EF4-FFF2-40B4-BE49-F238E27FC236}">
                <a16:creationId xmlns:a16="http://schemas.microsoft.com/office/drawing/2014/main" id="{05B654AB-E329-BB44-5C94-272380E000DF}"/>
              </a:ext>
            </a:extLst>
          </p:cNvPr>
          <p:cNvSpPr txBox="1"/>
          <p:nvPr/>
        </p:nvSpPr>
        <p:spPr>
          <a:xfrm>
            <a:off x="8026400" y="2286000"/>
            <a:ext cx="3759200" cy="369332"/>
          </a:xfrm>
          <a:prstGeom prst="rect">
            <a:avLst/>
          </a:prstGeom>
          <a:noFill/>
        </p:spPr>
        <p:txBody>
          <a:bodyPr wrap="square" rtlCol="0">
            <a:spAutoFit/>
          </a:bodyPr>
          <a:lstStyle/>
          <a:p>
            <a:r>
              <a:rPr lang="en-AU" b="1" dirty="0">
                <a:highlight>
                  <a:srgbClr val="00FF00"/>
                </a:highlight>
                <a:latin typeface="+mj-lt"/>
              </a:rPr>
              <a:t>VS Code (Python Update)</a:t>
            </a:r>
          </a:p>
        </p:txBody>
      </p:sp>
    </p:spTree>
    <p:extLst>
      <p:ext uri="{BB962C8B-B14F-4D97-AF65-F5344CB8AC3E}">
        <p14:creationId xmlns:p14="http://schemas.microsoft.com/office/powerpoint/2010/main" val="1317801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F2A7F-8523-A893-E42C-C28ACD706F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346043-E276-7CCF-622D-AB6580BA5AED}"/>
              </a:ext>
            </a:extLst>
          </p:cNvPr>
          <p:cNvSpPr txBox="1">
            <a:spLocks noGrp="1"/>
          </p:cNvSpPr>
          <p:nvPr>
            <p:ph type="title"/>
          </p:nvPr>
        </p:nvSpPr>
        <p:spPr>
          <a:xfrm>
            <a:off x="-53341" y="349341"/>
            <a:ext cx="9227820" cy="1232752"/>
          </a:xfrm>
          <a:prstGeom prst="rect">
            <a:avLst/>
          </a:prstGeom>
        </p:spPr>
        <p:txBody>
          <a:bodyPr vert="horz" wrap="square" lIns="0" tIns="346117" rIns="0" bIns="0" rtlCol="0">
            <a:spAutoFit/>
          </a:bodyPr>
          <a:lstStyle/>
          <a:p>
            <a:pPr algn="l" defTabSz="1219170" rtl="0" eaLnBrk="0" fontAlgn="base" hangingPunct="0">
              <a:lnSpc>
                <a:spcPct val="150000"/>
              </a:lnSpc>
              <a:spcBef>
                <a:spcPct val="0"/>
              </a:spcBef>
              <a:spcAft>
                <a:spcPct val="0"/>
              </a:spcAft>
              <a:defRPr/>
            </a:pPr>
            <a:r>
              <a:rPr lang="en-US" altLang="en-US" sz="4267" kern="1200" dirty="0">
                <a:solidFill>
                  <a:prstClr val="black"/>
                </a:solidFill>
              </a:rPr>
              <a:t>Add </a:t>
            </a:r>
            <a:r>
              <a:rPr lang="en-US" altLang="en-US" sz="4267" kern="1200" dirty="0" err="1">
                <a:solidFill>
                  <a:prstClr val="black"/>
                </a:solidFill>
              </a:rPr>
              <a:t>Jupyter</a:t>
            </a:r>
            <a:r>
              <a:rPr lang="en-US" altLang="en-US" sz="4267" kern="1200" dirty="0">
                <a:solidFill>
                  <a:prstClr val="black"/>
                </a:solidFill>
              </a:rPr>
              <a:t> Support</a:t>
            </a:r>
          </a:p>
        </p:txBody>
      </p:sp>
      <p:sp>
        <p:nvSpPr>
          <p:cNvPr id="5" name="object 5">
            <a:extLst>
              <a:ext uri="{FF2B5EF4-FFF2-40B4-BE49-F238E27FC236}">
                <a16:creationId xmlns:a16="http://schemas.microsoft.com/office/drawing/2014/main" id="{076A56FB-F6F0-1AC9-86CA-E06FCE42D9A5}"/>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181306E7-EC80-4615-E339-BC7BC04541F8}"/>
              </a:ext>
            </a:extLst>
          </p:cNvPr>
          <p:cNvSpPr>
            <a:spLocks noChangeArrowheads="1"/>
          </p:cNvSpPr>
          <p:nvPr/>
        </p:nvSpPr>
        <p:spPr bwMode="auto">
          <a:xfrm>
            <a:off x="0" y="2376813"/>
            <a:ext cx="11988800" cy="2619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marL="1219170" lvl="1" indent="-609585" algn="l" defTabSz="1219170" rtl="0" eaLnBrk="0" fontAlgn="base" hangingPunct="0">
              <a:lnSpc>
                <a:spcPct val="150000"/>
              </a:lnSpc>
              <a:spcBef>
                <a:spcPct val="0"/>
              </a:spcBef>
              <a:spcAft>
                <a:spcPct val="0"/>
              </a:spcAft>
              <a:buFont typeface="Arial" panose="020B0604020202020204" pitchFamily="34" charset="0"/>
              <a:buChar char="•"/>
              <a:defRPr/>
            </a:pPr>
            <a:r>
              <a:rPr lang="en-US" altLang="en-US" sz="3733" kern="1200" dirty="0">
                <a:solidFill>
                  <a:prstClr val="black"/>
                </a:solidFill>
                <a:latin typeface="Calibri" panose="020F0502020204030204"/>
              </a:rPr>
              <a:t>Install </a:t>
            </a:r>
            <a:r>
              <a:rPr lang="en-US" altLang="en-US" sz="3733" kern="1200" dirty="0" err="1">
                <a:solidFill>
                  <a:prstClr val="black"/>
                </a:solidFill>
                <a:latin typeface="Calibri" panose="020F0502020204030204"/>
              </a:rPr>
              <a:t>Jupyter</a:t>
            </a:r>
            <a:r>
              <a:rPr lang="en-US" altLang="en-US" sz="3733" kern="1200" dirty="0">
                <a:solidFill>
                  <a:prstClr val="black"/>
                </a:solidFill>
                <a:latin typeface="Calibri" panose="020F0502020204030204"/>
              </a:rPr>
              <a:t> extension in VS Code for using .</a:t>
            </a:r>
            <a:r>
              <a:rPr lang="en-US" altLang="en-US" sz="3733" kern="1200" dirty="0" err="1">
                <a:solidFill>
                  <a:prstClr val="black"/>
                </a:solidFill>
                <a:latin typeface="Calibri" panose="020F0502020204030204"/>
              </a:rPr>
              <a:t>ipynb</a:t>
            </a:r>
            <a:r>
              <a:rPr lang="en-US" altLang="en-US" sz="3733" kern="1200" dirty="0">
                <a:solidFill>
                  <a:prstClr val="black"/>
                </a:solidFill>
                <a:latin typeface="Calibri" panose="020F0502020204030204"/>
              </a:rPr>
              <a:t> notebooks</a:t>
            </a:r>
          </a:p>
          <a:p>
            <a:pPr marL="1219170" lvl="1" indent="-609585" algn="l" defTabSz="1219170" rtl="0" eaLnBrk="0" fontAlgn="base" hangingPunct="0">
              <a:lnSpc>
                <a:spcPct val="150000"/>
              </a:lnSpc>
              <a:spcBef>
                <a:spcPct val="0"/>
              </a:spcBef>
              <a:spcAft>
                <a:spcPct val="0"/>
              </a:spcAft>
              <a:buFont typeface="Arial" panose="020B0604020202020204" pitchFamily="34" charset="0"/>
              <a:buChar char="•"/>
              <a:defRPr/>
            </a:pPr>
            <a:r>
              <a:rPr lang="en-US" altLang="en-US" sz="3733" kern="1200" dirty="0">
                <a:solidFill>
                  <a:prstClr val="black"/>
                </a:solidFill>
                <a:latin typeface="Calibri" panose="020F0502020204030204"/>
              </a:rPr>
              <a:t>Run:</a:t>
            </a:r>
          </a:p>
        </p:txBody>
      </p:sp>
      <p:sp>
        <p:nvSpPr>
          <p:cNvPr id="10" name="TextBox 9">
            <a:extLst>
              <a:ext uri="{FF2B5EF4-FFF2-40B4-BE49-F238E27FC236}">
                <a16:creationId xmlns:a16="http://schemas.microsoft.com/office/drawing/2014/main" id="{AAC1669B-9CE5-36E9-3FB6-3754B69E2595}"/>
              </a:ext>
            </a:extLst>
          </p:cNvPr>
          <p:cNvSpPr txBox="1"/>
          <p:nvPr/>
        </p:nvSpPr>
        <p:spPr>
          <a:xfrm>
            <a:off x="1221690" y="5767125"/>
            <a:ext cx="10519305" cy="584775"/>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Windows: pip install notebook</a:t>
            </a:r>
          </a:p>
        </p:txBody>
      </p:sp>
      <p:sp>
        <p:nvSpPr>
          <p:cNvPr id="11" name="TextBox 10">
            <a:extLst>
              <a:ext uri="{FF2B5EF4-FFF2-40B4-BE49-F238E27FC236}">
                <a16:creationId xmlns:a16="http://schemas.microsoft.com/office/drawing/2014/main" id="{FFB02426-A47A-1BE3-3B5A-FA73CD75BE70}"/>
              </a:ext>
            </a:extLst>
          </p:cNvPr>
          <p:cNvSpPr txBox="1"/>
          <p:nvPr/>
        </p:nvSpPr>
        <p:spPr>
          <a:xfrm>
            <a:off x="1221690" y="6631854"/>
            <a:ext cx="10519305" cy="584775"/>
          </a:xfrm>
          <a:prstGeom prst="rect">
            <a:avLst/>
          </a:prstGeom>
          <a:noFill/>
        </p:spPr>
        <p:txBody>
          <a:bodyPr wrap="square">
            <a:spAutoFit/>
          </a:bodyPr>
          <a:lstStyle/>
          <a:p>
            <a:pPr algn="l" defTabSz="1219170" rtl="0">
              <a:defRPr/>
            </a:pPr>
            <a:r>
              <a:rPr lang="en-AU" sz="3200" kern="1200" dirty="0">
                <a:solidFill>
                  <a:prstClr val="black"/>
                </a:solidFill>
                <a:highlight>
                  <a:srgbClr val="00FF00"/>
                </a:highlight>
                <a:latin typeface="Calibri" panose="020F0502020204030204"/>
                <a:ea typeface="+mn-ea"/>
                <a:cs typeface="+mn-cs"/>
              </a:rPr>
              <a:t>MAC: pip3 install notebook</a:t>
            </a:r>
          </a:p>
        </p:txBody>
      </p:sp>
    </p:spTree>
    <p:extLst>
      <p:ext uri="{BB962C8B-B14F-4D97-AF65-F5344CB8AC3E}">
        <p14:creationId xmlns:p14="http://schemas.microsoft.com/office/powerpoint/2010/main" val="3140402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0FC7-80DC-3BC6-C486-83AE949BF26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E94578-F8F3-50F1-414E-3D45F5B8F8A4}"/>
              </a:ext>
            </a:extLst>
          </p:cNvPr>
          <p:cNvSpPr txBox="1">
            <a:spLocks noGrp="1"/>
          </p:cNvSpPr>
          <p:nvPr>
            <p:ph type="title"/>
          </p:nvPr>
        </p:nvSpPr>
        <p:spPr>
          <a:xfrm>
            <a:off x="30480" y="533400"/>
            <a:ext cx="9227820" cy="934273"/>
          </a:xfrm>
          <a:prstGeom prst="rect">
            <a:avLst/>
          </a:prstGeom>
        </p:spPr>
        <p:txBody>
          <a:bodyPr vert="horz" wrap="square" lIns="0" tIns="346117" rIns="0" bIns="0" rtlCol="0">
            <a:spAutoFit/>
          </a:bodyPr>
          <a:lstStyle/>
          <a:p>
            <a:pPr marL="165096">
              <a:spcBef>
                <a:spcPts val="133"/>
              </a:spcBef>
            </a:pPr>
            <a:r>
              <a:rPr lang="en-US" sz="3800" spc="-27" dirty="0"/>
              <a:t>Extra Resources</a:t>
            </a:r>
            <a:endParaRPr sz="3800" spc="-27" dirty="0"/>
          </a:p>
        </p:txBody>
      </p:sp>
      <p:sp>
        <p:nvSpPr>
          <p:cNvPr id="5" name="object 5">
            <a:extLst>
              <a:ext uri="{FF2B5EF4-FFF2-40B4-BE49-F238E27FC236}">
                <a16:creationId xmlns:a16="http://schemas.microsoft.com/office/drawing/2014/main" id="{242733C3-3D96-E303-6B40-10D559EBA086}"/>
              </a:ext>
            </a:extLst>
          </p:cNvPr>
          <p:cNvSpPr txBox="1">
            <a:spLocks noGrp="1"/>
          </p:cNvSpPr>
          <p:nvPr>
            <p:ph type="sldNum" sz="quarter" idx="7"/>
          </p:nvPr>
        </p:nvSpPr>
        <p:spPr>
          <a:xfrm>
            <a:off x="7895336" y="13252745"/>
            <a:ext cx="711200" cy="847241"/>
          </a:xfrm>
          <a:prstGeom prst="rect">
            <a:avLst/>
          </a:prstGeom>
        </p:spPr>
        <p:txBody>
          <a:bodyPr vert="horz" wrap="square" lIns="0" tIns="847" rIns="0" bIns="0" rtlCol="0">
            <a:spAutoFit/>
          </a:bodyPr>
          <a:lstStyle/>
          <a:p>
            <a:pPr marL="50799">
              <a:spcBef>
                <a:spcPts val="7"/>
              </a:spcBef>
            </a:pPr>
            <a:r>
              <a:rPr dirty="0"/>
              <a:t>3</a:t>
            </a:r>
            <a:r>
              <a:rPr spc="320" dirty="0"/>
              <a:t> </a:t>
            </a:r>
            <a:r>
              <a:rPr dirty="0"/>
              <a:t>|</a:t>
            </a:r>
            <a:r>
              <a:rPr spc="545" dirty="0"/>
              <a:t> </a:t>
            </a:r>
            <a:r>
              <a:rPr dirty="0"/>
              <a:t>Directorate</a:t>
            </a:r>
            <a:r>
              <a:rPr spc="-27" dirty="0"/>
              <a:t> </a:t>
            </a:r>
            <a:r>
              <a:rPr dirty="0"/>
              <a:t>|</a:t>
            </a:r>
            <a:r>
              <a:rPr spc="-20" dirty="0"/>
              <a:t> </a:t>
            </a:r>
            <a:r>
              <a:rPr dirty="0"/>
              <a:t>Office</a:t>
            </a:r>
            <a:r>
              <a:rPr spc="-27" dirty="0"/>
              <a:t> </a:t>
            </a:r>
            <a:r>
              <a:rPr dirty="0"/>
              <a:t>|</a:t>
            </a:r>
            <a:r>
              <a:rPr spc="-20" dirty="0"/>
              <a:t> </a:t>
            </a:r>
            <a:r>
              <a:rPr dirty="0"/>
              <a:t>Faculty</a:t>
            </a:r>
            <a:r>
              <a:rPr spc="-20" dirty="0"/>
              <a:t> </a:t>
            </a:r>
            <a:r>
              <a:rPr dirty="0"/>
              <a:t>|</a:t>
            </a:r>
            <a:r>
              <a:rPr spc="-20" dirty="0"/>
              <a:t> </a:t>
            </a:r>
            <a:r>
              <a:rPr spc="-13" dirty="0"/>
              <a:t>School</a:t>
            </a:r>
          </a:p>
        </p:txBody>
      </p:sp>
      <p:sp>
        <p:nvSpPr>
          <p:cNvPr id="4" name="Rectangle 1">
            <a:extLst>
              <a:ext uri="{FF2B5EF4-FFF2-40B4-BE49-F238E27FC236}">
                <a16:creationId xmlns:a16="http://schemas.microsoft.com/office/drawing/2014/main" id="{9DA02296-532F-F033-9623-38009495169B}"/>
              </a:ext>
            </a:extLst>
          </p:cNvPr>
          <p:cNvSpPr>
            <a:spLocks noChangeArrowheads="1"/>
          </p:cNvSpPr>
          <p:nvPr/>
        </p:nvSpPr>
        <p:spPr bwMode="auto">
          <a:xfrm>
            <a:off x="101600" y="1574031"/>
            <a:ext cx="11988800" cy="7447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nSpc>
                <a:spcPct val="150000"/>
              </a:lnSpc>
            </a:pPr>
            <a:r>
              <a:rPr lang="en-US" sz="2667" dirty="0">
                <a:latin typeface="+mj-lt"/>
              </a:rPr>
              <a:t>Python latest version is preferred for this subject.</a:t>
            </a:r>
          </a:p>
          <a:p>
            <a:pPr marL="380990" indent="-380990">
              <a:lnSpc>
                <a:spcPct val="150000"/>
              </a:lnSpc>
              <a:buFont typeface="Arial" panose="020B0604020202020204" pitchFamily="34" charset="0"/>
              <a:buChar char="•"/>
            </a:pPr>
            <a:r>
              <a:rPr lang="en-US" sz="2667" dirty="0">
                <a:latin typeface="+mj-lt"/>
              </a:rPr>
              <a:t>Install the latest Python: </a:t>
            </a:r>
            <a:r>
              <a:rPr lang="en-US" sz="2667" u="sng" dirty="0">
                <a:latin typeface="+mj-lt"/>
                <a:hlinkClick r:id="rId2"/>
              </a:rPr>
              <a:t>Download Link.</a:t>
            </a:r>
            <a:endParaRPr lang="en-US" sz="2667" dirty="0">
              <a:latin typeface="+mj-lt"/>
            </a:endParaRPr>
          </a:p>
          <a:p>
            <a:pPr marL="713300" lvl="1" indent="-380990">
              <a:lnSpc>
                <a:spcPct val="150000"/>
              </a:lnSpc>
              <a:buFont typeface="Arial" panose="020B0604020202020204" pitchFamily="34" charset="0"/>
              <a:buChar char="•"/>
            </a:pPr>
            <a:r>
              <a:rPr lang="en-US" sz="2667" dirty="0">
                <a:latin typeface="+mj-lt"/>
              </a:rPr>
              <a:t>Configure Python on Windows: </a:t>
            </a:r>
            <a:r>
              <a:rPr lang="en-US" sz="2667" u="sng" dirty="0">
                <a:latin typeface="+mj-lt"/>
                <a:hlinkClick r:id="rId3"/>
              </a:rPr>
              <a:t>Demo Video.</a:t>
            </a:r>
            <a:endParaRPr lang="en-US" sz="2667" dirty="0">
              <a:latin typeface="+mj-lt"/>
            </a:endParaRPr>
          </a:p>
          <a:p>
            <a:pPr marL="713300" lvl="1" indent="-380990">
              <a:lnSpc>
                <a:spcPct val="150000"/>
              </a:lnSpc>
              <a:buFont typeface="Arial" panose="020B0604020202020204" pitchFamily="34" charset="0"/>
              <a:buChar char="•"/>
            </a:pPr>
            <a:r>
              <a:rPr lang="en-US" sz="2667" dirty="0">
                <a:latin typeface="+mj-lt"/>
              </a:rPr>
              <a:t>Configure Python on Linux: </a:t>
            </a:r>
            <a:r>
              <a:rPr lang="en-US" sz="2667" u="sng" dirty="0">
                <a:latin typeface="+mj-lt"/>
                <a:hlinkClick r:id="rId4"/>
              </a:rPr>
              <a:t>Demo Video.</a:t>
            </a:r>
            <a:endParaRPr lang="en-US" sz="2667" dirty="0">
              <a:latin typeface="+mj-lt"/>
            </a:endParaRPr>
          </a:p>
          <a:p>
            <a:pPr marL="713300" lvl="1" indent="-380990">
              <a:lnSpc>
                <a:spcPct val="150000"/>
              </a:lnSpc>
              <a:buFont typeface="Arial" panose="020B0604020202020204" pitchFamily="34" charset="0"/>
              <a:buChar char="•"/>
            </a:pPr>
            <a:r>
              <a:rPr lang="en-US" sz="2667" dirty="0">
                <a:latin typeface="+mj-lt"/>
              </a:rPr>
              <a:t>Configure Python on MacOS: </a:t>
            </a:r>
            <a:r>
              <a:rPr lang="en-US" sz="2667" u="sng" dirty="0">
                <a:latin typeface="+mj-lt"/>
                <a:hlinkClick r:id="rId5"/>
              </a:rPr>
              <a:t>Demo Video.</a:t>
            </a:r>
            <a:endParaRPr lang="en-US" sz="2667" dirty="0">
              <a:latin typeface="+mj-lt"/>
            </a:endParaRPr>
          </a:p>
          <a:p>
            <a:pPr marL="380990" indent="-380990">
              <a:lnSpc>
                <a:spcPct val="150000"/>
              </a:lnSpc>
              <a:buFont typeface="Arial" panose="020B0604020202020204" pitchFamily="34" charset="0"/>
              <a:buChar char="•"/>
            </a:pPr>
            <a:r>
              <a:rPr lang="en-US" sz="2667" dirty="0">
                <a:latin typeface="+mj-lt"/>
              </a:rPr>
              <a:t>Once Python is installed on your operating system, setup Python with your preferred IDE.</a:t>
            </a:r>
            <a:br>
              <a:rPr lang="en-US" sz="2667" dirty="0">
                <a:latin typeface="+mj-lt"/>
              </a:rPr>
            </a:br>
            <a:r>
              <a:rPr lang="en-US" sz="2667" dirty="0">
                <a:latin typeface="+mj-lt"/>
              </a:rPr>
              <a:t>The configurations below demonstrate how to setup Python and </a:t>
            </a:r>
            <a:r>
              <a:rPr lang="en-US" sz="2667" dirty="0" err="1">
                <a:latin typeface="+mj-lt"/>
              </a:rPr>
              <a:t>Tkinter</a:t>
            </a:r>
            <a:r>
              <a:rPr lang="en-US" sz="2667" dirty="0">
                <a:latin typeface="+mj-lt"/>
              </a:rPr>
              <a:t> with </a:t>
            </a:r>
            <a:r>
              <a:rPr lang="en-US" sz="2667" dirty="0" err="1">
                <a:latin typeface="+mj-lt"/>
              </a:rPr>
              <a:t>vscode</a:t>
            </a:r>
            <a:r>
              <a:rPr lang="en-US" sz="2667" dirty="0">
                <a:latin typeface="+mj-lt"/>
              </a:rPr>
              <a:t>.</a:t>
            </a:r>
            <a:br>
              <a:rPr lang="en-US" sz="2667" dirty="0">
                <a:latin typeface="+mj-lt"/>
              </a:rPr>
            </a:br>
            <a:r>
              <a:rPr lang="en-US" sz="2667" i="1" dirty="0">
                <a:latin typeface="+mj-lt"/>
              </a:rPr>
              <a:t>You may choose different IDE (e.g. NetBeans) and configure Python within the IDE.</a:t>
            </a:r>
            <a:endParaRPr lang="en-US" sz="2667" dirty="0">
              <a:latin typeface="+mj-lt"/>
            </a:endParaRPr>
          </a:p>
          <a:p>
            <a:pPr marL="713300" indent="-380990">
              <a:lnSpc>
                <a:spcPct val="150000"/>
              </a:lnSpc>
              <a:buFont typeface="Arial" panose="020B0604020202020204" pitchFamily="34" charset="0"/>
              <a:buChar char="•"/>
            </a:pPr>
            <a:r>
              <a:rPr lang="en-US" sz="2667" dirty="0">
                <a:latin typeface="+mj-lt"/>
              </a:rPr>
              <a:t>Configure Python with </a:t>
            </a:r>
            <a:r>
              <a:rPr lang="en-US" sz="2667" dirty="0" err="1">
                <a:latin typeface="+mj-lt"/>
              </a:rPr>
              <a:t>vscode</a:t>
            </a:r>
            <a:r>
              <a:rPr lang="en-US" sz="2667" dirty="0">
                <a:latin typeface="+mj-lt"/>
              </a:rPr>
              <a:t>: </a:t>
            </a:r>
            <a:r>
              <a:rPr lang="en-US" sz="2667" u="sng" dirty="0">
                <a:latin typeface="+mj-lt"/>
                <a:hlinkClick r:id="rId6"/>
              </a:rPr>
              <a:t>Reference Link.</a:t>
            </a:r>
            <a:endParaRPr lang="en-US" sz="2667" dirty="0">
              <a:latin typeface="+mj-lt"/>
            </a:endParaRPr>
          </a:p>
          <a:p>
            <a:pPr marL="713300" indent="-380990">
              <a:lnSpc>
                <a:spcPct val="150000"/>
              </a:lnSpc>
              <a:buFont typeface="Arial" panose="020B0604020202020204" pitchFamily="34" charset="0"/>
              <a:buChar char="•"/>
            </a:pPr>
            <a:r>
              <a:rPr lang="en-US" sz="2667" dirty="0">
                <a:latin typeface="+mj-lt"/>
              </a:rPr>
              <a:t>Configure Python </a:t>
            </a:r>
            <a:r>
              <a:rPr lang="en-US" sz="2667" dirty="0" err="1">
                <a:latin typeface="+mj-lt"/>
              </a:rPr>
              <a:t>Tkinter</a:t>
            </a:r>
            <a:r>
              <a:rPr lang="en-US" sz="2667" dirty="0">
                <a:latin typeface="+mj-lt"/>
              </a:rPr>
              <a:t> with </a:t>
            </a:r>
            <a:r>
              <a:rPr lang="en-US" sz="2667" dirty="0" err="1">
                <a:latin typeface="+mj-lt"/>
              </a:rPr>
              <a:t>vscode</a:t>
            </a:r>
            <a:r>
              <a:rPr lang="en-US" sz="2667" dirty="0">
                <a:latin typeface="+mj-lt"/>
              </a:rPr>
              <a:t>: </a:t>
            </a:r>
            <a:r>
              <a:rPr lang="en-US" sz="2667" u="sng">
                <a:latin typeface="+mj-lt"/>
                <a:hlinkClick r:id="rId7"/>
              </a:rPr>
              <a:t>Demo Video.</a:t>
            </a:r>
            <a:endParaRPr lang="en-US" sz="2667" dirty="0">
              <a:latin typeface="+mj-lt"/>
            </a:endParaRPr>
          </a:p>
        </p:txBody>
      </p:sp>
    </p:spTree>
    <p:extLst>
      <p:ext uri="{BB962C8B-B14F-4D97-AF65-F5344CB8AC3E}">
        <p14:creationId xmlns:p14="http://schemas.microsoft.com/office/powerpoint/2010/main" val="1346340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FA9CC5-0445-BB57-62DA-6D97F6CDB411}"/>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476800C2-6177-3E04-8A2B-F90C7C8DFEDD}"/>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A8CF794D-73F8-6682-561E-6030DA1D99C8}"/>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7BED7407-A9D7-6C49-9FF2-15E75AA36E4E}"/>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Visual Studio Code (Install these packages)</a:t>
            </a:r>
            <a:endParaRPr kumimoji="0" lang="en-US" altLang="en-US" sz="2800" b="0" i="0" u="none" strike="noStrike" cap="none" normalizeH="0" baseline="0" dirty="0">
              <a:ln>
                <a:noFill/>
              </a:ln>
              <a:solidFill>
                <a:schemeClr val="tx1"/>
              </a:solidFill>
              <a:effectLst/>
              <a:highlight>
                <a:srgbClr val="00FF00"/>
              </a:highlight>
              <a:latin typeface="+mj-lt"/>
            </a:endParaRPr>
          </a:p>
        </p:txBody>
      </p:sp>
      <p:sp>
        <p:nvSpPr>
          <p:cNvPr id="7" name="TextBox 6">
            <a:extLst>
              <a:ext uri="{FF2B5EF4-FFF2-40B4-BE49-F238E27FC236}">
                <a16:creationId xmlns:a16="http://schemas.microsoft.com/office/drawing/2014/main" id="{719C488E-A26C-72AF-261D-CEB601A56FDE}"/>
              </a:ext>
            </a:extLst>
          </p:cNvPr>
          <p:cNvSpPr txBox="1"/>
          <p:nvPr/>
        </p:nvSpPr>
        <p:spPr>
          <a:xfrm>
            <a:off x="0" y="792402"/>
            <a:ext cx="11763570" cy="118686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highlight>
                  <a:srgbClr val="FFFF00"/>
                </a:highlight>
                <a:latin typeface="+mj-lt"/>
              </a:rPr>
              <a:t>pip install </a:t>
            </a:r>
            <a:r>
              <a:rPr kumimoji="0" lang="en-US" altLang="en-US" sz="2500" b="0" i="0" u="none" strike="noStrike" cap="none" normalizeH="0" baseline="0" dirty="0" err="1">
                <a:ln>
                  <a:noFill/>
                </a:ln>
                <a:solidFill>
                  <a:schemeClr val="tx1"/>
                </a:solidFill>
                <a:effectLst/>
                <a:highlight>
                  <a:srgbClr val="FFFF00"/>
                </a:highlight>
                <a:latin typeface="+mj-lt"/>
              </a:rPr>
              <a:t>numpy</a:t>
            </a:r>
            <a:r>
              <a:rPr kumimoji="0" lang="en-US" altLang="en-US" sz="2500" b="0" i="0" u="none" strike="noStrike" cap="none" normalizeH="0" baseline="0" dirty="0">
                <a:ln>
                  <a:noFill/>
                </a:ln>
                <a:solidFill>
                  <a:schemeClr val="tx1"/>
                </a:solidFill>
                <a:effectLst/>
                <a:highlight>
                  <a:srgbClr val="FFFF00"/>
                </a:highlight>
                <a:latin typeface="+mj-lt"/>
              </a:rPr>
              <a:t> pandas matplotlib scikit-learn seaborn </a:t>
            </a:r>
            <a:r>
              <a:rPr kumimoji="0" lang="en-US" altLang="en-US" sz="2500" b="0" i="0" u="none" strike="noStrike" cap="none" normalizeH="0" baseline="0" dirty="0" err="1">
                <a:ln>
                  <a:noFill/>
                </a:ln>
                <a:solidFill>
                  <a:schemeClr val="tx1"/>
                </a:solidFill>
                <a:effectLst/>
                <a:highlight>
                  <a:srgbClr val="FFFF00"/>
                </a:highlight>
                <a:latin typeface="+mj-lt"/>
              </a:rPr>
              <a:t>jupyter</a:t>
            </a:r>
            <a:r>
              <a:rPr kumimoji="0" lang="en-US" altLang="en-US" sz="2500" b="0" i="0" u="none" strike="noStrike" cap="none" normalizeH="0" baseline="0" dirty="0">
                <a:ln>
                  <a:noFill/>
                </a:ln>
                <a:solidFill>
                  <a:schemeClr val="tx1"/>
                </a:solidFill>
                <a:effectLst/>
                <a:highlight>
                  <a:srgbClr val="FFFF00"/>
                </a:highlight>
                <a:latin typeface="+mj-lt"/>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mj-lt"/>
              </a:rPr>
              <a:t>You can run .</a:t>
            </a:r>
            <a:r>
              <a:rPr kumimoji="0" lang="en-US" altLang="en-US" sz="2500" b="1" i="0" u="none" strike="noStrike" cap="none" normalizeH="0" baseline="0" dirty="0" err="1">
                <a:ln>
                  <a:noFill/>
                </a:ln>
                <a:solidFill>
                  <a:schemeClr val="tx1"/>
                </a:solidFill>
                <a:effectLst/>
                <a:latin typeface="+mj-lt"/>
              </a:rPr>
              <a:t>ipynb</a:t>
            </a:r>
            <a:r>
              <a:rPr kumimoji="0" lang="en-US" altLang="en-US" sz="2500" b="1" i="0" u="none" strike="noStrike" cap="none" normalizeH="0" baseline="0" dirty="0">
                <a:ln>
                  <a:noFill/>
                </a:ln>
                <a:solidFill>
                  <a:schemeClr val="tx1"/>
                </a:solidFill>
                <a:effectLst/>
                <a:latin typeface="+mj-lt"/>
              </a:rPr>
              <a:t> notebooks in VS Code</a:t>
            </a:r>
            <a:r>
              <a:rPr kumimoji="0" lang="en-US" altLang="en-US" sz="2500" b="0" i="0" u="none" strike="noStrike" cap="none" normalizeH="0" baseline="0" dirty="0">
                <a:ln>
                  <a:noFill/>
                </a:ln>
                <a:solidFill>
                  <a:schemeClr val="tx1"/>
                </a:solidFill>
                <a:effectLst/>
                <a:latin typeface="+mj-lt"/>
              </a:rPr>
              <a:t> and execute Python code without issues.</a:t>
            </a:r>
          </a:p>
        </p:txBody>
      </p:sp>
      <p:pic>
        <p:nvPicPr>
          <p:cNvPr id="9" name="Picture 8">
            <a:extLst>
              <a:ext uri="{FF2B5EF4-FFF2-40B4-BE49-F238E27FC236}">
                <a16:creationId xmlns:a16="http://schemas.microsoft.com/office/drawing/2014/main" id="{7CD09C10-D2F1-4471-C241-7EF9339B8DFE}"/>
              </a:ext>
            </a:extLst>
          </p:cNvPr>
          <p:cNvPicPr>
            <a:picLocks noChangeAspect="1"/>
          </p:cNvPicPr>
          <p:nvPr/>
        </p:nvPicPr>
        <p:blipFill>
          <a:blip r:embed="rId3"/>
          <a:srcRect r="50000" b="63333"/>
          <a:stretch>
            <a:fillRect/>
          </a:stretch>
        </p:blipFill>
        <p:spPr>
          <a:xfrm>
            <a:off x="0" y="3764280"/>
            <a:ext cx="12191999" cy="2514600"/>
          </a:xfrm>
          <a:prstGeom prst="rect">
            <a:avLst/>
          </a:prstGeom>
        </p:spPr>
      </p:pic>
    </p:spTree>
    <p:extLst>
      <p:ext uri="{BB962C8B-B14F-4D97-AF65-F5344CB8AC3E}">
        <p14:creationId xmlns:p14="http://schemas.microsoft.com/office/powerpoint/2010/main" val="1503116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B2464D-8F63-780C-618D-F1C65AC62AB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424AF26E-87C7-F21F-D043-163E918088E2}"/>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0A74214A-754A-5C3F-4298-85DA78C2725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50B9EE82-F361-244B-7085-7F7F55F213D4}"/>
              </a:ext>
            </a:extLst>
          </p:cNvPr>
          <p:cNvSpPr txBox="1"/>
          <p:nvPr/>
        </p:nvSpPr>
        <p:spPr>
          <a:xfrm>
            <a:off x="0" y="792402"/>
            <a:ext cx="11763570" cy="609782"/>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mj-lt"/>
              </a:rPr>
              <a:t>In VS Code → Extensions (Ctrl + Shift + X) → Search for </a:t>
            </a:r>
            <a:r>
              <a:rPr kumimoji="0" lang="en-US" altLang="en-US" sz="2500" b="1" i="0" u="none" strike="noStrike" cap="none" normalizeH="0" baseline="0" dirty="0">
                <a:ln>
                  <a:noFill/>
                </a:ln>
                <a:solidFill>
                  <a:schemeClr val="tx1"/>
                </a:solidFill>
                <a:effectLst/>
                <a:latin typeface="+mj-lt"/>
              </a:rPr>
              <a:t>"</a:t>
            </a:r>
            <a:r>
              <a:rPr kumimoji="0" lang="en-US" altLang="en-US" sz="2500" b="1" i="0" u="none" strike="noStrike" cap="none" normalizeH="0" baseline="0" dirty="0" err="1">
                <a:ln>
                  <a:noFill/>
                </a:ln>
                <a:solidFill>
                  <a:schemeClr val="tx1"/>
                </a:solidFill>
                <a:effectLst/>
                <a:latin typeface="+mj-lt"/>
              </a:rPr>
              <a:t>Jupyter</a:t>
            </a:r>
            <a:r>
              <a:rPr kumimoji="0" lang="en-US" altLang="en-US" sz="2500" b="1" i="0" u="none" strike="noStrike" cap="none" normalizeH="0" baseline="0" dirty="0">
                <a:ln>
                  <a:noFill/>
                </a:ln>
                <a:solidFill>
                  <a:schemeClr val="tx1"/>
                </a:solidFill>
                <a:effectLst/>
                <a:latin typeface="+mj-lt"/>
              </a:rPr>
              <a:t>"</a:t>
            </a:r>
            <a:r>
              <a:rPr kumimoji="0" lang="en-US" altLang="en-US" sz="2500" b="0" i="0" u="none" strike="noStrike" cap="none" normalizeH="0" baseline="0" dirty="0">
                <a:ln>
                  <a:noFill/>
                </a:ln>
                <a:solidFill>
                  <a:schemeClr val="tx1"/>
                </a:solidFill>
                <a:effectLst/>
                <a:latin typeface="+mj-lt"/>
              </a:rPr>
              <a:t> → Install</a:t>
            </a:r>
          </a:p>
        </p:txBody>
      </p:sp>
      <p:sp>
        <p:nvSpPr>
          <p:cNvPr id="2" name="Rectangle 1">
            <a:extLst>
              <a:ext uri="{FF2B5EF4-FFF2-40B4-BE49-F238E27FC236}">
                <a16:creationId xmlns:a16="http://schemas.microsoft.com/office/drawing/2014/main" id="{148EB287-A5C7-DF08-C7CD-F130C1280C22}"/>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Visual Studio Code (Add this extension)</a:t>
            </a:r>
            <a:endParaRPr kumimoji="0" lang="en-US" altLang="en-US" sz="2800" b="0" i="0" u="none" strike="noStrike" cap="none" normalizeH="0" baseline="0" dirty="0">
              <a:ln>
                <a:noFill/>
              </a:ln>
              <a:solidFill>
                <a:schemeClr val="tx1"/>
              </a:solidFill>
              <a:effectLst/>
              <a:highlight>
                <a:srgbClr val="00FF00"/>
              </a:highlight>
              <a:latin typeface="+mj-lt"/>
            </a:endParaRPr>
          </a:p>
        </p:txBody>
      </p:sp>
    </p:spTree>
    <p:extLst>
      <p:ext uri="{BB962C8B-B14F-4D97-AF65-F5344CB8AC3E}">
        <p14:creationId xmlns:p14="http://schemas.microsoft.com/office/powerpoint/2010/main" val="1115231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4B9967-4F55-1CA2-A020-076EC7199C6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BA921187-927B-29D3-6536-8097EDE6B02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4192D5EA-F776-8BF8-748D-ED8F3E464470}"/>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0C53270F-39D2-E990-65C5-EE9B7EC6F3AB}"/>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Google </a:t>
            </a:r>
            <a:r>
              <a:rPr lang="en-US" sz="2800" b="1" dirty="0" err="1">
                <a:highlight>
                  <a:srgbClr val="00FF00"/>
                </a:highlight>
                <a:latin typeface="+mj-lt"/>
              </a:rPr>
              <a:t>Colab</a:t>
            </a:r>
            <a:endParaRPr kumimoji="0" lang="en-US" altLang="en-US" sz="2800" b="0" i="0" u="none" strike="noStrike" cap="none" normalizeH="0" baseline="0" dirty="0">
              <a:ln>
                <a:noFill/>
              </a:ln>
              <a:solidFill>
                <a:schemeClr val="tx1"/>
              </a:solidFill>
              <a:effectLst/>
              <a:highlight>
                <a:srgbClr val="00FF00"/>
              </a:highlight>
              <a:latin typeface="+mj-lt"/>
            </a:endParaRPr>
          </a:p>
        </p:txBody>
      </p:sp>
      <p:pic>
        <p:nvPicPr>
          <p:cNvPr id="4" name="Picture 3">
            <a:extLst>
              <a:ext uri="{FF2B5EF4-FFF2-40B4-BE49-F238E27FC236}">
                <a16:creationId xmlns:a16="http://schemas.microsoft.com/office/drawing/2014/main" id="{8D336EB6-F680-8A3E-9AA0-A6BCE3546E0F}"/>
              </a:ext>
            </a:extLst>
          </p:cNvPr>
          <p:cNvPicPr>
            <a:picLocks noChangeAspect="1"/>
          </p:cNvPicPr>
          <p:nvPr/>
        </p:nvPicPr>
        <p:blipFill>
          <a:blip r:embed="rId3"/>
          <a:srcRect b="15556"/>
          <a:stretch>
            <a:fillRect/>
          </a:stretch>
        </p:blipFill>
        <p:spPr>
          <a:xfrm>
            <a:off x="0" y="1600200"/>
            <a:ext cx="12192000" cy="5791200"/>
          </a:xfrm>
          <a:prstGeom prst="rect">
            <a:avLst/>
          </a:prstGeom>
        </p:spPr>
      </p:pic>
    </p:spTree>
    <p:extLst>
      <p:ext uri="{BB962C8B-B14F-4D97-AF65-F5344CB8AC3E}">
        <p14:creationId xmlns:p14="http://schemas.microsoft.com/office/powerpoint/2010/main" val="3711771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73530C-F8F9-717C-DD1F-9636AFFD6C1B}"/>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4B1EC313-76C5-040E-A2DC-D7AAEC7F4278}"/>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C4192ED4-A84E-C59E-907D-436A5B0586ED}"/>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0025EF01-ECC1-1C0B-A87E-09DBD7E0AD4F}"/>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Google </a:t>
            </a:r>
            <a:r>
              <a:rPr lang="en-US" sz="2800" b="1" dirty="0" err="1">
                <a:highlight>
                  <a:srgbClr val="00FF00"/>
                </a:highlight>
                <a:latin typeface="+mj-lt"/>
              </a:rPr>
              <a:t>Colab</a:t>
            </a:r>
            <a:endParaRPr kumimoji="0" lang="en-US" altLang="en-US" sz="2800" b="0" i="0" u="none" strike="noStrike" cap="none" normalizeH="0" baseline="0" dirty="0">
              <a:ln>
                <a:noFill/>
              </a:ln>
              <a:solidFill>
                <a:schemeClr val="tx1"/>
              </a:solidFill>
              <a:effectLst/>
              <a:highlight>
                <a:srgbClr val="00FF00"/>
              </a:highlight>
              <a:latin typeface="+mj-lt"/>
            </a:endParaRPr>
          </a:p>
        </p:txBody>
      </p:sp>
      <p:pic>
        <p:nvPicPr>
          <p:cNvPr id="7" name="Picture 6">
            <a:extLst>
              <a:ext uri="{FF2B5EF4-FFF2-40B4-BE49-F238E27FC236}">
                <a16:creationId xmlns:a16="http://schemas.microsoft.com/office/drawing/2014/main" id="{FCD10B5F-0DFA-7A6D-3D8A-39E33AAACFB8}"/>
              </a:ext>
            </a:extLst>
          </p:cNvPr>
          <p:cNvPicPr>
            <a:picLocks noChangeAspect="1"/>
          </p:cNvPicPr>
          <p:nvPr/>
        </p:nvPicPr>
        <p:blipFill>
          <a:blip r:embed="rId3"/>
          <a:srcRect b="10000"/>
          <a:stretch>
            <a:fillRect/>
          </a:stretch>
        </p:blipFill>
        <p:spPr>
          <a:xfrm>
            <a:off x="0" y="1600200"/>
            <a:ext cx="12192000" cy="6172200"/>
          </a:xfrm>
          <a:prstGeom prst="rect">
            <a:avLst/>
          </a:prstGeom>
        </p:spPr>
      </p:pic>
      <p:sp>
        <p:nvSpPr>
          <p:cNvPr id="8" name="Rectangle: Rounded Corners 7">
            <a:extLst>
              <a:ext uri="{FF2B5EF4-FFF2-40B4-BE49-F238E27FC236}">
                <a16:creationId xmlns:a16="http://schemas.microsoft.com/office/drawing/2014/main" id="{EF527D8A-2357-7F87-A94C-3DF19B667BE4}"/>
              </a:ext>
            </a:extLst>
          </p:cNvPr>
          <p:cNvSpPr/>
          <p:nvPr/>
        </p:nvSpPr>
        <p:spPr>
          <a:xfrm>
            <a:off x="533400" y="3124200"/>
            <a:ext cx="2057400" cy="31647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17657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82175E5-99D3-EA04-E584-3E33A412888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A0103D97-D3AF-353D-75C4-B23CA6F4FF6E}"/>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C5F51836-117E-B896-CBE5-307A5284AA8C}"/>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B926B1EF-A4EE-128C-F173-84C7B5318B3F}"/>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Google </a:t>
            </a:r>
            <a:r>
              <a:rPr lang="en-US" sz="2800" b="1" dirty="0" err="1">
                <a:highlight>
                  <a:srgbClr val="00FF00"/>
                </a:highlight>
                <a:latin typeface="+mj-lt"/>
              </a:rPr>
              <a:t>Colab</a:t>
            </a:r>
            <a:endParaRPr kumimoji="0" lang="en-US" altLang="en-US" sz="2800" b="0" i="0" u="none" strike="noStrike" cap="none" normalizeH="0" baseline="0" dirty="0">
              <a:ln>
                <a:noFill/>
              </a:ln>
              <a:solidFill>
                <a:schemeClr val="tx1"/>
              </a:solidFill>
              <a:effectLst/>
              <a:highlight>
                <a:srgbClr val="00FF00"/>
              </a:highlight>
              <a:latin typeface="+mj-lt"/>
            </a:endParaRPr>
          </a:p>
        </p:txBody>
      </p:sp>
      <p:pic>
        <p:nvPicPr>
          <p:cNvPr id="10" name="Picture 9">
            <a:extLst>
              <a:ext uri="{FF2B5EF4-FFF2-40B4-BE49-F238E27FC236}">
                <a16:creationId xmlns:a16="http://schemas.microsoft.com/office/drawing/2014/main" id="{631C66EA-D3E7-3983-FAEE-E96252C5201A}"/>
              </a:ext>
            </a:extLst>
          </p:cNvPr>
          <p:cNvPicPr>
            <a:picLocks noChangeAspect="1"/>
          </p:cNvPicPr>
          <p:nvPr/>
        </p:nvPicPr>
        <p:blipFill>
          <a:blip r:embed="rId3"/>
          <a:srcRect b="36666"/>
          <a:stretch>
            <a:fillRect/>
          </a:stretch>
        </p:blipFill>
        <p:spPr>
          <a:xfrm>
            <a:off x="16727" y="1901952"/>
            <a:ext cx="12192000" cy="4343400"/>
          </a:xfrm>
          <a:prstGeom prst="rect">
            <a:avLst/>
          </a:prstGeom>
        </p:spPr>
      </p:pic>
    </p:spTree>
    <p:extLst>
      <p:ext uri="{BB962C8B-B14F-4D97-AF65-F5344CB8AC3E}">
        <p14:creationId xmlns:p14="http://schemas.microsoft.com/office/powerpoint/2010/main" val="3120739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DDFA07-CCF2-ED0C-448A-49564AB0E8A7}"/>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C65C0BDD-AE6D-0152-A973-177A2A97235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1D849D53-2D94-1E56-C49C-917EE3F0CFFF}"/>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1109F82B-FA7A-6C8A-F9B2-5CDE38F6B953}"/>
              </a:ext>
            </a:extLst>
          </p:cNvPr>
          <p:cNvSpPr>
            <a:spLocks noChangeArrowheads="1"/>
          </p:cNvSpPr>
          <p:nvPr/>
        </p:nvSpPr>
        <p:spPr bwMode="auto">
          <a:xfrm>
            <a:off x="0" y="0"/>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Google </a:t>
            </a:r>
            <a:r>
              <a:rPr lang="en-US" sz="2800" b="1" dirty="0" err="1">
                <a:highlight>
                  <a:srgbClr val="00FF00"/>
                </a:highlight>
                <a:latin typeface="+mj-lt"/>
              </a:rPr>
              <a:t>Colab</a:t>
            </a:r>
            <a:endParaRPr kumimoji="0" lang="en-US" altLang="en-US" sz="2800" b="0" i="0" u="none" strike="noStrike" cap="none" normalizeH="0" baseline="0" dirty="0">
              <a:ln>
                <a:noFill/>
              </a:ln>
              <a:solidFill>
                <a:schemeClr val="tx1"/>
              </a:solidFill>
              <a:effectLst/>
              <a:highlight>
                <a:srgbClr val="00FF00"/>
              </a:highlight>
              <a:latin typeface="+mj-lt"/>
            </a:endParaRPr>
          </a:p>
        </p:txBody>
      </p:sp>
      <p:pic>
        <p:nvPicPr>
          <p:cNvPr id="4" name="Picture 3">
            <a:extLst>
              <a:ext uri="{FF2B5EF4-FFF2-40B4-BE49-F238E27FC236}">
                <a16:creationId xmlns:a16="http://schemas.microsoft.com/office/drawing/2014/main" id="{0CF86E24-9661-E6A4-DA3B-3FFC56712875}"/>
              </a:ext>
            </a:extLst>
          </p:cNvPr>
          <p:cNvPicPr>
            <a:picLocks noChangeAspect="1"/>
          </p:cNvPicPr>
          <p:nvPr/>
        </p:nvPicPr>
        <p:blipFill>
          <a:blip r:embed="rId3"/>
          <a:srcRect b="18889"/>
          <a:stretch>
            <a:fillRect/>
          </a:stretch>
        </p:blipFill>
        <p:spPr>
          <a:xfrm>
            <a:off x="0" y="1600200"/>
            <a:ext cx="12192000" cy="5562600"/>
          </a:xfrm>
          <a:prstGeom prst="rect">
            <a:avLst/>
          </a:prstGeom>
        </p:spPr>
      </p:pic>
    </p:spTree>
    <p:extLst>
      <p:ext uri="{BB962C8B-B14F-4D97-AF65-F5344CB8AC3E}">
        <p14:creationId xmlns:p14="http://schemas.microsoft.com/office/powerpoint/2010/main" val="1697230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2F40FD-3B29-D325-7AE8-8DD5ACCE04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9CC31BA-2B8F-A5A3-17CF-475902195418}"/>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4E1C9E7E-8942-7DC5-B7E4-83323EF6C7D0}"/>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271DC510-3D0E-BE7C-E9F9-88BF45D80305}"/>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4F115927-2C31-FDAB-454F-FA83EECB5AED}"/>
              </a:ext>
            </a:extLst>
          </p:cNvPr>
          <p:cNvSpPr>
            <a:spLocks noChangeArrowheads="1"/>
          </p:cNvSpPr>
          <p:nvPr/>
        </p:nvSpPr>
        <p:spPr bwMode="auto">
          <a:xfrm>
            <a:off x="191211" y="1515983"/>
            <a:ext cx="1169598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latin typeface="+mj-lt"/>
              </a:rPr>
              <a:t>If you use Anaconda – Follow these steps: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latin typeface="+mj-lt"/>
              </a:rPr>
              <a:t>Windows/Mac/Linux</a:t>
            </a:r>
            <a:endParaRPr kumimoji="0" lang="en-US" altLang="en-US" sz="2800" b="0" i="0" u="none" strike="noStrike" cap="none" normalizeH="0" baseline="0" dirty="0">
              <a:ln>
                <a:noFill/>
              </a:ln>
              <a:solidFill>
                <a:schemeClr val="tx1"/>
              </a:solidFill>
              <a:effectLst/>
              <a:latin typeface="+mj-lt"/>
            </a:endParaRPr>
          </a:p>
        </p:txBody>
      </p:sp>
      <p:sp>
        <p:nvSpPr>
          <p:cNvPr id="7" name="TextBox 6">
            <a:extLst>
              <a:ext uri="{FF2B5EF4-FFF2-40B4-BE49-F238E27FC236}">
                <a16:creationId xmlns:a16="http://schemas.microsoft.com/office/drawing/2014/main" id="{0DDF7574-26D6-C416-1A62-46B6774E2E2F}"/>
              </a:ext>
            </a:extLst>
          </p:cNvPr>
          <p:cNvSpPr txBox="1"/>
          <p:nvPr/>
        </p:nvSpPr>
        <p:spPr>
          <a:xfrm>
            <a:off x="191211" y="3440679"/>
            <a:ext cx="11763570" cy="671851"/>
          </a:xfrm>
          <a:prstGeom prst="rect">
            <a:avLst/>
          </a:prstGeom>
          <a:noFill/>
        </p:spPr>
        <p:txBody>
          <a:bodyPr wrap="square">
            <a:spAutoFit/>
          </a:bodyPr>
          <a:lstStyle/>
          <a:p>
            <a:pPr>
              <a:lnSpc>
                <a:spcPct val="150000"/>
              </a:lnSpc>
              <a:buNone/>
            </a:pPr>
            <a:r>
              <a:rPr lang="en-US" sz="2800" dirty="0">
                <a:latin typeface="+mj-lt"/>
              </a:rPr>
              <a:t>Distribution Installers → Windows / Mac / Linux (based on their OS)</a:t>
            </a:r>
          </a:p>
        </p:txBody>
      </p:sp>
      <p:pic>
        <p:nvPicPr>
          <p:cNvPr id="9" name="Picture 8">
            <a:extLst>
              <a:ext uri="{FF2B5EF4-FFF2-40B4-BE49-F238E27FC236}">
                <a16:creationId xmlns:a16="http://schemas.microsoft.com/office/drawing/2014/main" id="{605C03F5-3E2D-7DA6-D582-CDE7FC84264F}"/>
              </a:ext>
            </a:extLst>
          </p:cNvPr>
          <p:cNvPicPr>
            <a:picLocks noChangeAspect="1"/>
          </p:cNvPicPr>
          <p:nvPr/>
        </p:nvPicPr>
        <p:blipFill>
          <a:blip r:embed="rId3"/>
          <a:srcRect t="7513" b="11111"/>
          <a:stretch>
            <a:fillRect/>
          </a:stretch>
        </p:blipFill>
        <p:spPr>
          <a:xfrm>
            <a:off x="0" y="3036336"/>
            <a:ext cx="12191999" cy="5580762"/>
          </a:xfrm>
          <a:prstGeom prst="rect">
            <a:avLst/>
          </a:prstGeom>
        </p:spPr>
      </p:pic>
    </p:spTree>
    <p:extLst>
      <p:ext uri="{BB962C8B-B14F-4D97-AF65-F5344CB8AC3E}">
        <p14:creationId xmlns:p14="http://schemas.microsoft.com/office/powerpoint/2010/main" val="1191440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4C14D5-09B4-85F2-12C5-03DF14F334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01BF61-C0CB-4963-C4B3-125ADB82A83B}"/>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D9CE5F8A-3757-4D0E-3F54-0DB3D6314049}"/>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96DC36C0-D9E2-9EB8-4D51-D7A9F9C73A9F}"/>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Rectangle 1">
            <a:extLst>
              <a:ext uri="{FF2B5EF4-FFF2-40B4-BE49-F238E27FC236}">
                <a16:creationId xmlns:a16="http://schemas.microsoft.com/office/drawing/2014/main" id="{9522375C-F7A8-28EF-B360-66F9C291FB03}"/>
              </a:ext>
            </a:extLst>
          </p:cNvPr>
          <p:cNvSpPr>
            <a:spLocks noChangeArrowheads="1"/>
          </p:cNvSpPr>
          <p:nvPr/>
        </p:nvSpPr>
        <p:spPr bwMode="auto">
          <a:xfrm>
            <a:off x="178271" y="1983205"/>
            <a:ext cx="1169598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b="1" dirty="0">
                <a:highlight>
                  <a:srgbClr val="00FF00"/>
                </a:highlight>
              </a:rPr>
              <a:t>If you use Anaconda – Follow these steps: </a:t>
            </a:r>
          </a:p>
        </p:txBody>
      </p:sp>
      <p:sp>
        <p:nvSpPr>
          <p:cNvPr id="7" name="TextBox 6">
            <a:extLst>
              <a:ext uri="{FF2B5EF4-FFF2-40B4-BE49-F238E27FC236}">
                <a16:creationId xmlns:a16="http://schemas.microsoft.com/office/drawing/2014/main" id="{302CE003-848D-4C18-644C-35CD6ADE758B}"/>
              </a:ext>
            </a:extLst>
          </p:cNvPr>
          <p:cNvSpPr txBox="1"/>
          <p:nvPr/>
        </p:nvSpPr>
        <p:spPr>
          <a:xfrm>
            <a:off x="191211" y="3440679"/>
            <a:ext cx="11763570" cy="4549835"/>
          </a:xfrm>
          <a:prstGeom prst="rect">
            <a:avLst/>
          </a:prstGeom>
          <a:noFill/>
        </p:spPr>
        <p:txBody>
          <a:bodyPr wrap="square">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800" b="1" i="0" u="none" strike="noStrike" cap="none" normalizeH="0" baseline="0" dirty="0">
                <a:ln>
                  <a:noFill/>
                </a:ln>
                <a:solidFill>
                  <a:schemeClr val="tx1"/>
                </a:solidFill>
                <a:effectLst/>
                <a:latin typeface="+mj-lt"/>
              </a:rPr>
              <a:t>Launch </a:t>
            </a:r>
            <a:r>
              <a:rPr kumimoji="0" lang="en-US" altLang="en-US" sz="2800" b="1" i="0" u="none" strike="noStrike" cap="none" normalizeH="0" baseline="0" dirty="0" err="1">
                <a:ln>
                  <a:noFill/>
                </a:ln>
                <a:solidFill>
                  <a:schemeClr val="tx1"/>
                </a:solidFill>
                <a:effectLst/>
                <a:latin typeface="+mj-lt"/>
              </a:rPr>
              <a:t>JupyterLab</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From Anaconda Navigator, open </a:t>
            </a:r>
            <a:r>
              <a:rPr kumimoji="0" lang="en-US" altLang="en-US" sz="2800" b="1" i="0" u="none" strike="noStrike" cap="none" normalizeH="0" baseline="0" dirty="0" err="1">
                <a:ln>
                  <a:noFill/>
                </a:ln>
                <a:solidFill>
                  <a:schemeClr val="tx1"/>
                </a:solidFill>
                <a:effectLst/>
                <a:latin typeface="+mj-lt"/>
              </a:rPr>
              <a:t>JupyterLab</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It will open in a browser.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Create a new </a:t>
            </a:r>
            <a:r>
              <a:rPr kumimoji="0" lang="en-US" altLang="en-US" sz="2800" b="1" i="0" u="none" strike="noStrike" cap="none" normalizeH="0" baseline="0" dirty="0">
                <a:ln>
                  <a:noFill/>
                </a:ln>
                <a:solidFill>
                  <a:schemeClr val="tx1"/>
                </a:solidFill>
                <a:effectLst/>
                <a:latin typeface="+mj-lt"/>
              </a:rPr>
              <a:t>Python Notebook</a:t>
            </a:r>
            <a:r>
              <a:rPr kumimoji="0" lang="en-US" altLang="en-US" sz="2800" b="0" i="0" u="none" strike="noStrike" cap="none" normalizeH="0" baseline="0" dirty="0">
                <a:ln>
                  <a:noFill/>
                </a:ln>
                <a:solidFill>
                  <a:schemeClr val="tx1"/>
                </a:solidFill>
                <a:effectLst/>
                <a:latin typeface="+mj-lt"/>
              </a:rPr>
              <a: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4"/>
              <a:tabLst/>
            </a:pPr>
            <a:r>
              <a:rPr kumimoji="0" lang="en-US" altLang="en-US" sz="2800" b="1" i="0" u="none" strike="noStrike" cap="none" normalizeH="0" baseline="0" dirty="0">
                <a:ln>
                  <a:noFill/>
                </a:ln>
                <a:solidFill>
                  <a:schemeClr val="tx1"/>
                </a:solidFill>
                <a:effectLst/>
                <a:latin typeface="+mj-lt"/>
              </a:rPr>
              <a:t>Write and Run Python Code</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Use the grey code cells to write and run Python code.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Output appears below the code block.</a:t>
            </a:r>
          </a:p>
        </p:txBody>
      </p:sp>
    </p:spTree>
    <p:extLst>
      <p:ext uri="{BB962C8B-B14F-4D97-AF65-F5344CB8AC3E}">
        <p14:creationId xmlns:p14="http://schemas.microsoft.com/office/powerpoint/2010/main" val="2192815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DFEAFCB-9170-C156-0CCF-D6F27C36DC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C04F01-7EDC-D20E-7498-AAF835661FAA}"/>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2775C540-6888-C627-21E7-B080BCCF4CD5}"/>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B1FB369F-024D-136B-657A-2DBDD2F091D0}"/>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43D38D93-16C4-4166-5283-DD04C59184F8}"/>
              </a:ext>
            </a:extLst>
          </p:cNvPr>
          <p:cNvSpPr txBox="1"/>
          <p:nvPr/>
        </p:nvSpPr>
        <p:spPr>
          <a:xfrm>
            <a:off x="214215" y="2754282"/>
            <a:ext cx="11763570" cy="4549835"/>
          </a:xfrm>
          <a:prstGeom prst="rect">
            <a:avLst/>
          </a:prstGeom>
          <a:noFill/>
        </p:spPr>
        <p:txBody>
          <a:bodyPr wrap="square">
            <a:spAutoFit/>
          </a:bodyPr>
          <a:lstStyle/>
          <a:p>
            <a:pPr>
              <a:lnSpc>
                <a:spcPct val="150000"/>
              </a:lnSpc>
            </a:pPr>
            <a:r>
              <a:rPr lang="en-US" sz="2800" b="1" dirty="0">
                <a:latin typeface="+mj-lt"/>
              </a:rPr>
              <a:t>PART B: Cloud Setup with Google </a:t>
            </a:r>
            <a:r>
              <a:rPr lang="en-US" sz="2800" b="1" dirty="0" err="1">
                <a:latin typeface="+mj-lt"/>
              </a:rPr>
              <a:t>Colab</a:t>
            </a:r>
            <a:endParaRPr lang="en-US" sz="2800" b="1" dirty="0">
              <a:latin typeface="+mj-lt"/>
            </a:endParaRPr>
          </a:p>
          <a:p>
            <a:pPr marL="514350" indent="-514350">
              <a:lnSpc>
                <a:spcPct val="150000"/>
              </a:lnSpc>
              <a:buFont typeface="+mj-lt"/>
              <a:buAutoNum type="arabicPeriod"/>
            </a:pPr>
            <a:r>
              <a:rPr lang="en-US" sz="2800" b="1" dirty="0">
                <a:latin typeface="+mj-lt"/>
              </a:rPr>
              <a:t>Log into Google Drive</a:t>
            </a:r>
            <a:r>
              <a:rPr lang="en-US" sz="2800" dirty="0">
                <a:latin typeface="+mj-lt"/>
              </a:rPr>
              <a:t> with your Gmail account.</a:t>
            </a:r>
          </a:p>
          <a:p>
            <a:pPr marL="514350" indent="-514350">
              <a:lnSpc>
                <a:spcPct val="150000"/>
              </a:lnSpc>
              <a:buFont typeface="+mj-lt"/>
              <a:buAutoNum type="arabicPeriod"/>
            </a:pPr>
            <a:r>
              <a:rPr lang="en-US" sz="2800" b="1" dirty="0">
                <a:latin typeface="+mj-lt"/>
              </a:rPr>
              <a:t>Create or open a </a:t>
            </a:r>
            <a:r>
              <a:rPr lang="en-US" sz="2800" b="1" dirty="0" err="1">
                <a:latin typeface="+mj-lt"/>
              </a:rPr>
              <a:t>Colab</a:t>
            </a:r>
            <a:r>
              <a:rPr lang="en-US" sz="2800" b="1" dirty="0">
                <a:latin typeface="+mj-lt"/>
              </a:rPr>
              <a:t> Notebook</a:t>
            </a:r>
            <a:br>
              <a:rPr lang="en-US" sz="2800" dirty="0">
                <a:latin typeface="+mj-lt"/>
              </a:rPr>
            </a:br>
            <a:r>
              <a:rPr lang="en-US" sz="2800" dirty="0">
                <a:latin typeface="+mj-lt"/>
              </a:rPr>
              <a:t>Go to: </a:t>
            </a:r>
            <a:r>
              <a:rPr lang="en-US" sz="2800" dirty="0">
                <a:latin typeface="+mj-lt"/>
                <a:hlinkClick r:id="rId3"/>
              </a:rPr>
              <a:t>https://colab.research.google.com</a:t>
            </a:r>
            <a:br>
              <a:rPr lang="en-US" sz="2800" dirty="0">
                <a:latin typeface="+mj-lt"/>
              </a:rPr>
            </a:br>
            <a:r>
              <a:rPr lang="en-US" sz="2800" dirty="0">
                <a:latin typeface="+mj-lt"/>
              </a:rPr>
              <a:t>Or open from Google Drive &gt; New &gt; More &gt; </a:t>
            </a:r>
            <a:r>
              <a:rPr lang="en-US" sz="2800" dirty="0" err="1">
                <a:latin typeface="+mj-lt"/>
              </a:rPr>
              <a:t>Colab</a:t>
            </a:r>
            <a:r>
              <a:rPr lang="en-US" sz="2800" dirty="0">
                <a:latin typeface="+mj-lt"/>
              </a:rPr>
              <a:t>.</a:t>
            </a:r>
          </a:p>
          <a:p>
            <a:pPr marL="514350" indent="-514350">
              <a:lnSpc>
                <a:spcPct val="150000"/>
              </a:lnSpc>
              <a:buFont typeface="+mj-lt"/>
              <a:buAutoNum type="arabicPeriod"/>
            </a:pPr>
            <a:r>
              <a:rPr lang="en-US" sz="2800" b="1" dirty="0">
                <a:latin typeface="+mj-lt"/>
              </a:rPr>
              <a:t>Write and run Python code</a:t>
            </a:r>
            <a:br>
              <a:rPr lang="en-US" sz="2800" dirty="0">
                <a:latin typeface="+mj-lt"/>
              </a:rPr>
            </a:br>
            <a:r>
              <a:rPr lang="en-US" sz="2800" dirty="0">
                <a:latin typeface="+mj-lt"/>
              </a:rPr>
              <a:t>Use the </a:t>
            </a:r>
            <a:r>
              <a:rPr lang="en-US" sz="2800" b="1" dirty="0">
                <a:latin typeface="+mj-lt"/>
              </a:rPr>
              <a:t>Runtime</a:t>
            </a:r>
            <a:r>
              <a:rPr lang="en-US" sz="2800" dirty="0">
                <a:latin typeface="+mj-lt"/>
              </a:rPr>
              <a:t> menu to run cells.</a:t>
            </a:r>
          </a:p>
        </p:txBody>
      </p:sp>
    </p:spTree>
    <p:extLst>
      <p:ext uri="{BB962C8B-B14F-4D97-AF65-F5344CB8AC3E}">
        <p14:creationId xmlns:p14="http://schemas.microsoft.com/office/powerpoint/2010/main" val="15402515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6E0B3B2-4DC8-897E-D9AC-782E4F19A8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7861DF-CF52-F3BF-552A-5F82C222FFCA}"/>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5F3ADCAA-D70C-D018-2EC5-BCF9636C0C7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BECDE254-B287-ADEB-E337-E5A9826E2EA3}"/>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74B193CD-2389-5326-3210-5E8978488312}"/>
              </a:ext>
            </a:extLst>
          </p:cNvPr>
          <p:cNvSpPr txBox="1"/>
          <p:nvPr/>
        </p:nvSpPr>
        <p:spPr>
          <a:xfrm>
            <a:off x="214215" y="2754282"/>
            <a:ext cx="11763570" cy="390350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PART C: Azure ML Studio Setup</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j-lt"/>
              </a:rPr>
              <a:t>Login via </a:t>
            </a:r>
            <a:r>
              <a:rPr kumimoji="0" lang="en-US" altLang="en-US" sz="2800" b="1" i="0" u="none" strike="noStrike" cap="none" normalizeH="0" baseline="0" dirty="0" err="1">
                <a:ln>
                  <a:noFill/>
                </a:ln>
                <a:solidFill>
                  <a:schemeClr val="tx1"/>
                </a:solidFill>
                <a:effectLst/>
                <a:latin typeface="+mj-lt"/>
              </a:rPr>
              <a:t>Skillable</a:t>
            </a:r>
            <a:r>
              <a:rPr kumimoji="0" lang="en-US" altLang="en-US" sz="2800" b="1" i="0" u="none" strike="noStrike" cap="none" normalizeH="0" baseline="0" dirty="0">
                <a:ln>
                  <a:noFill/>
                </a:ln>
                <a:solidFill>
                  <a:schemeClr val="tx1"/>
                </a:solidFill>
                <a:effectLst/>
                <a:latin typeface="+mj-lt"/>
              </a:rPr>
              <a:t> Labs</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Go to: </a:t>
            </a:r>
            <a:r>
              <a:rPr kumimoji="0" lang="en-US" altLang="en-US" sz="2800" b="0" i="0" u="none" strike="noStrike" cap="none" normalizeH="0" baseline="0" dirty="0">
                <a:ln>
                  <a:noFill/>
                </a:ln>
                <a:solidFill>
                  <a:schemeClr val="tx1"/>
                </a:solidFill>
                <a:effectLst/>
                <a:latin typeface="+mj-lt"/>
                <a:hlinkClick r:id="rId3"/>
              </a:rPr>
              <a:t>https://msle.learnondemand.net</a:t>
            </a:r>
            <a:endParaRPr kumimoji="0" lang="en-US" altLang="en-US" sz="2800" b="0" i="0" u="none" strike="noStrike" cap="none" normalizeH="0" baseline="0" dirty="0">
              <a:ln>
                <a:noFill/>
              </a:ln>
              <a:solidFill>
                <a:schemeClr val="tx1"/>
              </a:solidFill>
              <a:effectLst/>
              <a:latin typeface="+mj-lt"/>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Sign in via </a:t>
            </a:r>
            <a:r>
              <a:rPr kumimoji="0" lang="en-US" altLang="en-US" sz="2800" b="1" i="0" u="none" strike="noStrike" cap="none" normalizeH="0" baseline="0" dirty="0" err="1">
                <a:ln>
                  <a:noFill/>
                </a:ln>
                <a:solidFill>
                  <a:schemeClr val="tx1"/>
                </a:solidFill>
                <a:effectLst/>
                <a:latin typeface="+mj-lt"/>
              </a:rPr>
              <a:t>Skillable</a:t>
            </a:r>
            <a:r>
              <a:rPr kumimoji="0" lang="en-US" altLang="en-US" sz="2800" b="1" i="0" u="none" strike="noStrike" cap="none" normalizeH="0" baseline="0" dirty="0">
                <a:ln>
                  <a:noFill/>
                </a:ln>
                <a:solidFill>
                  <a:schemeClr val="tx1"/>
                </a:solidFill>
                <a:effectLst/>
                <a:latin typeface="+mj-lt"/>
              </a:rPr>
              <a:t> Account</a:t>
            </a:r>
            <a:endParaRPr kumimoji="0" lang="en-US" altLang="en-US" sz="2800" b="0" i="0" u="none" strike="noStrike" cap="none" normalizeH="0" baseline="0" dirty="0">
              <a:ln>
                <a:noFill/>
              </a:ln>
              <a:solidFill>
                <a:schemeClr val="tx1"/>
              </a:solidFill>
              <a:effectLst/>
              <a:latin typeface="+mj-lt"/>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Username: </a:t>
            </a:r>
            <a:r>
              <a:rPr kumimoji="0" lang="en-US" altLang="en-US" sz="2800" b="0" i="1" u="none" strike="noStrike" cap="none" normalizeH="0" baseline="0" dirty="0">
                <a:ln>
                  <a:noFill/>
                </a:ln>
                <a:solidFill>
                  <a:schemeClr val="tx1"/>
                </a:solidFill>
                <a:effectLst/>
                <a:latin typeface="+mj-lt"/>
              </a:rPr>
              <a:t>your student email</a:t>
            </a:r>
            <a:endParaRPr kumimoji="0" lang="en-US" altLang="en-US" sz="2800" b="0" i="0" u="none" strike="noStrike" cap="none" normalizeH="0" baseline="0" dirty="0">
              <a:ln>
                <a:noFill/>
              </a:ln>
              <a:solidFill>
                <a:schemeClr val="tx1"/>
              </a:solidFill>
              <a:effectLst/>
              <a:latin typeface="+mj-lt"/>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Password: Holmes1234&amp;</a:t>
            </a:r>
          </a:p>
        </p:txBody>
      </p:sp>
    </p:spTree>
    <p:extLst>
      <p:ext uri="{BB962C8B-B14F-4D97-AF65-F5344CB8AC3E}">
        <p14:creationId xmlns:p14="http://schemas.microsoft.com/office/powerpoint/2010/main" val="204599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CC8A183-4B51-E45D-324F-FB89D8F3E3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907027-4A66-9585-E025-B7C355505BA0}"/>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B9F42754-E9F9-4BF2-B494-0400BDEB41B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4672AF25-57F7-7CA7-65B4-1284C418C348}"/>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B8B3A705-4B4A-D95F-0DF2-AE20820BEF7A}"/>
              </a:ext>
            </a:extLst>
          </p:cNvPr>
          <p:cNvSpPr txBox="1"/>
          <p:nvPr/>
        </p:nvSpPr>
        <p:spPr>
          <a:xfrm>
            <a:off x="214215" y="2754282"/>
            <a:ext cx="11763570" cy="5196166"/>
          </a:xfrm>
          <a:prstGeom prst="rect">
            <a:avLst/>
          </a:prstGeom>
          <a:noFill/>
        </p:spPr>
        <p:txBody>
          <a:bodyPr wrap="square">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mj-lt"/>
              </a:rPr>
              <a:t>Launch Your Lab</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Click </a:t>
            </a:r>
            <a:r>
              <a:rPr kumimoji="0" lang="en-US" altLang="en-US" sz="2800" b="1" i="0" u="none" strike="noStrike" cap="none" normalizeH="0" baseline="0" dirty="0">
                <a:ln>
                  <a:noFill/>
                </a:ln>
                <a:solidFill>
                  <a:schemeClr val="tx1"/>
                </a:solidFill>
                <a:effectLst/>
                <a:latin typeface="+mj-lt"/>
              </a:rPr>
              <a:t>"Launch"</a:t>
            </a:r>
            <a:r>
              <a:rPr kumimoji="0" lang="en-US" altLang="en-US" sz="2800" b="0" i="0" u="none" strike="noStrike" cap="none" normalizeH="0" baseline="0" dirty="0">
                <a:ln>
                  <a:noFill/>
                </a:ln>
                <a:solidFill>
                  <a:schemeClr val="tx1"/>
                </a:solidFill>
                <a:effectLst/>
                <a:latin typeface="+mj-lt"/>
              </a:rPr>
              <a:t>, then navigate to </a:t>
            </a:r>
            <a:r>
              <a:rPr kumimoji="0" lang="en-US" altLang="en-US" sz="2800" b="1" i="0" u="none" strike="noStrike" cap="none" normalizeH="0" baseline="0" dirty="0">
                <a:ln>
                  <a:noFill/>
                </a:ln>
                <a:solidFill>
                  <a:schemeClr val="tx1"/>
                </a:solidFill>
                <a:effectLst/>
                <a:latin typeface="+mj-lt"/>
              </a:rPr>
              <a:t>Resources</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View your login credentials and workspace access.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800" b="1" i="0" u="none" strike="noStrike" cap="none" normalizeH="0" baseline="0" dirty="0">
                <a:ln>
                  <a:noFill/>
                </a:ln>
                <a:solidFill>
                  <a:schemeClr val="tx1"/>
                </a:solidFill>
                <a:effectLst/>
                <a:latin typeface="+mj-lt"/>
              </a:rPr>
              <a:t>Explore Azure ML Studio</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Visit: </a:t>
            </a:r>
            <a:r>
              <a:rPr kumimoji="0" lang="en-US" altLang="en-US" sz="2800" b="0" i="0" u="none" strike="noStrike" cap="none" normalizeH="0" baseline="0" dirty="0">
                <a:ln>
                  <a:noFill/>
                </a:ln>
                <a:solidFill>
                  <a:schemeClr val="tx1"/>
                </a:solidFill>
                <a:effectLst/>
                <a:latin typeface="+mj-lt"/>
                <a:hlinkClick r:id="rId3"/>
              </a:rPr>
              <a:t>https://studio.azureml.net</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Log in and create a workspace if required.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Explore three options: </a:t>
            </a:r>
            <a:r>
              <a:rPr kumimoji="0" lang="en-US" altLang="en-US" sz="2800" b="1" i="0" u="none" strike="noStrike" cap="none" normalizeH="0" baseline="0" dirty="0">
                <a:ln>
                  <a:noFill/>
                </a:ln>
                <a:solidFill>
                  <a:schemeClr val="tx1"/>
                </a:solidFill>
                <a:effectLst/>
                <a:latin typeface="+mj-lt"/>
              </a:rPr>
              <a:t>Automated ML</a:t>
            </a:r>
            <a:r>
              <a:rPr kumimoji="0" lang="en-US" altLang="en-US" sz="2800" b="0" i="0" u="none" strike="noStrike" cap="none" normalizeH="0" baseline="0" dirty="0">
                <a:ln>
                  <a:noFill/>
                </a:ln>
                <a:solidFill>
                  <a:schemeClr val="tx1"/>
                </a:solidFill>
                <a:effectLst/>
                <a:latin typeface="+mj-lt"/>
              </a:rPr>
              <a:t>, </a:t>
            </a:r>
            <a:r>
              <a:rPr kumimoji="0" lang="en-US" altLang="en-US" sz="2800" b="1" i="0" u="none" strike="noStrike" cap="none" normalizeH="0" baseline="0" dirty="0">
                <a:ln>
                  <a:noFill/>
                </a:ln>
                <a:solidFill>
                  <a:schemeClr val="tx1"/>
                </a:solidFill>
                <a:effectLst/>
                <a:latin typeface="+mj-lt"/>
              </a:rPr>
              <a:t>Designer</a:t>
            </a:r>
            <a:r>
              <a:rPr kumimoji="0" lang="en-US" altLang="en-US" sz="2800" b="0" i="0" u="none" strike="noStrike" cap="none" normalizeH="0" baseline="0" dirty="0">
                <a:ln>
                  <a:noFill/>
                </a:ln>
                <a:solidFill>
                  <a:schemeClr val="tx1"/>
                </a:solidFill>
                <a:effectLst/>
                <a:latin typeface="+mj-lt"/>
              </a:rPr>
              <a:t>, </a:t>
            </a:r>
            <a:r>
              <a:rPr kumimoji="0" lang="en-US" altLang="en-US" sz="2800" b="1" i="0" u="none" strike="noStrike" cap="none" normalizeH="0" baseline="0" dirty="0">
                <a:ln>
                  <a:noFill/>
                </a:ln>
                <a:solidFill>
                  <a:schemeClr val="tx1"/>
                </a:solidFill>
                <a:effectLst/>
                <a:latin typeface="+mj-lt"/>
              </a:rPr>
              <a:t>Notebooks</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For Week 2, click </a:t>
            </a:r>
            <a:r>
              <a:rPr kumimoji="0" lang="en-US" altLang="en-US" sz="2800" b="1" i="0" u="none" strike="noStrike" cap="none" normalizeH="0" baseline="0" dirty="0">
                <a:ln>
                  <a:noFill/>
                </a:ln>
                <a:solidFill>
                  <a:schemeClr val="tx1"/>
                </a:solidFill>
                <a:effectLst/>
                <a:latin typeface="+mj-lt"/>
              </a:rPr>
              <a:t>Designer</a:t>
            </a:r>
            <a:r>
              <a:rPr kumimoji="0" lang="en-US" altLang="en-US" sz="2800" b="0" i="0" u="none" strike="noStrike" cap="none" normalizeH="0" baseline="0" dirty="0">
                <a:ln>
                  <a:noFill/>
                </a:ln>
                <a:solidFill>
                  <a:schemeClr val="tx1"/>
                </a:solidFill>
                <a:effectLst/>
                <a:latin typeface="+mj-lt"/>
              </a:rPr>
              <a:t> and select </a:t>
            </a:r>
            <a:r>
              <a:rPr kumimoji="0" lang="en-US" altLang="en-US" sz="2800" b="1" i="0" u="none" strike="noStrike" cap="none" normalizeH="0" baseline="0" dirty="0">
                <a:ln>
                  <a:noFill/>
                </a:ln>
                <a:solidFill>
                  <a:schemeClr val="tx1"/>
                </a:solidFill>
                <a:effectLst/>
                <a:latin typeface="+mj-lt"/>
              </a:rPr>
              <a:t>Start Now</a:t>
            </a:r>
            <a:r>
              <a:rPr kumimoji="0" lang="en-US" altLang="en-US" sz="28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262419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C3DFE67-FF0C-514D-CBDF-78C1DCFBB40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CB47B9-C673-C460-EB58-E57484640226}"/>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Week 2 Tutorial – Step-by-Step Instructions</a:t>
            </a:r>
          </a:p>
        </p:txBody>
      </p:sp>
      <p:pic>
        <p:nvPicPr>
          <p:cNvPr id="3" name="object 3">
            <a:extLst>
              <a:ext uri="{FF2B5EF4-FFF2-40B4-BE49-F238E27FC236}">
                <a16:creationId xmlns:a16="http://schemas.microsoft.com/office/drawing/2014/main" id="{55937CB3-5F2B-C15D-67FC-5778215CFC1E}"/>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329F7C28-5404-D783-22AA-03E8872FB3F5}"/>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11B48BD1-3ADC-B145-B5E4-1BE7FEEB9B52}"/>
              </a:ext>
            </a:extLst>
          </p:cNvPr>
          <p:cNvSpPr txBox="1"/>
          <p:nvPr/>
        </p:nvSpPr>
        <p:spPr>
          <a:xfrm>
            <a:off x="214215" y="2754282"/>
            <a:ext cx="11763570" cy="1964512"/>
          </a:xfrm>
          <a:prstGeom prst="rect">
            <a:avLst/>
          </a:prstGeom>
          <a:noFill/>
        </p:spPr>
        <p:txBody>
          <a:bodyPr wrap="square">
            <a:spAutoFit/>
          </a:bodyPr>
          <a:lstStyle/>
          <a:p>
            <a:pPr marL="514350" indent="-514350">
              <a:lnSpc>
                <a:spcPct val="150000"/>
              </a:lnSpc>
              <a:buFont typeface="+mj-lt"/>
              <a:buAutoNum type="arabicPeriod" startAt="4"/>
            </a:pPr>
            <a:r>
              <a:rPr lang="en-US" sz="2800" b="1" dirty="0">
                <a:latin typeface="+mj-lt"/>
              </a:rPr>
              <a:t>Navigate ML Designer</a:t>
            </a:r>
            <a:endParaRPr lang="en-US" sz="2800" dirty="0">
              <a:latin typeface="+mj-lt"/>
            </a:endParaRPr>
          </a:p>
          <a:p>
            <a:pPr marL="457200" indent="-457200">
              <a:lnSpc>
                <a:spcPct val="150000"/>
              </a:lnSpc>
              <a:buFont typeface="Arial" panose="020B0604020202020204" pitchFamily="34" charset="0"/>
              <a:buChar char="•"/>
            </a:pPr>
            <a:r>
              <a:rPr lang="en-US" sz="2800" dirty="0">
                <a:latin typeface="+mj-lt"/>
              </a:rPr>
              <a:t>Use drag-and-drop tools for model creation.</a:t>
            </a:r>
          </a:p>
          <a:p>
            <a:pPr marL="457200" indent="-457200">
              <a:lnSpc>
                <a:spcPct val="150000"/>
              </a:lnSpc>
              <a:buFont typeface="Arial" panose="020B0604020202020204" pitchFamily="34" charset="0"/>
              <a:buChar char="•"/>
            </a:pPr>
            <a:r>
              <a:rPr lang="en-US" sz="2800" dirty="0">
                <a:latin typeface="+mj-lt"/>
              </a:rPr>
              <a:t>Understand core elements: datasets, algorithms, evaluation blocks.</a:t>
            </a:r>
          </a:p>
        </p:txBody>
      </p:sp>
    </p:spTree>
    <p:extLst>
      <p:ext uri="{BB962C8B-B14F-4D97-AF65-F5344CB8AC3E}">
        <p14:creationId xmlns:p14="http://schemas.microsoft.com/office/powerpoint/2010/main" val="2438362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A2F98B-2000-72B4-1811-1891F9E568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5DFA25-0450-6250-46B3-C57C55A735B5}"/>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Learning Outcome by End of Week 2</a:t>
            </a:r>
          </a:p>
        </p:txBody>
      </p:sp>
      <p:pic>
        <p:nvPicPr>
          <p:cNvPr id="3" name="object 3">
            <a:extLst>
              <a:ext uri="{FF2B5EF4-FFF2-40B4-BE49-F238E27FC236}">
                <a16:creationId xmlns:a16="http://schemas.microsoft.com/office/drawing/2014/main" id="{2E6DD313-05C1-0D2C-3AAF-71ABB6C8652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3A4E2B5D-ED9D-0C49-6307-B8F5FC45FC4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76021D34-924B-37C9-4ECE-93780DEE32D0}"/>
              </a:ext>
            </a:extLst>
          </p:cNvPr>
          <p:cNvSpPr txBox="1"/>
          <p:nvPr/>
        </p:nvSpPr>
        <p:spPr>
          <a:xfrm>
            <a:off x="214215" y="2754282"/>
            <a:ext cx="11763570" cy="2610843"/>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Compare development environments: </a:t>
            </a:r>
            <a:r>
              <a:rPr kumimoji="0" lang="en-US" altLang="en-US" sz="2800" b="1" i="0" u="none" strike="noStrike" cap="none" normalizeH="0" baseline="0" dirty="0">
                <a:ln>
                  <a:noFill/>
                </a:ln>
                <a:solidFill>
                  <a:schemeClr val="tx1"/>
                </a:solidFill>
                <a:effectLst/>
                <a:latin typeface="+mj-lt"/>
              </a:rPr>
              <a:t>local (Anaconda/</a:t>
            </a:r>
            <a:r>
              <a:rPr kumimoji="0" lang="en-US" altLang="en-US" sz="2800" b="1" i="0" u="none" strike="noStrike" cap="none" normalizeH="0" baseline="0" dirty="0" err="1">
                <a:ln>
                  <a:noFill/>
                </a:ln>
                <a:solidFill>
                  <a:schemeClr val="tx1"/>
                </a:solidFill>
                <a:effectLst/>
                <a:latin typeface="+mj-lt"/>
              </a:rPr>
              <a:t>Jupyter</a:t>
            </a:r>
            <a:r>
              <a:rPr kumimoji="0" lang="en-US" altLang="en-US" sz="2800" b="1" i="0" u="none" strike="noStrike" cap="none" normalizeH="0" baseline="0" dirty="0">
                <a:ln>
                  <a:noFill/>
                </a:ln>
                <a:solidFill>
                  <a:schemeClr val="tx1"/>
                </a:solidFill>
                <a:effectLst/>
                <a:latin typeface="+mj-lt"/>
              </a:rPr>
              <a:t>)</a:t>
            </a:r>
            <a:r>
              <a:rPr kumimoji="0" lang="en-US" altLang="en-US" sz="2800" b="0" i="0" u="none" strike="noStrike" cap="none" normalizeH="0" baseline="0" dirty="0">
                <a:ln>
                  <a:noFill/>
                </a:ln>
                <a:solidFill>
                  <a:schemeClr val="tx1"/>
                </a:solidFill>
                <a:effectLst/>
                <a:latin typeface="+mj-lt"/>
              </a:rPr>
              <a:t> vs </a:t>
            </a:r>
            <a:r>
              <a:rPr kumimoji="0" lang="en-US" altLang="en-US" sz="2800" b="1" i="0" u="none" strike="noStrike" cap="none" normalizeH="0" baseline="0" dirty="0">
                <a:ln>
                  <a:noFill/>
                </a:ln>
                <a:solidFill>
                  <a:schemeClr val="tx1"/>
                </a:solidFill>
                <a:effectLst/>
                <a:latin typeface="+mj-lt"/>
              </a:rPr>
              <a:t>cloud (</a:t>
            </a:r>
            <a:r>
              <a:rPr kumimoji="0" lang="en-US" altLang="en-US" sz="2800" b="1" i="0" u="none" strike="noStrike" cap="none" normalizeH="0" baseline="0" dirty="0" err="1">
                <a:ln>
                  <a:noFill/>
                </a:ln>
                <a:solidFill>
                  <a:schemeClr val="tx1"/>
                </a:solidFill>
                <a:effectLst/>
                <a:latin typeface="+mj-lt"/>
              </a:rPr>
              <a:t>Colab</a:t>
            </a:r>
            <a:r>
              <a:rPr kumimoji="0" lang="en-US" altLang="en-US" sz="2800" b="1" i="0" u="none" strike="noStrike" cap="none" normalizeH="0" baseline="0" dirty="0">
                <a:ln>
                  <a:noFill/>
                </a:ln>
                <a:solidFill>
                  <a:schemeClr val="tx1"/>
                </a:solidFill>
                <a:effectLst/>
                <a:latin typeface="+mj-lt"/>
              </a:rPr>
              <a:t>, Azure ML)</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Navigate Azure ML Studio Designer for low-code ML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Run Python code in </a:t>
            </a:r>
            <a:r>
              <a:rPr kumimoji="0" lang="en-US" altLang="en-US" sz="2800" b="0" i="0" u="none" strike="noStrike" cap="none" normalizeH="0" baseline="0" dirty="0" err="1">
                <a:ln>
                  <a:noFill/>
                </a:ln>
                <a:solidFill>
                  <a:schemeClr val="tx1"/>
                </a:solidFill>
                <a:effectLst/>
                <a:latin typeface="+mj-lt"/>
              </a:rPr>
              <a:t>Jupyter</a:t>
            </a:r>
            <a:r>
              <a:rPr kumimoji="0" lang="en-US" altLang="en-US" sz="2800" b="0" i="0" u="none" strike="noStrike" cap="none" normalizeH="0" baseline="0" dirty="0">
                <a:ln>
                  <a:noFill/>
                </a:ln>
                <a:solidFill>
                  <a:schemeClr val="tx1"/>
                </a:solidFill>
                <a:effectLst/>
                <a:latin typeface="+mj-lt"/>
              </a:rPr>
              <a:t> or </a:t>
            </a:r>
            <a:r>
              <a:rPr kumimoji="0" lang="en-US" altLang="en-US" sz="2800" b="0" i="0" u="none" strike="noStrike" cap="none" normalizeH="0" baseline="0" dirty="0" err="1">
                <a:ln>
                  <a:noFill/>
                </a:ln>
                <a:solidFill>
                  <a:schemeClr val="tx1"/>
                </a:solidFill>
                <a:effectLst/>
                <a:latin typeface="+mj-lt"/>
              </a:rPr>
              <a:t>Colab</a:t>
            </a:r>
            <a:r>
              <a:rPr kumimoji="0" lang="en-US" altLang="en-US" sz="2800" b="0" i="0" u="none" strike="noStrike" cap="none" normalizeH="0" baseline="0" dirty="0">
                <a:ln>
                  <a:noFill/>
                </a:ln>
                <a:solidFill>
                  <a:schemeClr val="tx1"/>
                </a:solidFill>
                <a:effectLst/>
                <a:latin typeface="+mj-lt"/>
              </a:rPr>
              <a:t> environments</a:t>
            </a:r>
          </a:p>
        </p:txBody>
      </p:sp>
    </p:spTree>
    <p:extLst>
      <p:ext uri="{BB962C8B-B14F-4D97-AF65-F5344CB8AC3E}">
        <p14:creationId xmlns:p14="http://schemas.microsoft.com/office/powerpoint/2010/main" val="17988180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0159080-B554-C7A6-DC2F-E9C22F5F18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AEB996-0241-C46F-E38F-6B07C26046C8}"/>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To Do This Week</a:t>
            </a:r>
          </a:p>
        </p:txBody>
      </p:sp>
      <p:pic>
        <p:nvPicPr>
          <p:cNvPr id="3" name="object 3">
            <a:extLst>
              <a:ext uri="{FF2B5EF4-FFF2-40B4-BE49-F238E27FC236}">
                <a16:creationId xmlns:a16="http://schemas.microsoft.com/office/drawing/2014/main" id="{18C73EFD-A6CF-24B1-669F-17317FF054EF}"/>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7A66DE1C-703D-1CDB-2083-FF5D134BE9A6}"/>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F58E92B3-0311-69D3-4398-21BF6935E418}"/>
              </a:ext>
            </a:extLst>
          </p:cNvPr>
          <p:cNvSpPr txBox="1"/>
          <p:nvPr/>
        </p:nvSpPr>
        <p:spPr>
          <a:xfrm>
            <a:off x="214215" y="2754282"/>
            <a:ext cx="11763570" cy="3257174"/>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Attend the tutorial and complete the setup steps above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Create and save a basic </a:t>
            </a:r>
            <a:r>
              <a:rPr kumimoji="0" lang="en-US" altLang="en-US" sz="2800" b="0" i="0" u="none" strike="noStrike" cap="none" normalizeH="0" baseline="0" dirty="0" err="1">
                <a:ln>
                  <a:noFill/>
                </a:ln>
                <a:solidFill>
                  <a:schemeClr val="tx1"/>
                </a:solidFill>
                <a:effectLst/>
                <a:latin typeface="+mj-lt"/>
              </a:rPr>
              <a:t>Jupyter</a:t>
            </a:r>
            <a:r>
              <a:rPr kumimoji="0" lang="en-US" altLang="en-US" sz="2800" b="0" i="0" u="none" strike="noStrike" cap="none" normalizeH="0" baseline="0" dirty="0">
                <a:ln>
                  <a:noFill/>
                </a:ln>
                <a:solidFill>
                  <a:schemeClr val="tx1"/>
                </a:solidFill>
                <a:effectLst/>
                <a:latin typeface="+mj-lt"/>
              </a:rPr>
              <a:t>/</a:t>
            </a:r>
            <a:r>
              <a:rPr kumimoji="0" lang="en-US" altLang="en-US" sz="2800" b="0" i="0" u="none" strike="noStrike" cap="none" normalizeH="0" baseline="0" dirty="0" err="1">
                <a:ln>
                  <a:noFill/>
                </a:ln>
                <a:solidFill>
                  <a:schemeClr val="tx1"/>
                </a:solidFill>
                <a:effectLst/>
                <a:latin typeface="+mj-lt"/>
              </a:rPr>
              <a:t>Colab</a:t>
            </a:r>
            <a:r>
              <a:rPr kumimoji="0" lang="en-US" altLang="en-US" sz="2800" b="0" i="0" u="none" strike="noStrike" cap="none" normalizeH="0" baseline="0" dirty="0">
                <a:ln>
                  <a:noFill/>
                </a:ln>
                <a:solidFill>
                  <a:schemeClr val="tx1"/>
                </a:solidFill>
                <a:effectLst/>
                <a:latin typeface="+mj-lt"/>
              </a:rPr>
              <a:t> notebook with at least one ML-related Python example (e.g., linear regression with scikit-learn)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Begin exploring </a:t>
            </a:r>
            <a:r>
              <a:rPr kumimoji="0" lang="en-US" altLang="en-US" sz="2800" b="1" i="0" u="none" strike="noStrike" cap="none" normalizeH="0" baseline="0" dirty="0">
                <a:ln>
                  <a:noFill/>
                </a:ln>
                <a:solidFill>
                  <a:schemeClr val="tx1"/>
                </a:solidFill>
                <a:effectLst/>
                <a:latin typeface="+mj-lt"/>
              </a:rPr>
              <a:t>Azure ML Studio Designer</a:t>
            </a:r>
            <a:r>
              <a:rPr kumimoji="0" lang="en-US" altLang="en-US" sz="2800" b="0" i="0" u="none" strike="noStrike" cap="none" normalizeH="0" baseline="0" dirty="0">
                <a:ln>
                  <a:noFill/>
                </a:ln>
                <a:solidFill>
                  <a:schemeClr val="tx1"/>
                </a:solidFill>
                <a:effectLst/>
                <a:latin typeface="+mj-lt"/>
              </a:rPr>
              <a:t> and familiarize yourself with drag-and-drop interface</a:t>
            </a:r>
          </a:p>
        </p:txBody>
      </p:sp>
    </p:spTree>
    <p:extLst>
      <p:ext uri="{BB962C8B-B14F-4D97-AF65-F5344CB8AC3E}">
        <p14:creationId xmlns:p14="http://schemas.microsoft.com/office/powerpoint/2010/main" val="1328091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59AFF9-67DE-7A01-1B30-587786CB33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CACD55-30CF-F782-47D0-90400B79B163}"/>
              </a:ext>
            </a:extLst>
          </p:cNvPr>
          <p:cNvSpPr txBox="1"/>
          <p:nvPr/>
        </p:nvSpPr>
        <p:spPr>
          <a:xfrm>
            <a:off x="191211" y="213486"/>
            <a:ext cx="10401300" cy="520655"/>
          </a:xfrm>
          <a:prstGeom prst="rect">
            <a:avLst/>
          </a:prstGeom>
        </p:spPr>
        <p:txBody>
          <a:bodyPr vert="horz" wrap="square" lIns="0" tIns="12700" rIns="0" bIns="0" rtlCol="0">
            <a:spAutoFit/>
          </a:bodyPr>
          <a:lstStyle/>
          <a:p>
            <a:r>
              <a:rPr lang="en-US" sz="3200" b="1" dirty="0"/>
              <a:t>To Do This Week</a:t>
            </a:r>
          </a:p>
        </p:txBody>
      </p:sp>
      <p:pic>
        <p:nvPicPr>
          <p:cNvPr id="3" name="object 3">
            <a:extLst>
              <a:ext uri="{FF2B5EF4-FFF2-40B4-BE49-F238E27FC236}">
                <a16:creationId xmlns:a16="http://schemas.microsoft.com/office/drawing/2014/main" id="{42F43880-D1D9-150A-74CC-A1124490A266}"/>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08E9417C-74BE-309D-4FFC-DB48F224514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F18D864F-1336-B07E-9984-3E3219D8491C}"/>
              </a:ext>
            </a:extLst>
          </p:cNvPr>
          <p:cNvSpPr txBox="1"/>
          <p:nvPr/>
        </p:nvSpPr>
        <p:spPr>
          <a:xfrm>
            <a:off x="214215" y="2754282"/>
            <a:ext cx="11763570" cy="1964512"/>
          </a:xfrm>
          <a:prstGeom prst="rect">
            <a:avLst/>
          </a:prstGeom>
          <a:noFill/>
        </p:spPr>
        <p:txBody>
          <a:bodyPr wrap="square">
            <a:spAutoFit/>
          </a:bodyPr>
          <a:lstStyle/>
          <a:p>
            <a:pPr>
              <a:lnSpc>
                <a:spcPct val="150000"/>
              </a:lnSpc>
            </a:pPr>
            <a:r>
              <a:rPr lang="en-US" sz="2800" dirty="0">
                <a:latin typeface="+mj-lt"/>
              </a:rPr>
              <a:t>If you face issues, bring your laptop to the tutorial session or contact the support tutor for assistance.</a:t>
            </a:r>
          </a:p>
          <a:p>
            <a:pPr>
              <a:lnSpc>
                <a:spcPct val="150000"/>
              </a:lnSpc>
            </a:pPr>
            <a:r>
              <a:rPr lang="en-US" sz="2800" dirty="0">
                <a:latin typeface="+mj-lt"/>
              </a:rPr>
              <a:t>Let’s build a strong technical foundation this week!</a:t>
            </a:r>
          </a:p>
        </p:txBody>
      </p:sp>
    </p:spTree>
    <p:extLst>
      <p:ext uri="{BB962C8B-B14F-4D97-AF65-F5344CB8AC3E}">
        <p14:creationId xmlns:p14="http://schemas.microsoft.com/office/powerpoint/2010/main" val="3535293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CDC9-A7F0-B9E3-E9E4-516B619781B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D91AB5A2-B21D-66A0-4528-C2C55210EBB0}"/>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45EF6D16-E124-24B9-1D4B-698CF1363FA5}"/>
              </a:ext>
            </a:extLst>
          </p:cNvPr>
          <p:cNvSpPr txBox="1"/>
          <p:nvPr/>
        </p:nvSpPr>
        <p:spPr>
          <a:xfrm>
            <a:off x="0" y="0"/>
            <a:ext cx="11887199" cy="646331"/>
          </a:xfrm>
          <a:prstGeom prst="rect">
            <a:avLst/>
          </a:prstGeom>
          <a:noFill/>
        </p:spPr>
        <p:txBody>
          <a:bodyPr wrap="square">
            <a:spAutoFit/>
          </a:bodyPr>
          <a:lstStyle/>
          <a:p>
            <a:r>
              <a:rPr lang="en-US" sz="3600" b="1" dirty="0"/>
              <a:t>Thank You</a:t>
            </a:r>
          </a:p>
        </p:txBody>
      </p:sp>
      <p:sp>
        <p:nvSpPr>
          <p:cNvPr id="6" name="Rectangle 1">
            <a:extLst>
              <a:ext uri="{FF2B5EF4-FFF2-40B4-BE49-F238E27FC236}">
                <a16:creationId xmlns:a16="http://schemas.microsoft.com/office/drawing/2014/main" id="{82B71991-9C10-2CDD-0295-065A9579E266}"/>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0550CBBC-F537-AFEC-634C-56C9DAB14615}"/>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85037F8A-312A-5706-B9D4-BD56C9AD7D90}"/>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63D227C-1D36-DEFE-C2F8-3CA3D97D9231}"/>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EE1BCA2-620C-3559-3A80-9228DA241173}"/>
              </a:ext>
            </a:extLst>
          </p:cNvPr>
          <p:cNvSpPr txBox="1"/>
          <p:nvPr/>
        </p:nvSpPr>
        <p:spPr>
          <a:xfrm>
            <a:off x="609600" y="2441246"/>
            <a:ext cx="9624202" cy="1318181"/>
          </a:xfrm>
          <a:prstGeom prst="rect">
            <a:avLst/>
          </a:prstGeom>
          <a:noFill/>
        </p:spPr>
        <p:txBody>
          <a:bodyPr wrap="square">
            <a:spAutoFit/>
          </a:bodyPr>
          <a:lstStyle/>
          <a:p>
            <a:pPr>
              <a:lnSpc>
                <a:spcPct val="150000"/>
              </a:lnSpc>
              <a:buNone/>
            </a:pPr>
            <a:r>
              <a:rPr lang="en-US" sz="2800" dirty="0">
                <a:latin typeface="+mj-lt"/>
              </a:rPr>
              <a:t>Need Help? Send an email or ask during the tutorial session.</a:t>
            </a:r>
          </a:p>
          <a:p>
            <a:pPr>
              <a:lnSpc>
                <a:spcPct val="150000"/>
              </a:lnSpc>
              <a:buNone/>
            </a:pPr>
            <a:r>
              <a:rPr lang="en-US" sz="2800">
                <a:latin typeface="+mj-lt"/>
              </a:rPr>
              <a:t>FKeivanian</a:t>
            </a:r>
            <a:r>
              <a:rPr lang="en-US" sz="2800" dirty="0">
                <a:latin typeface="+mj-lt"/>
              </a:rPr>
              <a:t>@my.holmes.edu.au</a:t>
            </a:r>
          </a:p>
        </p:txBody>
      </p:sp>
    </p:spTree>
    <p:extLst>
      <p:ext uri="{BB962C8B-B14F-4D97-AF65-F5344CB8AC3E}">
        <p14:creationId xmlns:p14="http://schemas.microsoft.com/office/powerpoint/2010/main" val="2583695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496</TotalTime>
  <Words>2372</Words>
  <Application>Microsoft Office PowerPoint</Application>
  <PresentationFormat>Custom</PresentationFormat>
  <Paragraphs>285</Paragraphs>
  <Slides>48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Arial</vt:lpstr>
      <vt:lpstr>Calibir</vt:lpstr>
      <vt:lpstr>Calibri</vt:lpstr>
      <vt:lpstr>Verdana</vt:lpstr>
      <vt:lpstr>Wingdings</vt:lpstr>
      <vt:lpstr>Office Theme</vt:lpstr>
      <vt:lpstr>PowerPoint Presentation</vt:lpstr>
      <vt:lpstr>PowerPoint Presentation</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Career Opportunities &amp; Certifications for ICT624 Graduates</vt:lpstr>
      <vt:lpstr>PowerPoint Presentation</vt:lpstr>
      <vt:lpstr>PowerPoint Presentation</vt:lpstr>
      <vt:lpstr>PowerPoint Presentation</vt:lpstr>
      <vt:lpstr>PowerPoint Presentation</vt:lpstr>
      <vt:lpstr>Step-by-Step Installation Guide</vt:lpstr>
      <vt:lpstr>PowerPoint Presentation</vt:lpstr>
      <vt:lpstr>Step-by-Step Installation Guide</vt:lpstr>
      <vt:lpstr>Step-by-Step Installation Guide</vt:lpstr>
      <vt:lpstr>Step-by-Step Installation Guide</vt:lpstr>
      <vt:lpstr>Step-by-Step Installation Guide</vt:lpstr>
      <vt:lpstr>Step-by-Step Installation Guide</vt:lpstr>
      <vt:lpstr>Step-by-Step Installation Guide</vt:lpstr>
      <vt:lpstr>Step-by-Step Installation Guide</vt:lpstr>
      <vt:lpstr>Step-by-Step Installation Guide</vt:lpstr>
      <vt:lpstr>Step-by-Step Installation Guide</vt:lpstr>
      <vt:lpstr>Summary Checklist</vt:lpstr>
      <vt:lpstr>Handle Error</vt:lpstr>
      <vt:lpstr>Handle Error</vt:lpstr>
      <vt:lpstr>Update</vt:lpstr>
      <vt:lpstr>Add Jupyter Support</vt:lpstr>
      <vt:lpstr>Extra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Farshid Keivanian</dc:creator>
  <cp:lastModifiedBy>Farshid Keivanian</cp:lastModifiedBy>
  <cp:revision>164</cp:revision>
  <dcterms:created xsi:type="dcterms:W3CDTF">2025-04-05T17:32:34Z</dcterms:created>
  <dcterms:modified xsi:type="dcterms:W3CDTF">2025-08-12T01:42:22Z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2024-05-02T00:00:00Z</vt:filetime>
  </property>
  <property fmtid="{D5CDD505-2E9C-101B-9397-08002B2CF9AE}" pid="3" name="Creator">
    <vt:lpwstr>Microsoft® Word for Microsoft 365</vt:lpwstr>
  </property>
  <property fmtid="{D5CDD505-2E9C-101B-9397-08002B2CF9AE}" pid="4" name="LastSaved">
    <vt:filetime>2025-04-05T00:00:00Z</vt:filetime>
  </property>
  <property fmtid="{D5CDD505-2E9C-101B-9397-08002B2CF9AE}" pid="5" name="Producer">
    <vt:lpwstr>Adobe Acrobat Pro (64-bit) 24.2.20687</vt:lpwstr>
  </property>
</Properties>
</file>