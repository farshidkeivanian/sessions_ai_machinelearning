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media/image4.jp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378" r:id="rId3"/>
    <p:sldId id="1770" r:id="rId4"/>
    <p:sldId id="1771" r:id="rId5"/>
    <p:sldId id="1784" r:id="rId6"/>
    <p:sldId id="1785" r:id="rId7"/>
    <p:sldId id="1772" r:id="rId8"/>
    <p:sldId id="1773" r:id="rId9"/>
    <p:sldId id="1774" r:id="rId10"/>
    <p:sldId id="1775" r:id="rId11"/>
    <p:sldId id="1776" r:id="rId12"/>
    <p:sldId id="1778" r:id="rId13"/>
    <p:sldId id="1777" r:id="rId14"/>
    <p:sldId id="1779" r:id="rId15"/>
    <p:sldId id="1780" r:id="rId16"/>
    <p:sldId id="1781" r:id="rId17"/>
    <p:sldId id="1782" r:id="rId18"/>
    <p:sldId id="1783" r:id="rId19"/>
    <p:sldId id="612" r:id="rId20"/>
  </p:sldIdLst>
  <p:sldSz cx="12192000" cy="10058400"/>
  <p:notesSz cx="121920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15" autoAdjust="0"/>
    <p:restoredTop sz="94660"/>
  </p:normalViewPr>
  <p:slideViewPr>
    <p:cSldViewPr>
      <p:cViewPr>
        <p:scale>
          <a:sx n="66" d="100"/>
          <a:sy n="66" d="100"/>
        </p:scale>
        <p:origin x="369" y="-5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DA5373-6344-4AF6-9BAC-A104016F08E5}" type="datetimeFigureOut">
              <a:rPr lang="en-AU" smtClean="0"/>
              <a:t>5/08/2025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1257300"/>
            <a:ext cx="41148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4840288"/>
            <a:ext cx="975360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5283200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9553575"/>
            <a:ext cx="5283200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97AD3A-C137-495D-BCE3-2058CBCF8E4C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67854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99459" y="77723"/>
            <a:ext cx="4029455" cy="14798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055111" y="1967229"/>
            <a:ext cx="4791075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49224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2023" y="42671"/>
            <a:ext cx="1531620" cy="56235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8/5/2025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99459" y="77723"/>
            <a:ext cx="4029455" cy="14798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8/5/2025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8/5/2025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8739" y="-1396"/>
            <a:ext cx="12034520" cy="391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921502" y="9253759"/>
            <a:ext cx="533400" cy="1879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zure.microsoft.com/en-us/free/students/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l.azure.com/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5A8AFA4-5C32-4100-9C6D-839A47E15F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00584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B5F253-7949-47C2-9DBD-1570ECDA2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799" y="1005839"/>
            <a:ext cx="5421703" cy="804672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C8CCC5-7719-5429-9C16-F066E03793F0}"/>
              </a:ext>
            </a:extLst>
          </p:cNvPr>
          <p:cNvSpPr txBox="1"/>
          <p:nvPr/>
        </p:nvSpPr>
        <p:spPr>
          <a:xfrm>
            <a:off x="1668426" y="1840319"/>
            <a:ext cx="3444948" cy="3639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>
                <a:solidFill>
                  <a:srgbClr val="595959"/>
                </a:solidFill>
                <a:latin typeface="+mj-lt"/>
                <a:ea typeface="+mj-ea"/>
                <a:cs typeface="+mj-cs"/>
              </a:rPr>
              <a:t>HI6040 (Artificial Intelligence and Machine Learning)</a:t>
            </a:r>
          </a:p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>
                <a:solidFill>
                  <a:srgbClr val="595959"/>
                </a:solidFill>
                <a:latin typeface="+mj-lt"/>
                <a:ea typeface="+mj-ea"/>
                <a:cs typeface="+mj-cs"/>
              </a:rPr>
              <a:t>Dr. Farshid Keivanian</a:t>
            </a:r>
            <a:endParaRPr lang="en-US" sz="3600" kern="1200">
              <a:solidFill>
                <a:srgbClr val="595959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BA1B80-27DD-FC4B-43BE-F15BBB7F77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8" r="24813" b="1"/>
          <a:stretch>
            <a:fillRect/>
          </a:stretch>
        </p:blipFill>
        <p:spPr>
          <a:xfrm>
            <a:off x="6107503" y="1005838"/>
            <a:ext cx="5410200" cy="804672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1F2FAC8-42AD-DB92-166F-2F42E02C4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747F174-E865-EA2C-9A7B-75ECF3EA7974}"/>
              </a:ext>
            </a:extLst>
          </p:cNvPr>
          <p:cNvSpPr txBox="1"/>
          <p:nvPr/>
        </p:nvSpPr>
        <p:spPr>
          <a:xfrm>
            <a:off x="191211" y="213486"/>
            <a:ext cx="10401300" cy="9977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Getting Started with Python Scripts in Azure Machine Learning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22898743-2B79-D5DF-5AFF-870A1775B58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9C30F892-69B9-E3BA-260C-8084D712AC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D26459-E9EB-FA7D-8B8F-E2F5CD70284A}"/>
              </a:ext>
            </a:extLst>
          </p:cNvPr>
          <p:cNvSpPr txBox="1"/>
          <p:nvPr/>
        </p:nvSpPr>
        <p:spPr>
          <a:xfrm>
            <a:off x="380999" y="1441079"/>
            <a:ext cx="11810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Objective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Students will run their first Python scripts in the cloud using Azure Machine Learning. The focus is not on building a model but on understanding </a:t>
            </a:r>
            <a:r>
              <a:rPr lang="en-US" sz="2800" dirty="0" err="1">
                <a:latin typeface="+mj-lt"/>
              </a:rPr>
              <a:t>AzureML's</a:t>
            </a:r>
            <a:r>
              <a:rPr lang="en-US" sz="2800" dirty="0">
                <a:latin typeface="+mj-lt"/>
              </a:rPr>
              <a:t> interface, compute setup, and script execution.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If </a:t>
            </a:r>
            <a:r>
              <a:rPr lang="en-US" sz="2800" dirty="0" err="1">
                <a:latin typeface="+mj-lt"/>
              </a:rPr>
              <a:t>AzureML</a:t>
            </a:r>
            <a:r>
              <a:rPr lang="en-US" sz="2800" dirty="0">
                <a:latin typeface="+mj-lt"/>
              </a:rPr>
              <a:t> is not working, Anaconda (for beginners) and VS Code (for those with some background) are alternative options.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Your Password to connect </a:t>
            </a:r>
            <a:r>
              <a:rPr lang="en-US" sz="2800" dirty="0" err="1">
                <a:latin typeface="+mj-lt"/>
              </a:rPr>
              <a:t>WiFi</a:t>
            </a:r>
            <a:r>
              <a:rPr lang="en-US" sz="2800" dirty="0">
                <a:latin typeface="+mj-lt"/>
              </a:rPr>
              <a:t> is your </a:t>
            </a:r>
            <a:r>
              <a:rPr lang="en-US" sz="2800" dirty="0">
                <a:highlight>
                  <a:srgbClr val="FFFF00"/>
                </a:highlight>
                <a:latin typeface="+mj-lt"/>
              </a:rPr>
              <a:t>Holmes webmail password</a:t>
            </a:r>
            <a:r>
              <a:rPr lang="en-US" sz="2800" dirty="0">
                <a:latin typeface="+mj-lt"/>
              </a:rPr>
              <a:t>, or </a:t>
            </a:r>
            <a:r>
              <a:rPr lang="en-US" sz="2800" dirty="0" err="1">
                <a:highlight>
                  <a:srgbClr val="FFFF00"/>
                </a:highlight>
                <a:latin typeface="+mj-lt"/>
              </a:rPr>
              <a:t>HiDD</a:t>
            </a:r>
            <a:r>
              <a:rPr lang="en-US" sz="2800" dirty="0">
                <a:highlight>
                  <a:srgbClr val="FFFF00"/>
                </a:highlight>
                <a:latin typeface="+mj-lt"/>
              </a:rPr>
              <a:t>/MM/YYYY</a:t>
            </a:r>
          </a:p>
        </p:txBody>
      </p:sp>
    </p:spTree>
    <p:extLst>
      <p:ext uri="{BB962C8B-B14F-4D97-AF65-F5344CB8AC3E}">
        <p14:creationId xmlns:p14="http://schemas.microsoft.com/office/powerpoint/2010/main" val="2984064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18BC6AC-C087-69BD-D7B6-B951B39CC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3EF61D5-EA58-2B33-19BE-79A7A80C4139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STEP-BY-STEP GUIDE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865C7576-8DA5-56CA-E6E9-F046A7F45ED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82EE3BE6-F5E6-FC2D-9E66-E90B952524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6D254-1577-B532-9E63-3D0546789C2C}"/>
              </a:ext>
            </a:extLst>
          </p:cNvPr>
          <p:cNvSpPr txBox="1"/>
          <p:nvPr/>
        </p:nvSpPr>
        <p:spPr>
          <a:xfrm>
            <a:off x="380999" y="1441079"/>
            <a:ext cx="11810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Step 0: Prerequisites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Make sure you’ve (coordinator/IT team):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Completed the Azure ML Setup (workspace, compute instance, and cluster) </a:t>
            </a:r>
            <a:r>
              <a:rPr lang="en-US" altLang="en-US" sz="2800" dirty="0">
                <a:solidFill>
                  <a:schemeClr val="tx1"/>
                </a:solidFill>
                <a:latin typeface="+mj-lt"/>
                <a:hlinkClick r:id="rId3"/>
              </a:rPr>
              <a:t>https://azure.microsoft.com/en-us/free/students/</a:t>
            </a:r>
            <a:endParaRPr lang="en-US" sz="28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Installed Python 3.6 or 3.7 (required for </a:t>
            </a:r>
            <a:r>
              <a:rPr lang="en-US" sz="2800" dirty="0" err="1">
                <a:latin typeface="+mj-lt"/>
              </a:rPr>
              <a:t>AzureML</a:t>
            </a:r>
            <a:r>
              <a:rPr lang="en-US" sz="2800" dirty="0">
                <a:latin typeface="+mj-lt"/>
              </a:rPr>
              <a:t> compatibility)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Have internet access and your Azure ML login ready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8430BE-F39A-0D80-B3DA-3EBE250CBA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252" t="-2643" r="27501" b="16834"/>
          <a:stretch>
            <a:fillRect/>
          </a:stretch>
        </p:blipFill>
        <p:spPr>
          <a:xfrm>
            <a:off x="6485211" y="5349499"/>
            <a:ext cx="5706787" cy="457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60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86D525C-4953-7F8D-FC28-F240C4580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8153262-F365-A5BA-B644-64C1FC86D059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STEP-BY-STEP GUIDE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7534A1F2-84E6-2A59-0457-C8070948806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5330B196-B14E-F0D9-5F24-F4A9A10B68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25B3EE-F62A-1E9B-09B4-04E877B011DF}"/>
              </a:ext>
            </a:extLst>
          </p:cNvPr>
          <p:cNvSpPr txBox="1"/>
          <p:nvPr/>
        </p:nvSpPr>
        <p:spPr>
          <a:xfrm>
            <a:off x="378542" y="902742"/>
            <a:ext cx="11810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Step 1: Login and Setup Folders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Log in to: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hlinkClick r:id="rId3"/>
              </a:rPr>
              <a:t>https://ml.azure.com/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|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Select your workspace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On the left panel, click Notebooks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Click the + sign → Create new folder → name it: get-started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Click ... next to get-started → Create subfolder → name it: 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src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C7D31A3-5C5C-340D-F872-01A0658677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333"/>
          <a:stretch>
            <a:fillRect/>
          </a:stretch>
        </p:blipFill>
        <p:spPr>
          <a:xfrm>
            <a:off x="1257300" y="5374080"/>
            <a:ext cx="9677400" cy="4717733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28E3175-DB8D-AE12-7CBF-919697E03ECA}"/>
              </a:ext>
            </a:extLst>
          </p:cNvPr>
          <p:cNvSpPr/>
          <p:nvPr/>
        </p:nvSpPr>
        <p:spPr>
          <a:xfrm>
            <a:off x="2895600" y="9067800"/>
            <a:ext cx="1752600" cy="3810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75832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976A87A-9877-30E1-077D-16D55CACC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1306051-8F5A-7B88-DCC4-DC2B22834161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STEP-BY-STEP GUIDE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AA4DDC06-60E4-FCA5-8EB2-957C5B96503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8B01ADE3-F845-46B2-10B2-C9EDDC0EB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EF836C-FE5B-A7A4-3C86-36024C7466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666"/>
          <a:stretch>
            <a:fillRect/>
          </a:stretch>
        </p:blipFill>
        <p:spPr>
          <a:xfrm>
            <a:off x="0" y="160020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000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6451E8E-8D20-49D9-DF87-72C4A4AEA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A1D2646-8586-9819-C3CF-95A73CD4EED4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STEP-BY-STEP GUIDE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5AF9D4EE-A744-5DEF-E377-1C60C1678DC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3B7EED69-15B7-53C3-254C-47EEB08FA3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994035-B9A9-2816-A0A9-5179016301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666"/>
          <a:stretch>
            <a:fillRect/>
          </a:stretch>
        </p:blipFill>
        <p:spPr>
          <a:xfrm>
            <a:off x="24581" y="2115438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203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04DBB24-B6B6-1E33-CBA1-38E52BC02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0C4624E-27DD-4047-A9D6-F34F27EADAC2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STEP-BY-STEP GUIDE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3E3E038C-C3A1-56CE-F2BE-A4F78FD9E91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7B1A0241-092A-E311-0CC5-B6E57464BA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7047A1-60C7-81DB-F040-34E2FE4B6F7B}"/>
              </a:ext>
            </a:extLst>
          </p:cNvPr>
          <p:cNvSpPr txBox="1"/>
          <p:nvPr/>
        </p:nvSpPr>
        <p:spPr>
          <a:xfrm>
            <a:off x="380999" y="1441079"/>
            <a:ext cx="1181099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Step 2: Write First Python Script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Click ... next to 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src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→ Create new file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Name it: hello.py and select type: Python (.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py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)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Write this code: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0A47A3-B436-60ED-662B-A0FF1FA12869}"/>
              </a:ext>
            </a:extLst>
          </p:cNvPr>
          <p:cNvSpPr txBox="1"/>
          <p:nvPr/>
        </p:nvSpPr>
        <p:spPr>
          <a:xfrm>
            <a:off x="380999" y="4538894"/>
            <a:ext cx="6126480" cy="9541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src/hello.py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 world!"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47940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CBAD75A-E52C-DF53-0CEE-2630206F8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82EE5FA-868C-5D1D-3A2A-E0E02492CBD0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STEP-BY-STEP GUIDE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68ACB8D0-F60B-8D6F-86FE-0A98D05587A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DEC52280-9FEF-B17C-A4E4-EC2483FD6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348E2B-578A-C48A-0977-1F1C117C294A}"/>
              </a:ext>
            </a:extLst>
          </p:cNvPr>
          <p:cNvSpPr txBox="1"/>
          <p:nvPr/>
        </p:nvSpPr>
        <p:spPr>
          <a:xfrm>
            <a:off x="380999" y="1441079"/>
            <a:ext cx="11810999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 startAt="4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Save and run it using: "Save and run script in terminal"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 startAt="5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You should see Hello world! printed in the terminal.</a:t>
            </a:r>
          </a:p>
        </p:txBody>
      </p:sp>
    </p:spTree>
    <p:extLst>
      <p:ext uri="{BB962C8B-B14F-4D97-AF65-F5344CB8AC3E}">
        <p14:creationId xmlns:p14="http://schemas.microsoft.com/office/powerpoint/2010/main" val="635897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B65550C-3451-A637-1899-739B8802B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F289B1F-7441-8DDF-AE78-F9BB09CD37B6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STEP-BY-STEP GUIDE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8E8CB570-16FB-71E2-68C2-6417F8D2BF0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97BFF69E-C427-6786-20C7-CEB68DD83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CCB46-934D-B4EC-D130-18C5FCA6522A}"/>
              </a:ext>
            </a:extLst>
          </p:cNvPr>
          <p:cNvSpPr txBox="1"/>
          <p:nvPr/>
        </p:nvSpPr>
        <p:spPr>
          <a:xfrm>
            <a:off x="380999" y="1441079"/>
            <a:ext cx="1181099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Step 3: Create the Control Script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This will run your script in the cloud (not just on your compute instance).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Click ... next to get-started → Create new file</a:t>
            </a:r>
            <a:b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Name it: run-hello.py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Write the following: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20B1BD-6928-250F-9DD9-E60B65F950CE}"/>
              </a:ext>
            </a:extLst>
          </p:cNvPr>
          <p:cNvSpPr txBox="1"/>
          <p:nvPr/>
        </p:nvSpPr>
        <p:spPr>
          <a:xfrm>
            <a:off x="0" y="4974160"/>
            <a:ext cx="12192000" cy="415498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azureml.core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Workspace, Experiment, Environment,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ScriptRunConfig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Workspace.from_config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experiment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Experiment(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workspace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'day1-experiment-hello'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b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ScriptRunConfig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source_directory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'./</a:t>
            </a:r>
            <a:r>
              <a:rPr lang="en-US" sz="2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2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script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'hello.py'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compute_target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cpu</a:t>
            </a:r>
            <a:r>
              <a:rPr lang="en-US" sz="2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-cluster'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b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experiment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.submit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aml_url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.get_portal_url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sz="2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aml_url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DB5B23AB-E3D8-DE69-1116-E4FAD1A14E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321694"/>
            <a:ext cx="970009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Note: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Replace '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cpu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-cluster' if you named your cluster differently. </a:t>
            </a:r>
          </a:p>
        </p:txBody>
      </p:sp>
    </p:spTree>
    <p:extLst>
      <p:ext uri="{BB962C8B-B14F-4D97-AF65-F5344CB8AC3E}">
        <p14:creationId xmlns:p14="http://schemas.microsoft.com/office/powerpoint/2010/main" val="1884887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9EF2100-FA2B-ED9D-5C5D-00D57BAF8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612B619-9202-D655-17FD-1C257123ECB3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STEP-BY-STEP GUIDE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B006C3C0-40A9-6248-FA52-E83F853E085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661FAA19-027E-00E5-FC70-D559CFDEDB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C26088-55D6-83AF-8A64-429F6983D16F}"/>
              </a:ext>
            </a:extLst>
          </p:cNvPr>
          <p:cNvSpPr txBox="1"/>
          <p:nvPr/>
        </p:nvSpPr>
        <p:spPr>
          <a:xfrm>
            <a:off x="380999" y="1441079"/>
            <a:ext cx="11810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Step 4: Run the Control Script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Click on run-hello.py → Save and run script in terminal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It may ask you to authenticate:</a:t>
            </a:r>
          </a:p>
          <a:p>
            <a:pPr marL="914400" marR="0" lvl="1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Copy the URL and code shown.</a:t>
            </a:r>
          </a:p>
          <a:p>
            <a:pPr marL="914400" marR="0" lvl="1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Paste into your browser and complete sign-in.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Once authenticated, a URL will be printed in the terminal → Click it to monitor your script in Azure ML Studio.</a:t>
            </a:r>
          </a:p>
        </p:txBody>
      </p:sp>
    </p:spTree>
    <p:extLst>
      <p:ext uri="{BB962C8B-B14F-4D97-AF65-F5344CB8AC3E}">
        <p14:creationId xmlns:p14="http://schemas.microsoft.com/office/powerpoint/2010/main" val="37075009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31A658A-F1B1-43F2-24E1-840E7F94B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D52F429-BD2E-F7EC-DC8E-1E3C267C01DF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STEP-BY-STEP GUIDE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2CBC315B-32E6-A2BC-4329-3C2366A3EDB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E766B482-4BD5-3E7A-956E-3AC7982023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1715F2-0CEE-EC8A-B147-5D5F5B0208E7}"/>
              </a:ext>
            </a:extLst>
          </p:cNvPr>
          <p:cNvSpPr txBox="1"/>
          <p:nvPr/>
        </p:nvSpPr>
        <p:spPr>
          <a:xfrm>
            <a:off x="380999" y="1441079"/>
            <a:ext cx="1181099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Step 5: View Output Logs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On the experiment run page, wait for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status: Completed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Click on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"Outputs + logs"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Open std_log.txt → You’ll see: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3FB4AD-E9AA-6831-24D3-617DFE8B5154}"/>
              </a:ext>
            </a:extLst>
          </p:cNvPr>
          <p:cNvSpPr txBox="1"/>
          <p:nvPr/>
        </p:nvSpPr>
        <p:spPr>
          <a:xfrm>
            <a:off x="396239" y="4281508"/>
            <a:ext cx="61264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+mj-lt"/>
              </a:rPr>
              <a:t>Hello world!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A2E558-E65A-04B9-0CF8-260DF4C90B00}"/>
              </a:ext>
            </a:extLst>
          </p:cNvPr>
          <p:cNvSpPr txBox="1"/>
          <p:nvPr/>
        </p:nvSpPr>
        <p:spPr>
          <a:xfrm>
            <a:off x="396239" y="5253673"/>
            <a:ext cx="101962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+mj-lt"/>
              </a:rPr>
              <a:t>This confirms your cloud script executed successfully!</a:t>
            </a:r>
            <a:endParaRPr lang="en-AU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617865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EE8A197-68FE-DA4A-806D-BD50D88EC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B548A34-D5B3-14D1-D8CC-2E3347F5C723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Optional Exercises (Extended Practice)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6371B6C7-F500-A0F2-552A-CC43FA5B96D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D7FA5C5A-9DB9-B9DD-8995-F9175ED2B0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5D7B2B-81AA-202A-7E76-70B8C8351F81}"/>
              </a:ext>
            </a:extLst>
          </p:cNvPr>
          <p:cNvSpPr txBox="1"/>
          <p:nvPr/>
        </p:nvSpPr>
        <p:spPr>
          <a:xfrm>
            <a:off x="380999" y="1441079"/>
            <a:ext cx="11810999" cy="1961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Examples for Students to Try: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(Replace the code in src/hello.py each time)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1. Area of a Triangle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D08892-85F0-083F-E6A7-3A559F0BD54F}"/>
              </a:ext>
            </a:extLst>
          </p:cNvPr>
          <p:cNvSpPr txBox="1"/>
          <p:nvPr/>
        </p:nvSpPr>
        <p:spPr>
          <a:xfrm>
            <a:off x="609600" y="3733800"/>
            <a:ext cx="11582398" cy="267765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'The area of the triangle is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%0.2f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524915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060C288-6817-7FD1-F309-4141A97A9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E25B1A3-753C-938D-EB3D-ADF064487528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/>
              <a:t>Optional Exercises (Extended Practice)</a:t>
            </a:r>
            <a:endParaRPr lang="en-US" sz="3200" b="1" dirty="0"/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4A79E8C9-A1D1-32A8-CD15-33A784F500D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B735CE83-48D0-444C-E12B-4B6519C004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64C584-CD00-B824-2AF7-75576F923935}"/>
              </a:ext>
            </a:extLst>
          </p:cNvPr>
          <p:cNvSpPr txBox="1"/>
          <p:nvPr/>
        </p:nvSpPr>
        <p:spPr>
          <a:xfrm>
            <a:off x="380999" y="1441079"/>
            <a:ext cx="11810999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b="1">
                <a:latin typeface="+mj-lt"/>
              </a:rPr>
              <a:t>2. Check Positive/Negative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93669B-9D1C-74CC-67A5-3197CDDE14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625" t="33333" r="28750" b="37778"/>
          <a:stretch>
            <a:fillRect/>
          </a:stretch>
        </p:blipFill>
        <p:spPr>
          <a:xfrm>
            <a:off x="508358" y="2624278"/>
            <a:ext cx="11175284" cy="3980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9409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16A4AEA-6020-1A8C-D237-14B0431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9D2F149-C60F-47F3-C9B7-56F1401ABF1B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Optional Exercises (Extended Practice)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B860B097-0915-9CFD-BF6A-35E35B8E346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A399F0BA-27BC-0E0C-9286-1566F0F648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2D717C-CB87-256B-3702-A2A0825EBB07}"/>
              </a:ext>
            </a:extLst>
          </p:cNvPr>
          <p:cNvSpPr txBox="1"/>
          <p:nvPr/>
        </p:nvSpPr>
        <p:spPr>
          <a:xfrm>
            <a:off x="380999" y="1441079"/>
            <a:ext cx="11810999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b="1" dirty="0">
                <a:latin typeface="+mj-lt"/>
              </a:rPr>
              <a:t>3. Largest of Three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AB366A0-8603-8A62-AE4E-6AB83B83F5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250" t="34444" r="29375" b="30000"/>
          <a:stretch>
            <a:fillRect/>
          </a:stretch>
        </p:blipFill>
        <p:spPr>
          <a:xfrm>
            <a:off x="762000" y="2494288"/>
            <a:ext cx="10668000" cy="3923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3247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3CE5654-55A7-0F0A-3A1D-8C56C641D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E8817B0-99C8-732A-44B8-6EDCFC1E8D3A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Optional Exercises (Extended Practice)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CB50BA46-5A00-4C8B-425F-301BA5997FB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A010CFF3-15A1-C7B1-FF89-029AA736B2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1D7B07-A344-CFEB-EA42-C6C79804E0D0}"/>
              </a:ext>
            </a:extLst>
          </p:cNvPr>
          <p:cNvSpPr txBox="1"/>
          <p:nvPr/>
        </p:nvSpPr>
        <p:spPr>
          <a:xfrm>
            <a:off x="380999" y="1441079"/>
            <a:ext cx="11810999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b="1" dirty="0">
                <a:latin typeface="+mj-lt"/>
              </a:rPr>
              <a:t>4. Prime Numbers in a Range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1C2EC07-8739-6146-98C1-BFBC0FCF2A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250" t="32222" r="30625" b="27778"/>
          <a:stretch>
            <a:fillRect/>
          </a:stretch>
        </p:blipFill>
        <p:spPr>
          <a:xfrm>
            <a:off x="1418167" y="2886681"/>
            <a:ext cx="9355666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5527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FEDB984-A510-7ABB-CE31-59A7F93A4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10EE289-7F4E-38B3-4F18-460465D28F78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Optional Exercises (Extended Practice)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4BA36873-0306-EE36-FA37-954ADBB79B6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F5327262-774E-70C1-AD56-ED4EFC5520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B805C4-857C-A8DD-E24A-0AEEBBF30967}"/>
              </a:ext>
            </a:extLst>
          </p:cNvPr>
          <p:cNvSpPr txBox="1"/>
          <p:nvPr/>
        </p:nvSpPr>
        <p:spPr>
          <a:xfrm>
            <a:off x="380999" y="1441079"/>
            <a:ext cx="11810999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b="1" dirty="0">
                <a:latin typeface="+mj-lt"/>
              </a:rPr>
              <a:t>5. Accessing Index of List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140742-6D7C-18D5-A145-FB38F163B2A5}"/>
              </a:ext>
            </a:extLst>
          </p:cNvPr>
          <p:cNvSpPr txBox="1"/>
          <p:nvPr/>
        </p:nvSpPr>
        <p:spPr>
          <a:xfrm>
            <a:off x="533400" y="4998720"/>
            <a:ext cx="859536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And so on for the other examples from tutorial material on the blackboard</a:t>
            </a:r>
            <a:endParaRPr lang="en-AU" sz="2800" dirty="0">
              <a:latin typeface="+mj-l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1AF4D4-D6FE-B5DD-A98E-6211B59DAF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876" t="33333" r="43124" b="50445"/>
          <a:stretch>
            <a:fillRect/>
          </a:stretch>
        </p:blipFill>
        <p:spPr>
          <a:xfrm>
            <a:off x="640080" y="2648471"/>
            <a:ext cx="8382000" cy="1912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645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64960D8-7E7E-2A56-C8FA-B1AAA1060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D58BF7A-A235-1AD3-587D-ED4C7E407B23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Optional Exercises (Extended Practice)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A059825B-68AE-B7A5-0369-774097D795A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5D485005-4D63-CCF3-92C4-38153AA06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9F2CB07-AA23-428B-3D13-FC989653A1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1137346"/>
              </p:ext>
            </p:extLst>
          </p:nvPr>
        </p:nvGraphicFramePr>
        <p:xfrm>
          <a:off x="609600" y="3133200"/>
          <a:ext cx="10972800" cy="3992118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335105987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11419102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Task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Status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133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Setup folders and script in Azure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Done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55842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Run basic Python script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Done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5702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Submit via control script to cloud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Done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8632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View outputs/logs on Azure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Done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2910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Practice with new Python 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Keep Going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6138205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1386BAC9-9BAD-6439-A622-6E7BE1D1D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40" y="1426781"/>
            <a:ext cx="160653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4262863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A0F731D-4F39-3F9E-E0D9-36400A84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CAA454D-CC9C-5102-D9AA-70BF6026DD5E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Final Tip for Students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54614C27-8464-322D-A44D-0C8F608DFE7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6EF1C3CE-DBC8-7265-AB52-0DC5ECC81B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1C73ED2E-2BD9-BDB8-4F50-446F0CFFCB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901952"/>
            <a:ext cx="10401301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If the script runs successfully and shows output in the std_log.txt file on Azure ML Studio, you're on the right path. Each script you run will build your confidence working with cloud-based ML environments. </a:t>
            </a:r>
          </a:p>
        </p:txBody>
      </p:sp>
    </p:spTree>
    <p:extLst>
      <p:ext uri="{BB962C8B-B14F-4D97-AF65-F5344CB8AC3E}">
        <p14:creationId xmlns:p14="http://schemas.microsoft.com/office/powerpoint/2010/main" val="5867596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8CDC9-A7F0-B9E3-E9E4-516B6197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D91AB5A2-B21D-66A0-4528-C2C55210EBB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EF6D16-E124-24B9-1D4B-698CF1363FA5}"/>
              </a:ext>
            </a:extLst>
          </p:cNvPr>
          <p:cNvSpPr txBox="1"/>
          <p:nvPr/>
        </p:nvSpPr>
        <p:spPr>
          <a:xfrm>
            <a:off x="0" y="0"/>
            <a:ext cx="118871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Thank You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2B71991-9C10-2CDD-0295-065A9579E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550CBBC-F537-AFEC-634C-56C9DAB146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23996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5037F8A-312A-5706-B9D4-BD56C9AD7D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56063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163D227C-1D36-DEFE-C2F8-3CA3D97D92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6066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E1BCA2-620C-3559-3A80-9228DA241173}"/>
              </a:ext>
            </a:extLst>
          </p:cNvPr>
          <p:cNvSpPr txBox="1"/>
          <p:nvPr/>
        </p:nvSpPr>
        <p:spPr>
          <a:xfrm>
            <a:off x="609600" y="2441246"/>
            <a:ext cx="109728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Need Help with coding? Send an email during the tutorial session.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FKeivanian@my.holmes.edu.au</a:t>
            </a:r>
          </a:p>
        </p:txBody>
      </p:sp>
    </p:spTree>
    <p:extLst>
      <p:ext uri="{BB962C8B-B14F-4D97-AF65-F5344CB8AC3E}">
        <p14:creationId xmlns:p14="http://schemas.microsoft.com/office/powerpoint/2010/main" val="2583695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565</TotalTime>
  <Words>804</Words>
  <Application>Microsoft Office PowerPoint</Application>
  <PresentationFormat>Custom</PresentationFormat>
  <Paragraphs>99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Consolas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Farshid Keivanian</dc:creator>
  <cp:lastModifiedBy>Farshid Keivanian</cp:lastModifiedBy>
  <cp:revision>189</cp:revision>
  <dcterms:created xsi:type="dcterms:W3CDTF">2025-04-05T17:32:34Z</dcterms:created>
  <dcterms:modified xsi:type="dcterms:W3CDTF">2025-08-05T02:18:54Z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2024-05-02T00:00:00Z</vt:filetime>
  </property>
  <property fmtid="{D5CDD505-2E9C-101B-9397-08002B2CF9AE}" pid="3" name="Creator">
    <vt:lpwstr>Microsoft® Word for Microsoft 365</vt:lpwstr>
  </property>
  <property fmtid="{D5CDD505-2E9C-101B-9397-08002B2CF9AE}" pid="4" name="LastSaved">
    <vt:filetime>2025-04-05T00:00:00Z</vt:filetime>
  </property>
  <property fmtid="{D5CDD505-2E9C-101B-9397-08002B2CF9AE}" pid="5" name="Producer">
    <vt:lpwstr>Adobe Acrobat Pro (64-bit) 24.2.20687</vt:lpwstr>
  </property>
</Properties>
</file>