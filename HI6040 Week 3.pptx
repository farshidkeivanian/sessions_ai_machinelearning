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media/image4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378" r:id="rId3"/>
    <p:sldId id="1770" r:id="rId4"/>
    <p:sldId id="1771" r:id="rId5"/>
    <p:sldId id="1784" r:id="rId6"/>
    <p:sldId id="1785" r:id="rId7"/>
    <p:sldId id="1772" r:id="rId8"/>
    <p:sldId id="1773" r:id="rId9"/>
    <p:sldId id="1774" r:id="rId10"/>
    <p:sldId id="1775" r:id="rId11"/>
    <p:sldId id="1776" r:id="rId12"/>
    <p:sldId id="1778" r:id="rId13"/>
    <p:sldId id="1777" r:id="rId14"/>
    <p:sldId id="1779" r:id="rId15"/>
    <p:sldId id="1780" r:id="rId16"/>
    <p:sldId id="1781" r:id="rId17"/>
    <p:sldId id="1782" r:id="rId18"/>
    <p:sldId id="1783" r:id="rId19"/>
    <p:sldId id="612" r:id="rId20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>
        <p:scale>
          <a:sx n="50" d="100"/>
          <a:sy n="50" d="100"/>
        </p:scale>
        <p:origin x="1908" y="-5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DA5373-6344-4AF6-9BAC-A104016F08E5}" type="datetimeFigureOut">
              <a:rPr lang="en-AU" smtClean="0"/>
              <a:t>5/08/2025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1257300"/>
            <a:ext cx="41148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4840288"/>
            <a:ext cx="975360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7AD3A-C137-495D-BCE3-2058CBCF8E4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7854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en-us/free/students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l.azure.com/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5A8AFA4-5C32-4100-9C6D-839A47E15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0058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B5F253-7949-47C2-9DBD-1570ECDA2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1005839"/>
            <a:ext cx="5421703" cy="804672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1668426" y="1840319"/>
            <a:ext cx="3444948" cy="3639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HI6040 (Artificial Intelligence and Machine Learning)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Dr. Farshid Keivanian</a:t>
            </a:r>
            <a:endParaRPr lang="en-US" sz="3600" kern="1200">
              <a:solidFill>
                <a:srgbClr val="595959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BA1B80-27DD-FC4B-43BE-F15BBB7F7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8" r="24813" b="1"/>
          <a:stretch>
            <a:fillRect/>
          </a:stretch>
        </p:blipFill>
        <p:spPr>
          <a:xfrm>
            <a:off x="6107503" y="1005838"/>
            <a:ext cx="5410200" cy="80467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F2FAC8-42AD-DB92-166F-2F42E02C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47F174-E865-EA2C-9A7B-75ECF3EA7974}"/>
              </a:ext>
            </a:extLst>
          </p:cNvPr>
          <p:cNvSpPr txBox="1"/>
          <p:nvPr/>
        </p:nvSpPr>
        <p:spPr>
          <a:xfrm>
            <a:off x="191211" y="213486"/>
            <a:ext cx="1040130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Getting Started with Python Scripts in Azure Machine Learning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2898743-2B79-D5DF-5AFF-870A1775B5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C30F892-69B9-E3BA-260C-8084D712A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26459-E9EB-FA7D-8B8F-E2F5CD70284A}"/>
              </a:ext>
            </a:extLst>
          </p:cNvPr>
          <p:cNvSpPr txBox="1"/>
          <p:nvPr/>
        </p:nvSpPr>
        <p:spPr>
          <a:xfrm>
            <a:off x="380999" y="1441079"/>
            <a:ext cx="11810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Students will run their first Python scripts in the cloud using Azure Machine Learning. The focus is not on building a model but on understanding </a:t>
            </a:r>
            <a:r>
              <a:rPr lang="en-US" sz="2800" dirty="0" err="1">
                <a:latin typeface="+mj-lt"/>
              </a:rPr>
              <a:t>AzureML's</a:t>
            </a:r>
            <a:r>
              <a:rPr lang="en-US" sz="2800" dirty="0">
                <a:latin typeface="+mj-lt"/>
              </a:rPr>
              <a:t> interface, compute setup, and script execution.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If </a:t>
            </a:r>
            <a:r>
              <a:rPr lang="en-US" sz="2800" dirty="0" err="1">
                <a:latin typeface="+mj-lt"/>
              </a:rPr>
              <a:t>AzureML</a:t>
            </a:r>
            <a:r>
              <a:rPr lang="en-US" sz="2800" dirty="0">
                <a:latin typeface="+mj-lt"/>
              </a:rPr>
              <a:t> is not working, Anaconda (for beginners) and VS Code (for those with some background) are alternative options.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Your Password to connect </a:t>
            </a:r>
            <a:r>
              <a:rPr lang="en-US" sz="2800" dirty="0" err="1">
                <a:latin typeface="+mj-lt"/>
              </a:rPr>
              <a:t>WiFi</a:t>
            </a:r>
            <a:r>
              <a:rPr lang="en-US" sz="2800" dirty="0">
                <a:latin typeface="+mj-lt"/>
              </a:rPr>
              <a:t> is your </a:t>
            </a:r>
            <a:r>
              <a:rPr lang="en-US" sz="2800" dirty="0">
                <a:highlight>
                  <a:srgbClr val="FFFF00"/>
                </a:highlight>
                <a:latin typeface="+mj-lt"/>
              </a:rPr>
              <a:t>Holmes webmail password</a:t>
            </a:r>
            <a:r>
              <a:rPr lang="en-US" sz="2800" dirty="0">
                <a:latin typeface="+mj-lt"/>
              </a:rPr>
              <a:t>, or </a:t>
            </a:r>
            <a:r>
              <a:rPr lang="en-US" sz="2800" dirty="0" err="1">
                <a:highlight>
                  <a:srgbClr val="FFFF00"/>
                </a:highlight>
                <a:latin typeface="+mj-lt"/>
              </a:rPr>
              <a:t>HiDD</a:t>
            </a:r>
            <a:r>
              <a:rPr lang="en-US" sz="2800" dirty="0">
                <a:highlight>
                  <a:srgbClr val="FFFF00"/>
                </a:highlight>
                <a:latin typeface="+mj-lt"/>
              </a:rPr>
              <a:t>/MM/YYYY</a:t>
            </a:r>
          </a:p>
        </p:txBody>
      </p:sp>
    </p:spTree>
    <p:extLst>
      <p:ext uri="{BB962C8B-B14F-4D97-AF65-F5344CB8AC3E}">
        <p14:creationId xmlns:p14="http://schemas.microsoft.com/office/powerpoint/2010/main" val="298406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18BC6AC-C087-69BD-D7B6-B951B39C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3EF61D5-EA58-2B33-19BE-79A7A80C4139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65C7576-8DA5-56CA-E6E9-F046A7F45ED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2EE3BE6-F5E6-FC2D-9E66-E90B95252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6D254-1577-B532-9E63-3D0546789C2C}"/>
              </a:ext>
            </a:extLst>
          </p:cNvPr>
          <p:cNvSpPr txBox="1"/>
          <p:nvPr/>
        </p:nvSpPr>
        <p:spPr>
          <a:xfrm>
            <a:off x="380999" y="1441079"/>
            <a:ext cx="11810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0: Prerequisites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Make sure you’ve (coordinator/IT team):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Completed the Azure ML Setup (workspace, compute instance, and cluster) </a:t>
            </a:r>
            <a:r>
              <a:rPr lang="en-US" altLang="en-US" sz="2800" dirty="0">
                <a:solidFill>
                  <a:schemeClr val="tx1"/>
                </a:solidFill>
                <a:latin typeface="+mj-lt"/>
                <a:hlinkClick r:id="rId3"/>
              </a:rPr>
              <a:t>https://azure.microsoft.com/en-us/free/students/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Installed Python 3.6 or 3.7 (required for </a:t>
            </a:r>
            <a:r>
              <a:rPr lang="en-US" sz="2800" dirty="0" err="1">
                <a:latin typeface="+mj-lt"/>
              </a:rPr>
              <a:t>AzureML</a:t>
            </a:r>
            <a:r>
              <a:rPr lang="en-US" sz="2800" dirty="0">
                <a:latin typeface="+mj-lt"/>
              </a:rPr>
              <a:t> compatibility)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Have internet access and your Azure ML login ready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8430BE-F39A-0D80-B3DA-3EBE250CBA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52" t="-2643" r="27501" b="16834"/>
          <a:stretch>
            <a:fillRect/>
          </a:stretch>
        </p:blipFill>
        <p:spPr>
          <a:xfrm>
            <a:off x="6485211" y="5349499"/>
            <a:ext cx="5706787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60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86D525C-4953-7F8D-FC28-F240C4580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8153262-F365-A5BA-B644-64C1FC86D059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534A1F2-84E6-2A59-0457-C8070948806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330B196-B14E-F0D9-5F24-F4A9A10B6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5B3EE-F62A-1E9B-09B4-04E877B011DF}"/>
              </a:ext>
            </a:extLst>
          </p:cNvPr>
          <p:cNvSpPr txBox="1"/>
          <p:nvPr/>
        </p:nvSpPr>
        <p:spPr>
          <a:xfrm>
            <a:off x="378542" y="902742"/>
            <a:ext cx="11810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1: Login and Setup Folders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Log in to: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hlinkClick r:id="rId3"/>
              </a:rPr>
              <a:t>https://ml.azure.com/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|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 your workspace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 the left panel, click Notebooks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the + sign → Create new folder → name it: get-started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get-started → Create subfolder → name it: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src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31A3-5C5C-340D-F872-01A0658677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333"/>
          <a:stretch>
            <a:fillRect/>
          </a:stretch>
        </p:blipFill>
        <p:spPr>
          <a:xfrm>
            <a:off x="1257300" y="5374080"/>
            <a:ext cx="9677400" cy="4717733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28E3175-DB8D-AE12-7CBF-919697E03ECA}"/>
              </a:ext>
            </a:extLst>
          </p:cNvPr>
          <p:cNvSpPr/>
          <p:nvPr/>
        </p:nvSpPr>
        <p:spPr>
          <a:xfrm>
            <a:off x="2895600" y="9067800"/>
            <a:ext cx="1752600" cy="3810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583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76A87A-9877-30E1-077D-16D55CAC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06051-8F5A-7B88-DCC4-DC2B22834161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A4DDC06-60E4-FCA5-8EB2-957C5B96503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B01ADE3-F845-46B2-10B2-C9EDDC0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EF836C-FE5B-A7A4-3C86-36024C7466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0" y="16002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000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451E8E-8D20-49D9-DF87-72C4A4AE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A1D2646-8586-9819-C3CF-95A73CD4EED4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AF9D4EE-A744-5DEF-E377-1C60C1678DC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3B7EED69-15B7-53C3-254C-47EEB08FA3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994035-B9A9-2816-A0A9-51790163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666"/>
          <a:stretch>
            <a:fillRect/>
          </a:stretch>
        </p:blipFill>
        <p:spPr>
          <a:xfrm>
            <a:off x="24581" y="2115438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203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04DBB24-B6B6-1E33-CBA1-38E52BC0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0C4624E-27DD-4047-A9D6-F34F27EADAC2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E3E038C-C3A1-56CE-F2BE-A4F78FD9E9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B1A0241-092A-E311-0CC5-B6E57464B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7047A1-60C7-81DB-F040-34E2FE4B6F7B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2: Write First Python Script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src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→ Create new file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Name it: hello.py and select type: Python (.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py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Write this code: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0A47A3-B436-60ED-662B-A0FF1FA12869}"/>
              </a:ext>
            </a:extLst>
          </p:cNvPr>
          <p:cNvSpPr txBox="1"/>
          <p:nvPr/>
        </p:nvSpPr>
        <p:spPr>
          <a:xfrm>
            <a:off x="380999" y="4538894"/>
            <a:ext cx="6126480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src/hello.py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world!"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7940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BAD75A-E52C-DF53-0CEE-2630206F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2EE5FA-868C-5D1D-3A2A-E0E02492CBD0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8ACB8D0-F60B-8D6F-86FE-0A98D05587A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EC52280-9FEF-B17C-A4E4-EC2483FD6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48E2B-578A-C48A-0977-1F1C117C294A}"/>
              </a:ext>
            </a:extLst>
          </p:cNvPr>
          <p:cNvSpPr txBox="1"/>
          <p:nvPr/>
        </p:nvSpPr>
        <p:spPr>
          <a:xfrm>
            <a:off x="380999" y="1441079"/>
            <a:ext cx="11810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Save and run it using: "Save and run script in terminal"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5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You should see Hello world! printed in the terminal.</a:t>
            </a:r>
          </a:p>
        </p:txBody>
      </p:sp>
    </p:spTree>
    <p:extLst>
      <p:ext uri="{BB962C8B-B14F-4D97-AF65-F5344CB8AC3E}">
        <p14:creationId xmlns:p14="http://schemas.microsoft.com/office/powerpoint/2010/main" val="635897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B65550C-3451-A637-1899-739B8802B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F289B1F-7441-8DDF-AE78-F9BB09CD37B6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E8CB570-16FB-71E2-68C2-6417F8D2BF0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7BFF69E-C427-6786-20C7-CEB68DD8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CCB46-934D-B4EC-D130-18C5FCA6522A}"/>
              </a:ext>
            </a:extLst>
          </p:cNvPr>
          <p:cNvSpPr txBox="1"/>
          <p:nvPr/>
        </p:nvSpPr>
        <p:spPr>
          <a:xfrm>
            <a:off x="380999" y="1441079"/>
            <a:ext cx="11810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3: Create the Control Script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 will run your script in the cloud (not just on your compute instance).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... next to get-started → Create new file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Name it: run-hello.py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Write the following: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20B1BD-6928-250F-9DD9-E60B65F950CE}"/>
              </a:ext>
            </a:extLst>
          </p:cNvPr>
          <p:cNvSpPr txBox="1"/>
          <p:nvPr/>
        </p:nvSpPr>
        <p:spPr>
          <a:xfrm>
            <a:off x="0" y="4974160"/>
            <a:ext cx="12192000" cy="415498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azureml.core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Workspace, Experiment, Environment,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ScriptRunConfig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Workspace.from_config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Experiment(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workspace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'day1-experiment-hello'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ScriptRunConfig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source_directory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'./</a:t>
            </a:r>
            <a:r>
              <a:rPr lang="en-US" sz="2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script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'hello.py'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compute_target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cpu</a:t>
            </a:r>
            <a:r>
              <a:rPr lang="en-US" sz="2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-cluster'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b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experiment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.submit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.get_portal_url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2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aml_url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B5B23AB-E3D8-DE69-1116-E4FAD1A14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321694"/>
            <a:ext cx="970009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Note: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Replace '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cpu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-cluster' if you named your cluster differently. </a:t>
            </a:r>
          </a:p>
        </p:txBody>
      </p:sp>
    </p:spTree>
    <p:extLst>
      <p:ext uri="{BB962C8B-B14F-4D97-AF65-F5344CB8AC3E}">
        <p14:creationId xmlns:p14="http://schemas.microsoft.com/office/powerpoint/2010/main" val="1884887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EF2100-FA2B-ED9D-5C5D-00D57BAF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612B619-9202-D655-17FD-1C257123ECB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006C3C0-40A9-6248-FA52-E83F853E085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61FAA19-027E-00E5-FC70-D559CFDEDB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26088-55D6-83AF-8A64-429F6983D16F}"/>
              </a:ext>
            </a:extLst>
          </p:cNvPr>
          <p:cNvSpPr txBox="1"/>
          <p:nvPr/>
        </p:nvSpPr>
        <p:spPr>
          <a:xfrm>
            <a:off x="380999" y="1441079"/>
            <a:ext cx="11810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4: Run the Control Script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on run-hello.py → Save and run script in terminal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It may ask you to authenticate: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Copy the URL and code shown.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Paste into your browser and complete sign-in.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Once authenticated, a URL will be printed in the terminal → Click it to monitor your script in Azure ML Studio.</a:t>
            </a:r>
          </a:p>
        </p:txBody>
      </p:sp>
    </p:spTree>
    <p:extLst>
      <p:ext uri="{BB962C8B-B14F-4D97-AF65-F5344CB8AC3E}">
        <p14:creationId xmlns:p14="http://schemas.microsoft.com/office/powerpoint/2010/main" val="3707500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31A658A-F1B1-43F2-24E1-840E7F94B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52F429-BD2E-F7EC-DC8E-1E3C267C01DF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STEP-BY-STEP GUIDE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CBC315B-32E6-A2BC-4329-3C2366A3EDB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E766B482-4BD5-3E7A-956E-3AC798202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1715F2-0CEE-EC8A-B147-5D5F5B0208E7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Step 5: View Output Logs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On the experiment run page, wait for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status: Completed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Click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"Outputs + logs"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Open std_log.txt → You’ll see: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FB4AD-E9AA-6831-24D3-617DFE8B5154}"/>
              </a:ext>
            </a:extLst>
          </p:cNvPr>
          <p:cNvSpPr txBox="1"/>
          <p:nvPr/>
        </p:nvSpPr>
        <p:spPr>
          <a:xfrm>
            <a:off x="396239" y="4281508"/>
            <a:ext cx="6126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+mj-lt"/>
              </a:rPr>
              <a:t>Hello world!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A2E558-E65A-04B9-0CF8-260DF4C90B00}"/>
              </a:ext>
            </a:extLst>
          </p:cNvPr>
          <p:cNvSpPr txBox="1"/>
          <p:nvPr/>
        </p:nvSpPr>
        <p:spPr>
          <a:xfrm>
            <a:off x="396239" y="5253673"/>
            <a:ext cx="101962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+mj-lt"/>
              </a:rPr>
              <a:t>This confirms your cloud script executed successfully!</a:t>
            </a:r>
            <a:endParaRPr lang="en-AU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1786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E8A197-68FE-DA4A-806D-BD50D88EC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B548A34-D5B3-14D1-D8CC-2E3347F5C72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371B6C7-F500-A0F2-552A-CC43FA5B96D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7FA5C5A-9DB9-B9DD-8995-F9175ED2B0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5D7B2B-81AA-202A-7E76-70B8C8351F81}"/>
              </a:ext>
            </a:extLst>
          </p:cNvPr>
          <p:cNvSpPr txBox="1"/>
          <p:nvPr/>
        </p:nvSpPr>
        <p:spPr>
          <a:xfrm>
            <a:off x="380999" y="1441079"/>
            <a:ext cx="11810999" cy="196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Examples for Students to Try: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(Replace the code in src/hello.py each time)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1. Area of a Triangle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D08892-85F0-083F-E6A7-3A559F0BD54F}"/>
              </a:ext>
            </a:extLst>
          </p:cNvPr>
          <p:cNvSpPr txBox="1"/>
          <p:nvPr/>
        </p:nvSpPr>
        <p:spPr>
          <a:xfrm>
            <a:off x="609600" y="3733800"/>
            <a:ext cx="11582398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'The area of the triangle is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%0.2f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52491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60C288-6817-7FD1-F309-4141A97A9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E25B1A3-753C-938D-EB3D-ADF06448752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A79E8C9-A1D1-32A8-CD15-33A784F500D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735CE83-48D0-444C-E12B-4B6519C00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64C584-CD00-B824-2AF7-75576F923935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2. Check Positive/Negative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2B9C9F-53E2-69C8-199F-0EB27D405AA9}"/>
              </a:ext>
            </a:extLst>
          </p:cNvPr>
          <p:cNvSpPr txBox="1"/>
          <p:nvPr/>
        </p:nvSpPr>
        <p:spPr>
          <a:xfrm>
            <a:off x="457200" y="2590801"/>
            <a:ext cx="8671560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"Positive number"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"Zero"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"Negative number"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73940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16A4AEA-6020-1A8C-D237-14B0431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9D2F149-C60F-47F3-C9B7-56F1401ABF1B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860B097-0915-9CFD-BF6A-35E35B8E346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399F0BA-27BC-0E0C-9286-1566F0F648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D717C-CB87-256B-3702-A2A0825EBB07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3. Largest of Three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A45CE4-D6DC-EDF3-CCC7-D571C125B3A6}"/>
              </a:ext>
            </a:extLst>
          </p:cNvPr>
          <p:cNvSpPr txBox="1"/>
          <p:nvPr/>
        </p:nvSpPr>
        <p:spPr>
          <a:xfrm>
            <a:off x="380999" y="2514600"/>
            <a:ext cx="11810999" cy="440120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pt-BR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largest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num1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num1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pt-BR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num2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num3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largest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num2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largest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num3</a:t>
            </a: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pt-BR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"The largest number is"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largest</a:t>
            </a:r>
            <a:r>
              <a:rPr lang="pt-BR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3324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3CE5654-55A7-0F0A-3A1D-8C56C641D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8817B0-99C8-732A-44B8-6EDCFC1E8D3A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B50BA46-5A00-4C8B-425F-301BA5997FB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010CFF3-15A1-C7B1-FF89-029AA736B2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1D7B07-A344-CFEB-EA42-C6C79804E0D0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4. Prime Numbers in a Range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57A79F-6B34-F32E-8896-089E6DFB6364}"/>
              </a:ext>
            </a:extLst>
          </p:cNvPr>
          <p:cNvSpPr txBox="1"/>
          <p:nvPr/>
        </p:nvSpPr>
        <p:spPr>
          <a:xfrm>
            <a:off x="380999" y="2286000"/>
            <a:ext cx="11506201" cy="483209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900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upper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"Prime numbers between"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"and"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upper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"are:"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lower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upper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7552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EDB984-A510-7ABB-CE31-59A7F93A4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10EE289-7F4E-38B3-4F18-460465D28F7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BA36873-0306-EE36-FA37-954ADBB79B6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5327262-774E-70C1-AD56-ED4EFC5520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B805C4-857C-A8DD-E24A-0AEEBBF30967}"/>
              </a:ext>
            </a:extLst>
          </p:cNvPr>
          <p:cNvSpPr txBox="1"/>
          <p:nvPr/>
        </p:nvSpPr>
        <p:spPr>
          <a:xfrm>
            <a:off x="380999" y="1441079"/>
            <a:ext cx="11810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latin typeface="+mj-lt"/>
              </a:rPr>
              <a:t>5. Accessing Index of List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DE3CC-0857-47DC-01DA-0E5342DB485E}"/>
              </a:ext>
            </a:extLst>
          </p:cNvPr>
          <p:cNvSpPr txBox="1"/>
          <p:nvPr/>
        </p:nvSpPr>
        <p:spPr>
          <a:xfrm>
            <a:off x="533400" y="2438400"/>
            <a:ext cx="8595360" cy="196207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my_list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44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enumerate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my_list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40742-6D7C-18D5-A145-FB38F163B2A5}"/>
              </a:ext>
            </a:extLst>
          </p:cNvPr>
          <p:cNvSpPr txBox="1"/>
          <p:nvPr/>
        </p:nvSpPr>
        <p:spPr>
          <a:xfrm>
            <a:off x="533400" y="4998720"/>
            <a:ext cx="859536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And so on for the other examples from tutorial material on the blackboard</a:t>
            </a:r>
            <a:endParaRPr lang="en-AU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30645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64960D8-7E7E-2A56-C8FA-B1AAA106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D58BF7A-A235-1AD3-587D-ED4C7E407B23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Optional Exercises (Extended Practice)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059825B-68AE-B7A5-0369-774097D795A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D485005-4D63-CCF3-92C4-38153AA0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9F2CB07-AA23-428B-3D13-FC989653A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137346"/>
              </p:ext>
            </p:extLst>
          </p:nvPr>
        </p:nvGraphicFramePr>
        <p:xfrm>
          <a:off x="609600" y="3133200"/>
          <a:ext cx="10972800" cy="3992118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335105987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1419102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133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Setup folders and script in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5584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Run basic Python script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5702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Submit via control script to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632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/>
                        <a:t>View outputs/logs on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Done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2910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Practice with new Python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800" dirty="0"/>
                        <a:t>Keep Going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6138205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1386BAC9-9BAD-6439-A622-6E7BE1D1D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" y="1426781"/>
            <a:ext cx="160653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426286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0F731D-4F39-3F9E-E0D9-36400A84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CAA454D-CC9C-5102-D9AA-70BF6026DD5E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Final Tip for Students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4614C27-8464-322D-A44D-0C8F608DFE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EF1C3CE-DBC8-7265-AB52-0DC5ECC81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73ED2E-2BD9-BDB8-4F50-446F0CFFC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901952"/>
            <a:ext cx="10401301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If the script runs successfully and shows output in the std_log.txt file on Azure ML Studio, you're on the right path. Each script you run will build your confidence working with cloud-based ML environments. </a:t>
            </a:r>
          </a:p>
        </p:txBody>
      </p:sp>
    </p:spTree>
    <p:extLst>
      <p:ext uri="{BB962C8B-B14F-4D97-AF65-F5344CB8AC3E}">
        <p14:creationId xmlns:p14="http://schemas.microsoft.com/office/powerpoint/2010/main" val="586759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109728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 with coding? Send an email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</TotalTime>
  <Words>993</Words>
  <Application>Microsoft Office PowerPoint</Application>
  <PresentationFormat>Custom</PresentationFormat>
  <Paragraphs>129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185</cp:revision>
  <dcterms:created xsi:type="dcterms:W3CDTF">2025-04-05T17:32:34Z</dcterms:created>
  <dcterms:modified xsi:type="dcterms:W3CDTF">2025-08-05T02:00:42Z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