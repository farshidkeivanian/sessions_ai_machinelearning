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378" r:id="rId3"/>
    <p:sldId id="1815" r:id="rId4"/>
    <p:sldId id="1905" r:id="rId5"/>
    <p:sldId id="1906" r:id="rId6"/>
    <p:sldId id="1907" r:id="rId7"/>
    <p:sldId id="1908" r:id="rId8"/>
    <p:sldId id="1909" r:id="rId9"/>
    <p:sldId id="1910" r:id="rId10"/>
    <p:sldId id="1911" r:id="rId11"/>
    <p:sldId id="1912" r:id="rId12"/>
    <p:sldId id="1913" r:id="rId13"/>
    <p:sldId id="1914" r:id="rId14"/>
    <p:sldId id="1915" r:id="rId15"/>
    <p:sldId id="1904" r:id="rId16"/>
    <p:sldId id="1864" r:id="rId17"/>
    <p:sldId id="1854" r:id="rId18"/>
    <p:sldId id="1879" r:id="rId19"/>
    <p:sldId id="1881" r:id="rId20"/>
    <p:sldId id="1882" r:id="rId21"/>
    <p:sldId id="1883" r:id="rId22"/>
    <p:sldId id="1889" r:id="rId23"/>
    <p:sldId id="1885" r:id="rId24"/>
    <p:sldId id="1886" r:id="rId25"/>
    <p:sldId id="1887" r:id="rId26"/>
    <p:sldId id="1888" r:id="rId27"/>
    <p:sldId id="1884" r:id="rId28"/>
    <p:sldId id="1890" r:id="rId29"/>
    <p:sldId id="1891" r:id="rId30"/>
    <p:sldId id="1892" r:id="rId31"/>
    <p:sldId id="1893" r:id="rId32"/>
    <p:sldId id="1894" r:id="rId33"/>
    <p:sldId id="1895" r:id="rId34"/>
    <p:sldId id="1898" r:id="rId35"/>
    <p:sldId id="1896" r:id="rId36"/>
    <p:sldId id="1897" r:id="rId37"/>
    <p:sldId id="1899" r:id="rId38"/>
    <p:sldId id="1900" r:id="rId39"/>
    <p:sldId id="1901" r:id="rId40"/>
    <p:sldId id="1902" r:id="rId41"/>
    <p:sldId id="1903" r:id="rId42"/>
    <p:sldId id="612" r:id="rId43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968" y="4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5373-6344-4AF6-9BAC-A104016F08E5}" type="datetimeFigureOut">
              <a:rPr lang="en-AU" smtClean="0"/>
              <a:t>9/09/2025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1257300"/>
            <a:ext cx="41148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4840288"/>
            <a:ext cx="975360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9553575"/>
            <a:ext cx="5283200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97AD3A-C137-495D-BCE3-2058CBCF8E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7854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lmesedug-my.sharepoint.com/:x:/g/personal/ftohidi_holmes_edu_au/EUrG7OWCVV1IjJgIf-1U-2oB1tVVBNE7djKHIqtFSdsO6g?e=D1iU1q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5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5A8AFA4-5C32-4100-9C6D-839A47E15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00584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5F253-7949-47C2-9DBD-1570ECDA2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799" y="1005839"/>
            <a:ext cx="5421703" cy="8046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914400" y="1840319"/>
            <a:ext cx="4953000" cy="30364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HI6040 (Artificial Intelligence and Machine Learning)</a:t>
            </a: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Dr. Farshid Keivanian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BA1B80-27DD-FC4B-43BE-F15BBB7F7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8" r="24813" b="1"/>
          <a:stretch>
            <a:fillRect/>
          </a:stretch>
        </p:blipFill>
        <p:spPr>
          <a:xfrm>
            <a:off x="6107503" y="1005838"/>
            <a:ext cx="5410200" cy="804672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F26088-CD0B-4B6E-C264-86192CFA8212}"/>
              </a:ext>
            </a:extLst>
          </p:cNvPr>
          <p:cNvSpPr txBox="1"/>
          <p:nvPr/>
        </p:nvSpPr>
        <p:spPr>
          <a:xfrm>
            <a:off x="1828800" y="7010400"/>
            <a:ext cx="3604406" cy="756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rgbClr val="595959"/>
                </a:solidFill>
                <a:latin typeface="+mj-lt"/>
                <a:ea typeface="+mj-ea"/>
                <a:cs typeface="+mj-cs"/>
              </a:rPr>
              <a:t>Tutorial Week 8</a:t>
            </a:r>
            <a:endParaRPr lang="en-US" sz="3600" kern="1200" dirty="0">
              <a:solidFill>
                <a:srgbClr val="595959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1F2FAC8-42AD-DB92-166F-2F42E02C4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47F174-E865-EA2C-9A7B-75ECF3EA797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Outline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2898743-2B79-D5DF-5AFF-870A1775B58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C30F892-69B9-E3BA-260C-8084D712A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26459-E9EB-FA7D-8B8F-E2F5CD70284A}"/>
              </a:ext>
            </a:extLst>
          </p:cNvPr>
          <p:cNvSpPr txBox="1"/>
          <p:nvPr/>
        </p:nvSpPr>
        <p:spPr>
          <a:xfrm>
            <a:off x="185635" y="1025671"/>
            <a:ext cx="11810999" cy="889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Preparation for Individual Assignment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Group Class Facilitation for HI6040-S1-T2.2025 (Sydney Campus)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What Students Should Do in Week 8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Example 1: Clustering the Iris Dataset: K-Means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1: Show the Cluster Centers in K-Means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2: Change the marker/size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3: Show centers for k=4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4: Compare sepal vs petal features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5: Change k and observe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6: Try different features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7: Standardize then cluster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Example 2: Choosing k: Elbow &amp; Silhouette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Example 3: DBSCAN: Clustering by Density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8: Tune eps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9: Compare to K-Means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+mj-lt"/>
              </a:rPr>
              <a:t>Activity 10: Standardization effect</a:t>
            </a:r>
          </a:p>
        </p:txBody>
      </p:sp>
    </p:spTree>
    <p:extLst>
      <p:ext uri="{BB962C8B-B14F-4D97-AF65-F5344CB8AC3E}">
        <p14:creationId xmlns:p14="http://schemas.microsoft.com/office/powerpoint/2010/main" val="2984064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64163D-0BE7-848D-C936-9B4FBB96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322B6-2450-B234-74F1-3103B6C3D03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3F89509-3804-61EC-3CFB-897E66FA43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BC6C920-C9C0-E822-1ABE-55C24989D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E45F0D-7CC3-9922-18C9-BEA6EE83F978}"/>
              </a:ext>
            </a:extLst>
          </p:cNvPr>
          <p:cNvSpPr txBox="1"/>
          <p:nvPr/>
        </p:nvSpPr>
        <p:spPr>
          <a:xfrm>
            <a:off x="380999" y="1441079"/>
            <a:ext cx="11810999" cy="842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1: Understand the Basics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Weight: 50% of your final grade.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Word Limit: 2000 words (±10%).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Due Date:</a:t>
            </a:r>
          </a:p>
          <a:p>
            <a:pPr marL="808038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Gold Coast → 8 October 2025, 10:59 PM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Melbourne &amp; Sydney → 8 October 2025, 11:59 PM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Submission Format: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Microsoft Word only (.docx).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completed Assignment Cover Sheet.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 via Blackboard (desktop/laptop only, not phone/tablet).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 have 3 attempts—only the final submission is marked.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Submissions in PDF or other formats, without cover sheet, or via mobile will not be accepted.</a:t>
            </a:r>
          </a:p>
        </p:txBody>
      </p:sp>
    </p:spTree>
    <p:extLst>
      <p:ext uri="{BB962C8B-B14F-4D97-AF65-F5344CB8AC3E}">
        <p14:creationId xmlns:p14="http://schemas.microsoft.com/office/powerpoint/2010/main" val="2784352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95306A-E634-4FB2-CF3C-F8FA2374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75EECB0-065B-5949-9DCE-6320E5182057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9E08A75-FA83-CD8E-B753-41AA34B8DC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26CD690-278A-F9B1-D158-B84082259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053321-5FE8-AB01-F13F-7D395BBFD39A}"/>
              </a:ext>
            </a:extLst>
          </p:cNvPr>
          <p:cNvSpPr txBox="1"/>
          <p:nvPr/>
        </p:nvSpPr>
        <p:spPr>
          <a:xfrm>
            <a:off x="380999" y="1441079"/>
            <a:ext cx="11810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2: Choose a Topic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Select one from the list (or propose your own with approval). Examples include: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AI in Healthcare Diagnostics (accuracy vs. human oversight)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Generative AI in Content Creation (innovation vs. IP risk)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AI in Agriculture (precision farming &amp; food security)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AI in Recruitment (mitigating algorithmic bias)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AI in Cybersecurity, Supply Chains, Finance, etc.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Choose a topic that you can find strong, relevant examples and literature for.</a:t>
            </a:r>
          </a:p>
        </p:txBody>
      </p:sp>
    </p:spTree>
    <p:extLst>
      <p:ext uri="{BB962C8B-B14F-4D97-AF65-F5344CB8AC3E}">
        <p14:creationId xmlns:p14="http://schemas.microsoft.com/office/powerpoint/2010/main" val="11265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DDDEC4D-F5F9-9668-962A-708126BC6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8E8D57-85F9-792F-37C3-4AC98DB29F6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9617C0E-557D-5BC5-0657-D18ABAA59EA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8BB0A39-26D0-6129-FD52-6866CD513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8EFA3C-6AE7-1535-57C2-2BDE60FC69F4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3: Structure Your Report (2000 words)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1. Introduction (150–200 words)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Introduce AI/ML in general and its role in business.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State the selected topic and why it is important.</a:t>
            </a:r>
          </a:p>
          <a:p>
            <a:pPr marL="808038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Outline what your report will cover (scenario, solution, ethics).</a:t>
            </a:r>
          </a:p>
        </p:txBody>
      </p:sp>
    </p:spTree>
    <p:extLst>
      <p:ext uri="{BB962C8B-B14F-4D97-AF65-F5344CB8AC3E}">
        <p14:creationId xmlns:p14="http://schemas.microsoft.com/office/powerpoint/2010/main" val="415205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B589A5E-A2CC-70C6-9844-B0E7D1C1D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AE86D1-2B2B-6364-B3B5-39D0C057736D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252104-5564-F723-178E-A34A8621D9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E859320-8B47-F63F-8471-9BBC91D82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234CCE-E2FB-B931-11BC-51EE14351D96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2. Business Scenario Analysis (600–700 words | 15 marks)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Describe the business context</a:t>
            </a:r>
            <a:r>
              <a:rPr lang="en-US" sz="2800" dirty="0">
                <a:latin typeface="+mj-lt"/>
              </a:rPr>
              <a:t>: industry, challenges, opportunities.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Identify key issues</a:t>
            </a:r>
            <a:r>
              <a:rPr lang="en-US" sz="2800" dirty="0">
                <a:latin typeface="+mj-lt"/>
              </a:rPr>
              <a:t>: e.g., inefficiency, bias, cost, lack of prediction, etc.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Evaluate how AI/ML can be applied</a:t>
            </a:r>
            <a:r>
              <a:rPr lang="en-US" sz="2800" dirty="0">
                <a:latin typeface="+mj-lt"/>
              </a:rPr>
              <a:t>: discuss specific use cases.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Discuss assumptions/limitations</a:t>
            </a:r>
            <a:r>
              <a:rPr lang="en-US" sz="2800" dirty="0">
                <a:latin typeface="+mj-lt"/>
              </a:rPr>
              <a:t>: e.g., data availability, cost, scalability.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Hint</a:t>
            </a:r>
            <a:r>
              <a:rPr lang="en-US" sz="2800" dirty="0">
                <a:latin typeface="+mj-lt"/>
              </a:rPr>
              <a:t>: Use case studies, research articles, or real company examples to strengthen your analysis.</a:t>
            </a:r>
          </a:p>
        </p:txBody>
      </p:sp>
    </p:spTree>
    <p:extLst>
      <p:ext uri="{BB962C8B-B14F-4D97-AF65-F5344CB8AC3E}">
        <p14:creationId xmlns:p14="http://schemas.microsoft.com/office/powerpoint/2010/main" val="2946057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F08C8A-D0AD-EE51-BBE6-3BC67102B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CA27B4-F370-B3AA-C18D-406A449D220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BAB0C40-EC39-940E-11D8-00444D3193D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BCB226A-7643-9421-E0D3-4E6E50633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C2B49E-2D35-2708-7F38-BA24C7AFB278}"/>
              </a:ext>
            </a:extLst>
          </p:cNvPr>
          <p:cNvSpPr txBox="1"/>
          <p:nvPr/>
        </p:nvSpPr>
        <p:spPr>
          <a:xfrm>
            <a:off x="380999" y="1441079"/>
            <a:ext cx="11810999" cy="6485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3. AI/ML Solution Proposal (800–900 words | 20 marks)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Outline the solution: AI/ML model or approach (e.g., predictive analytics, deep learning, NLP).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Relevance: Why is it suitable for the business problem?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Strategic considerations: alignment with business goals, scalability, integration with existing systems.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Expected benefits: efficiency, accuracy, customer experience, cost savings.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Challenges: technical, organizational, cost, training, regulatory.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High-level implementation plan: focus on strategy (not coding/algorithms).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Hint</a:t>
            </a:r>
            <a:r>
              <a:rPr lang="en-US" sz="2800" dirty="0">
                <a:latin typeface="+mj-lt"/>
              </a:rPr>
              <a:t>: Include diagrams, frameworks, or strategic roadmaps if relevant.</a:t>
            </a:r>
          </a:p>
        </p:txBody>
      </p:sp>
    </p:spTree>
    <p:extLst>
      <p:ext uri="{BB962C8B-B14F-4D97-AF65-F5344CB8AC3E}">
        <p14:creationId xmlns:p14="http://schemas.microsoft.com/office/powerpoint/2010/main" val="680783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8056D60-B85A-050C-4C06-24E34C4AA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B5DBDC-F3B6-E0B5-F487-237C46B0BFA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875C0A1-AE06-CF43-6348-DBF55B5F90F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28DBE49-E9D6-1F4B-E6A2-29B28BEC1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19D978-FD0E-9ECD-9518-BCA3AEC05A87}"/>
              </a:ext>
            </a:extLst>
          </p:cNvPr>
          <p:cNvSpPr txBox="1"/>
          <p:nvPr/>
        </p:nvSpPr>
        <p:spPr>
          <a:xfrm>
            <a:off x="380999" y="1441079"/>
            <a:ext cx="1181099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4. Ethical &amp; Philosophical Considerations (300–400 words | 10 marks)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Identify ethical issues</a:t>
            </a:r>
            <a:r>
              <a:rPr lang="en-US" sz="2800" dirty="0">
                <a:latin typeface="+mj-lt"/>
              </a:rPr>
              <a:t>: bias, fairness, transparency, privacy, job displacement.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Philosophical concerns</a:t>
            </a:r>
            <a:r>
              <a:rPr lang="en-US" sz="2800" dirty="0">
                <a:latin typeface="+mj-lt"/>
              </a:rPr>
              <a:t>: Should AI make decisions without human oversight?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Propose solutions</a:t>
            </a:r>
            <a:r>
              <a:rPr lang="en-US" sz="2800" dirty="0">
                <a:latin typeface="+mj-lt"/>
              </a:rPr>
              <a:t>: policies, human-in-the-loop, ethical AI frameworks.</a:t>
            </a:r>
          </a:p>
          <a:p>
            <a:pPr>
              <a:lnSpc>
                <a:spcPct val="150000"/>
              </a:lnSpc>
            </a:pPr>
            <a:r>
              <a:rPr lang="en-US" sz="2800" i="1" dirty="0">
                <a:latin typeface="+mj-lt"/>
              </a:rPr>
              <a:t>Hint</a:t>
            </a:r>
            <a:r>
              <a:rPr lang="en-US" sz="2800" dirty="0">
                <a:latin typeface="+mj-lt"/>
              </a:rPr>
              <a:t>: Link to real controversies or case studies (e.g., bias in recruitment tools, ChatGPT &amp; plagiarism, autonomous weapons).</a:t>
            </a:r>
          </a:p>
        </p:txBody>
      </p:sp>
    </p:spTree>
    <p:extLst>
      <p:ext uri="{BB962C8B-B14F-4D97-AF65-F5344CB8AC3E}">
        <p14:creationId xmlns:p14="http://schemas.microsoft.com/office/powerpoint/2010/main" val="4223799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FAEFF7-22D5-EF80-13D4-C3A871261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8C68F2-F996-DB0A-D51F-637E389FA5B8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A438C5D-09E6-46FB-8F24-19D2E43EBA6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5271446-6077-78A4-DA57-DFFC68D2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C9031B-2AC7-8532-296D-013CC12B0EE5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5. Conclusion (150–200 words)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+mj-lt"/>
              </a:rPr>
              <a:t>Summarise</a:t>
            </a:r>
            <a:r>
              <a:rPr lang="en-US" sz="2800" dirty="0">
                <a:latin typeface="+mj-lt"/>
              </a:rPr>
              <a:t> the key findings.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Re-emphasize the strategic value of your solution.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Briefly highlight future directions.</a:t>
            </a:r>
          </a:p>
        </p:txBody>
      </p:sp>
    </p:spTree>
    <p:extLst>
      <p:ext uri="{BB962C8B-B14F-4D97-AF65-F5344CB8AC3E}">
        <p14:creationId xmlns:p14="http://schemas.microsoft.com/office/powerpoint/2010/main" val="1111559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40773C-E252-4C0A-4479-BD609FEA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8BE06DA-9DDC-FCFE-3B98-B597F02A58E1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6802029-9788-1CED-8344-5AF4EF9EFD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890EA9A-7616-38C1-B702-686D3DAB5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831AF4-78C0-D54F-A788-6A8BEB8D2E76}"/>
              </a:ext>
            </a:extLst>
          </p:cNvPr>
          <p:cNvSpPr txBox="1"/>
          <p:nvPr/>
        </p:nvSpPr>
        <p:spPr>
          <a:xfrm>
            <a:off x="380999" y="1441079"/>
            <a:ext cx="11810999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6. References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Holmes Adapted Harvard Referencing.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Minimum: 10–12 high-quality academic sources (journals, books, reputable industry reports).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over-reliance on blogs/websites.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Outside sources cannot exceed 10% of content.</a:t>
            </a:r>
          </a:p>
        </p:txBody>
      </p:sp>
    </p:spTree>
    <p:extLst>
      <p:ext uri="{BB962C8B-B14F-4D97-AF65-F5344CB8AC3E}">
        <p14:creationId xmlns:p14="http://schemas.microsoft.com/office/powerpoint/2010/main" val="1027205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CA14AC-26E4-BA6C-C11E-21816CA2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ABCC381-F0FB-F297-7536-9CCC82E8BC4F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00A3ACA-3911-AF06-6107-A98A69AF37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7339166-B023-7BDB-96CB-EF9CC958E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150E6-48B4-5AF6-6E55-41268B87D951}"/>
              </a:ext>
            </a:extLst>
          </p:cNvPr>
          <p:cNvSpPr txBox="1"/>
          <p:nvPr/>
        </p:nvSpPr>
        <p:spPr>
          <a:xfrm>
            <a:off x="380999" y="1441079"/>
            <a:ext cx="118109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4: Writing &amp; Formatting Guidelines</a:t>
            </a:r>
          </a:p>
          <a:p>
            <a:pPr marL="990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Font: Times New Roman or Arial, size 12, 1.5 spacing.</a:t>
            </a:r>
          </a:p>
          <a:p>
            <a:pPr marL="990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Clear section headings.</a:t>
            </a:r>
          </a:p>
          <a:p>
            <a:pPr marL="990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Write in formal academic style (avoid “I think”, casual tone).</a:t>
            </a:r>
          </a:p>
          <a:p>
            <a:pPr marL="9906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Proofread for grammar, spelling, and flow.</a:t>
            </a:r>
          </a:p>
        </p:txBody>
      </p:sp>
    </p:spTree>
    <p:extLst>
      <p:ext uri="{BB962C8B-B14F-4D97-AF65-F5344CB8AC3E}">
        <p14:creationId xmlns:p14="http://schemas.microsoft.com/office/powerpoint/2010/main" val="2815281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A3AFB8E-8586-CCA5-930A-2202A64C3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CF9589-E752-EFD4-6F7F-4EA388EC1E2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D1E75E9-28EE-DAA0-A371-14B7BCA821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754E8D7-97E1-D433-02C9-AE849C31F3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2CEBC-B630-A091-EE9A-E0952F3203EA}"/>
              </a:ext>
            </a:extLst>
          </p:cNvPr>
          <p:cNvSpPr txBox="1"/>
          <p:nvPr/>
        </p:nvSpPr>
        <p:spPr>
          <a:xfrm>
            <a:off x="380999" y="1441079"/>
            <a:ext cx="11810999" cy="3900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5: What NOT to Do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submit in PDF or any format other than Word.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forget the cover sheet.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copy-paste from sources (plagiarism = heavy penalties).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rely only on non-academic sources (Wikipedia, blogs).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leave referencing incomplete.</a:t>
            </a:r>
          </a:p>
        </p:txBody>
      </p:sp>
    </p:spTree>
    <p:extLst>
      <p:ext uri="{BB962C8B-B14F-4D97-AF65-F5344CB8AC3E}">
        <p14:creationId xmlns:p14="http://schemas.microsoft.com/office/powerpoint/2010/main" val="151196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E4CF17A-73FB-31E6-F026-CF83B161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E82E881-7DD1-3F6F-2392-A09B9343B157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C15C31D-3B22-1DB2-71A8-B42E7AC0EE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C8108AE-0487-C866-39E5-43D0952CB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B052F-FFA3-CEBA-0853-5CAA194FA4A9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Step 6: Hints for High Marks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real-world business cases (e.g., IBM Watson in healthcare, Tesla in logistics).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Critically evaluate both strengths and weaknesses of AI/ML.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 awareness of strategic impact, not just technical features.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Include ethical depth (privacy, accountability, future of work).</a:t>
            </a:r>
          </a:p>
          <a:p>
            <a:pPr marL="89852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Write logically with smooth transitions between sections.</a:t>
            </a:r>
          </a:p>
        </p:txBody>
      </p:sp>
    </p:spTree>
    <p:extLst>
      <p:ext uri="{BB962C8B-B14F-4D97-AF65-F5344CB8AC3E}">
        <p14:creationId xmlns:p14="http://schemas.microsoft.com/office/powerpoint/2010/main" val="2654958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BF2CA76-11C0-3A99-B0FE-24D851F0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B6897E-2643-7BF1-C73F-F2A7239C1554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Preparation for Individual Assignment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18D9C4B-0DB7-74B5-0168-12CF6810C39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3158310-0B9E-05C6-3FD7-8863923F2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D11C5-19D9-1AF3-8903-D4B838995B4C}"/>
              </a:ext>
            </a:extLst>
          </p:cNvPr>
          <p:cNvSpPr txBox="1"/>
          <p:nvPr/>
        </p:nvSpPr>
        <p:spPr>
          <a:xfrm>
            <a:off x="380999" y="1441079"/>
            <a:ext cx="118109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Final Checklist Before Submission</a:t>
            </a:r>
            <a:endParaRPr lang="en-US" sz="2800" dirty="0">
              <a:latin typeface="+mj-lt"/>
            </a:endParaRP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Microsoft Word format (.docx)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Cover Sheet included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Word count approx. 2000 (+/- 10%)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Proper referencing (Holmes Harvard style)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Submitted on Blackboard (desktop/laptop only)</a:t>
            </a:r>
          </a:p>
          <a:p>
            <a:pPr marL="808038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Reviewed Turnitin similarity report before final submission</a:t>
            </a:r>
          </a:p>
        </p:txBody>
      </p:sp>
    </p:spTree>
    <p:extLst>
      <p:ext uri="{BB962C8B-B14F-4D97-AF65-F5344CB8AC3E}">
        <p14:creationId xmlns:p14="http://schemas.microsoft.com/office/powerpoint/2010/main" val="205129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1DCC648-C1BF-F101-93D0-FB2C6941C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6992F25-EA9D-354B-07EA-71B64DC8EF2C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BD59B08-6B31-9B44-E364-6EE8F1AE55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CC6301D-7A62-AEB1-8E3E-B017E7A48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869BB9-ED44-C8CA-0D58-FC9C6FBF1FAF}"/>
              </a:ext>
            </a:extLst>
          </p:cNvPr>
          <p:cNvSpPr txBox="1"/>
          <p:nvPr/>
        </p:nvSpPr>
        <p:spPr>
          <a:xfrm>
            <a:off x="380999" y="1441079"/>
            <a:ext cx="118109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For the Group Class Facilitation assessment (worth 30%), your group must select a topic and email it to me for approval.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In addition, each group must book a time slot for your presentation session. Please use the following link to book your slot: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FB97F-3521-DF43-782D-2168A8F6D45B}"/>
              </a:ext>
            </a:extLst>
          </p:cNvPr>
          <p:cNvSpPr txBox="1"/>
          <p:nvPr/>
        </p:nvSpPr>
        <p:spPr>
          <a:xfrm>
            <a:off x="457200" y="4281806"/>
            <a:ext cx="861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hlinkClick r:id="rId3"/>
              </a:rPr>
              <a:t>Presentation Schedule for HI6040-2025 (Sydney S1).xlsx</a:t>
            </a:r>
            <a:endParaRPr lang="en-US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028939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FFF92-52E6-1F06-BAB8-4BF6D1F4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10003C-AF90-E7E5-D30B-90D35AEA3117}"/>
              </a:ext>
            </a:extLst>
          </p:cNvPr>
          <p:cNvSpPr txBox="1"/>
          <p:nvPr/>
        </p:nvSpPr>
        <p:spPr>
          <a:xfrm>
            <a:off x="191211" y="213486"/>
            <a:ext cx="104013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Group Class Facilitation for HI6040-S1-T2.2025 (Sydney Campus)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6AF1FCF-8D9F-72A8-FD69-AF1AD67FC2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58C63BA-254A-29A3-BB36-C6457D34F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962EC3-9DF7-CE66-464F-B6B560CC5F81}"/>
              </a:ext>
            </a:extLst>
          </p:cNvPr>
          <p:cNvSpPr txBox="1"/>
          <p:nvPr/>
        </p:nvSpPr>
        <p:spPr>
          <a:xfrm>
            <a:off x="380999" y="1441079"/>
            <a:ext cx="118109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Important guidelines: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must choose a topic (from the proposed AI/ML areas) and obtain approval by email.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Time slots are allocated on a first-come, first-served basis.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Enter your group’s details directly into the booking sheet.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group presents only once, in their allocated week (Weeks 5–11).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Each student is expected to present for about 5 minutes.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Your slides must be submitted on Blackboard before your facilitation session (one submission per group).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After booking, please send me a confirmation email.</a:t>
            </a:r>
          </a:p>
        </p:txBody>
      </p:sp>
    </p:spTree>
    <p:extLst>
      <p:ext uri="{BB962C8B-B14F-4D97-AF65-F5344CB8AC3E}">
        <p14:creationId xmlns:p14="http://schemas.microsoft.com/office/powerpoint/2010/main" val="331022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234589-4B9E-BB3A-A1AA-49B7E0A5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61B330-E338-A2DB-8581-8E19A3029C1B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What Students Should Do in Week 8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6BC96A1-FCA9-88AF-63FC-528D5CAE26A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9E4A715-EE94-B679-18E1-CEDA97ED9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78F8D5-DE77-0408-30AB-A6D9DDA7B230}"/>
              </a:ext>
            </a:extLst>
          </p:cNvPr>
          <p:cNvSpPr txBox="1"/>
          <p:nvPr/>
        </p:nvSpPr>
        <p:spPr>
          <a:xfrm>
            <a:off x="380999" y="1441079"/>
            <a:ext cx="11201401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>
                <a:latin typeface="+mj-lt"/>
              </a:rPr>
              <a:t>Prepare one slide (as per the group assessment) with: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short example of unsupervised learning (preferably clustering).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simple diagram, dataset visualization, or result (scatter plot).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2–3 questions for class discussion (not just answers).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 2-minute summary of what they learned.</a:t>
            </a:r>
          </a:p>
        </p:txBody>
      </p:sp>
    </p:spTree>
    <p:extLst>
      <p:ext uri="{BB962C8B-B14F-4D97-AF65-F5344CB8AC3E}">
        <p14:creationId xmlns:p14="http://schemas.microsoft.com/office/powerpoint/2010/main" val="2172178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843C6E-18AC-57AE-2E0A-B275CEB7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F114E1-1AC9-4C8C-F1C7-72F316658A25}"/>
              </a:ext>
            </a:extLst>
          </p:cNvPr>
          <p:cNvSpPr txBox="1"/>
          <p:nvPr/>
        </p:nvSpPr>
        <p:spPr>
          <a:xfrm>
            <a:off x="191211" y="213486"/>
            <a:ext cx="104013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200" b="1" dirty="0"/>
              <a:t>What Students Should Do in Week 8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2D5052D-15E5-81C2-A4DB-2465EC8739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02B2C41-C5D7-DCE5-3C53-10CFF5B18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CF3D6A-3414-5DF6-A425-84B9B4E22D08}"/>
              </a:ext>
            </a:extLst>
          </p:cNvPr>
          <p:cNvSpPr txBox="1"/>
          <p:nvPr/>
        </p:nvSpPr>
        <p:spPr>
          <a:xfrm>
            <a:off x="380999" y="1441079"/>
            <a:ext cx="112014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2"/>
            </a:pPr>
            <a:r>
              <a:rPr lang="en-US" sz="2800" b="1" dirty="0">
                <a:latin typeface="+mj-lt"/>
              </a:rPr>
              <a:t>Present a simple case</a:t>
            </a:r>
            <a:r>
              <a:rPr lang="en-US" sz="2800" dirty="0">
                <a:latin typeface="+mj-lt"/>
              </a:rPr>
              <a:t>: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Load data (e.g., Iris dataset from </a:t>
            </a:r>
            <a:r>
              <a:rPr lang="en-US" sz="2800" dirty="0" err="1">
                <a:latin typeface="+mj-lt"/>
              </a:rPr>
              <a:t>sklearn</a:t>
            </a:r>
            <a:r>
              <a:rPr lang="en-US" sz="2800" dirty="0">
                <a:latin typeface="+mj-lt"/>
              </a:rPr>
              <a:t>).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Run K-Means clustering or PCA (dimensionality reduction).</a:t>
            </a:r>
          </a:p>
          <a:p>
            <a:pPr marL="715963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 the result visually (clusters on a scatter plot).</a:t>
            </a:r>
          </a:p>
        </p:txBody>
      </p:sp>
    </p:spTree>
    <p:extLst>
      <p:ext uri="{BB962C8B-B14F-4D97-AF65-F5344CB8AC3E}">
        <p14:creationId xmlns:p14="http://schemas.microsoft.com/office/powerpoint/2010/main" val="298424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FF24EA-03BB-E845-5ACF-9A17DC968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2668DC-4F76-110D-AD4C-3C08A69D56BF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B38EDFB-D3A1-7879-43F0-0B2B8E5E85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8887341-DDF7-7630-935D-0FD4BDA66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12B7C-CB1A-A90C-0825-A98D0EDE638C}"/>
              </a:ext>
            </a:extLst>
          </p:cNvPr>
          <p:cNvSpPr txBox="1"/>
          <p:nvPr/>
        </p:nvSpPr>
        <p:spPr>
          <a:xfrm>
            <a:off x="380999" y="1441079"/>
            <a:ext cx="11201401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Goal: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Group flowers into 3 clusters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without labels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Tool: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K-Means (partition data into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groups by minimizing distance to each group’s center).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Iris sepal length &amp; width (2 features so we can plot).</a:t>
            </a:r>
          </a:p>
        </p:txBody>
      </p:sp>
    </p:spTree>
    <p:extLst>
      <p:ext uri="{BB962C8B-B14F-4D97-AF65-F5344CB8AC3E}">
        <p14:creationId xmlns:p14="http://schemas.microsoft.com/office/powerpoint/2010/main" val="1726463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CB333F-9E9F-A283-DF28-CACF7E303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5E5D92-C48D-6EB2-6EF6-C06AE77DA03A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6EE8BDEC-258E-80C2-E989-150E6F3060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F9ECC60-0B9A-CE14-1D54-F883A97FE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96D27A-AD6D-F4EF-2988-814E6C2934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67"/>
          <a:stretch>
            <a:fillRect/>
          </a:stretch>
        </p:blipFill>
        <p:spPr>
          <a:xfrm>
            <a:off x="0" y="935736"/>
            <a:ext cx="12191999" cy="5715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244C7-C8D1-6F81-23FB-ECEF878D09A6}"/>
              </a:ext>
            </a:extLst>
          </p:cNvPr>
          <p:cNvSpPr txBox="1"/>
          <p:nvPr/>
        </p:nvSpPr>
        <p:spPr>
          <a:xfrm>
            <a:off x="6705600" y="2551537"/>
            <a:ext cx="5486400" cy="750686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 data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get two columns (sepal length/width).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Pick k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we choose k = 3 (we expect 3 species).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Fit K-Means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the algorithm places 3 centers, assigns each point to the nearest center, and repeats until centers stop moving.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Get labels 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each point now has a cluster ID (0/1/2).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</a:t>
            </a:r>
            <a:r>
              <a:rPr kumimoji="0" lang="en-US" altLang="en-US" sz="27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color points by their cluster to see the groups.</a:t>
            </a:r>
          </a:p>
        </p:txBody>
      </p:sp>
    </p:spTree>
    <p:extLst>
      <p:ext uri="{BB962C8B-B14F-4D97-AF65-F5344CB8AC3E}">
        <p14:creationId xmlns:p14="http://schemas.microsoft.com/office/powerpoint/2010/main" val="28621019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40EB49-29D6-0F7D-2ABB-9721746C9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3E8116-9297-A8DE-814A-920386CE8564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1: Clustering the Iris Dataset: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7C028CC-81AE-C951-592A-C43B3D8406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15AA1B7-D8C0-1E6B-BDCA-C4DD06123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72AB11-C1D3-2E04-F45C-83686839E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4724"/>
            <a:ext cx="8305800" cy="6653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48BF7F7-9CB2-8427-393C-68F274BD8EE5}"/>
              </a:ext>
            </a:extLst>
          </p:cNvPr>
          <p:cNvSpPr txBox="1"/>
          <p:nvPr/>
        </p:nvSpPr>
        <p:spPr>
          <a:xfrm>
            <a:off x="0" y="7447557"/>
            <a:ext cx="12191999" cy="2610843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Explain of Results: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Each color = a cluster found by K-Means.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Centers (not shown) are the “average” point of each cluster.</a:t>
            </a:r>
          </a:p>
          <a:p>
            <a:pPr marL="715963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K-Means works best when clusters are roundish and similar size</a:t>
            </a:r>
          </a:p>
        </p:txBody>
      </p:sp>
    </p:spTree>
    <p:extLst>
      <p:ext uri="{BB962C8B-B14F-4D97-AF65-F5344CB8AC3E}">
        <p14:creationId xmlns:p14="http://schemas.microsoft.com/office/powerpoint/2010/main" val="3114281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1: Show the Cluster Centers in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Activity Prompt (for students)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You have a scatter plot of Iris clusters.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But… where are the cluster centers?</a:t>
            </a:r>
          </a:p>
          <a:p>
            <a:pPr marL="898525" lvl="1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+mj-lt"/>
              </a:rPr>
              <a:t>Think: What line of code could you add to mark them with a red “X”?</a:t>
            </a:r>
            <a:br>
              <a:rPr lang="en-US" sz="2800" dirty="0">
                <a:latin typeface="+mj-lt"/>
              </a:rPr>
            </a:br>
            <a:r>
              <a:rPr lang="en-US" sz="2800" i="1" dirty="0">
                <a:latin typeface="+mj-lt"/>
              </a:rPr>
              <a:t>(Hint: the fitted </a:t>
            </a:r>
            <a:r>
              <a:rPr lang="en-US" sz="2800" i="1" dirty="0" err="1">
                <a:latin typeface="+mj-lt"/>
              </a:rPr>
              <a:t>KMeans</a:t>
            </a:r>
            <a:r>
              <a:rPr lang="en-US" sz="2800" i="1" dirty="0">
                <a:latin typeface="+mj-lt"/>
              </a:rPr>
              <a:t> object has something stored about centers…)</a:t>
            </a:r>
            <a:endParaRPr lang="en-US" sz="2800" dirty="0">
              <a:latin typeface="+mj-lt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86B7043-18BA-8345-338C-DDA61F0A1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800600"/>
            <a:ext cx="5769203" cy="462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40625" t="44444" r="40625" b="41111"/>
          <a:stretch>
            <a:fillRect/>
          </a:stretch>
        </p:blipFill>
        <p:spPr>
          <a:xfrm>
            <a:off x="7959852" y="612072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8846728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1: Show the Cluster Centers in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CD391F-A207-A760-737B-4E24FB4E87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22"/>
          <a:stretch>
            <a:fillRect/>
          </a:stretch>
        </p:blipFill>
        <p:spPr>
          <a:xfrm>
            <a:off x="-15241" y="15240"/>
            <a:ext cx="12192000" cy="60198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6B2487B-07C0-701A-EC0E-69229899AC6A}"/>
              </a:ext>
            </a:extLst>
          </p:cNvPr>
          <p:cNvSpPr/>
          <p:nvPr/>
        </p:nvSpPr>
        <p:spPr>
          <a:xfrm>
            <a:off x="899160" y="4244340"/>
            <a:ext cx="4419600" cy="17526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08C926-D94A-649E-D344-57DDD5C785A0}"/>
              </a:ext>
            </a:extLst>
          </p:cNvPr>
          <p:cNvSpPr txBox="1"/>
          <p:nvPr/>
        </p:nvSpPr>
        <p:spPr>
          <a:xfrm>
            <a:off x="5928360" y="2923242"/>
            <a:ext cx="6248399" cy="713515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New Line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 err="1">
                <a:latin typeface="+mj-lt"/>
              </a:rPr>
              <a:t>kmeans.cluster_centers</a:t>
            </a:r>
            <a:r>
              <a:rPr lang="en-US" sz="2800" dirty="0">
                <a:latin typeface="+mj-lt"/>
              </a:rPr>
              <a:t>_ → stores the coordinates of the cluster centers.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[:, 0] and [:, 1] → grab the x and y coordinates.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s=200 → makes the marker bigger.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c='red', marker='X' → makes centers stand out as red X’s.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label='Centers' → so the legend explains what the X’s are.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3C4F62B-83F1-F00A-9FEB-B0FBD5842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59" y="6102977"/>
            <a:ext cx="4937759" cy="395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89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2: Change the marker/size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6910866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marker='*', s=300.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Question: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Which is easier to see, star or X?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20706546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3: Show centers for k=4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8712642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Change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n_clusters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=4.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Question: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How many centers appear? Where are they?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78398927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FBEE6A6-B23B-C0F1-19BB-02EE8E15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8030692-FAEB-5B6C-56E4-476554890949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4: Compare sepal vs petal features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F7430B5-3AAC-BD47-2201-E8FB81EC096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8BF8DE8-ECBA-0282-F320-58EFE65B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359" y="1662780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3060F4-C6F7-9DF7-6F3A-12D98CB5A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1527515" cy="1318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Plot again with </a:t>
            </a:r>
            <a:r>
              <a:rPr lang="en-US" sz="2800" dirty="0" err="1">
                <a:latin typeface="+mj-lt"/>
              </a:rPr>
              <a:t>iris.data</a:t>
            </a:r>
            <a:r>
              <a:rPr lang="en-US" sz="2800" dirty="0">
                <a:latin typeface="+mj-lt"/>
              </a:rPr>
              <a:t>[:, 2:4].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Question:</a:t>
            </a:r>
            <a:r>
              <a:rPr lang="en-US" sz="2800" dirty="0">
                <a:latin typeface="+mj-lt"/>
              </a:rPr>
              <a:t> Do the cluster centers move closer to “real species” separation?</a:t>
            </a:r>
          </a:p>
        </p:txBody>
      </p:sp>
      <p:pic>
        <p:nvPicPr>
          <p:cNvPr id="7" name="Timer">
            <a:hlinkClick r:id="" action="ppaction://media"/>
            <a:extLst>
              <a:ext uri="{FF2B5EF4-FFF2-40B4-BE49-F238E27FC236}">
                <a16:creationId xmlns:a16="http://schemas.microsoft.com/office/drawing/2014/main" id="{FB4E3077-36A6-ED47-5460-DCFE8434388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53000" y="38100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9676511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5: Change k and observe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n_clusters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=2, then 4.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to note: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With too few clusters, groups mix; with too many, one natural group gets split.</a:t>
            </a: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955271813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6: Try different features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A260AB-991A-5F57-EC50-24DB0D62AD91}"/>
              </a:ext>
            </a:extLst>
          </p:cNvPr>
          <p:cNvSpPr txBox="1"/>
          <p:nvPr/>
        </p:nvSpPr>
        <p:spPr>
          <a:xfrm>
            <a:off x="76200" y="1258092"/>
            <a:ext cx="12115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petal features: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iris.data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[:, 2:4].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to note: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Petal features separate species more clearly → cleaner clusters.</a:t>
            </a: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42696163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9925-2EDE-AB19-DE95-05754343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0B32E1-E5B1-40A1-FF10-DF1D5BC316AB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7: Standardize then cluster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8719ADF-B268-2087-9E60-EADFB722AFA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2B52A610-6D5B-42A3-C2F7-91A04B0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869A2C02-BF78-75C3-F719-6C2B1088588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991100" y="5029200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AAA4AF-7930-F08C-1F80-E04EDCB507C5}"/>
              </a:ext>
            </a:extLst>
          </p:cNvPr>
          <p:cNvSpPr txBox="1"/>
          <p:nvPr/>
        </p:nvSpPr>
        <p:spPr>
          <a:xfrm>
            <a:off x="-38101" y="2061865"/>
            <a:ext cx="12230099" cy="1506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1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sklearn.preprocessing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endParaRPr lang="en-US" sz="21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Xz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StandardScaler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().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fit_transform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iris.data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[:, :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y2 =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KMeans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n_clusters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n_init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21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'auto'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fit_predict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21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Xz</a:t>
            </a:r>
            <a:r>
              <a:rPr lang="en-US" sz="21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3408C-6BB6-AB2F-7AEA-E5A9246E3323}"/>
              </a:ext>
            </a:extLst>
          </p:cNvPr>
          <p:cNvSpPr txBox="1"/>
          <p:nvPr/>
        </p:nvSpPr>
        <p:spPr>
          <a:xfrm>
            <a:off x="-38101" y="3727960"/>
            <a:ext cx="120853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What to note:</a:t>
            </a:r>
            <a:r>
              <a:rPr lang="en-US" sz="2800" dirty="0">
                <a:latin typeface="+mj-lt"/>
              </a:rPr>
              <a:t> Scaling avoids one feature dominating distance.</a:t>
            </a:r>
          </a:p>
        </p:txBody>
      </p:sp>
    </p:spTree>
    <p:extLst>
      <p:ext uri="{BB962C8B-B14F-4D97-AF65-F5344CB8AC3E}">
        <p14:creationId xmlns:p14="http://schemas.microsoft.com/office/powerpoint/2010/main" val="173560036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D8BFB-5BF7-1C35-2063-5CE28E5AD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372485-A4B8-7A79-3462-FC129104186C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2: Choosing k: Elbow &amp; Silhouette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A522C84-A9E2-46A2-F3F0-17AEDEDA17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3653FF1-AA9F-399B-5A4B-F7F72E178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93C24A-DB7D-4D73-A56A-6D77BBBEF441}"/>
              </a:ext>
            </a:extLst>
          </p:cNvPr>
          <p:cNvSpPr txBox="1"/>
          <p:nvPr/>
        </p:nvSpPr>
        <p:spPr>
          <a:xfrm>
            <a:off x="0" y="978406"/>
            <a:ext cx="912495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How Many Clusters? Elbow + Silhouette on Iris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EA2DBA8-FE30-E2CB-540E-F8080F12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" y="1901952"/>
            <a:ext cx="12176759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many k values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(e.g., 2–8).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Elbow: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Record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inertia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(sum of squared distances). Plot inertia vs k → look for the “elbow” (diminishing returns).</a:t>
            </a:r>
          </a:p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Silhouette: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Score how well points fit their cluster vs. others (−1 to 1). Higher is better.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E3BE9-128B-F65C-D723-4609B2B4220F}"/>
              </a:ext>
            </a:extLst>
          </p:cNvPr>
          <p:cNvSpPr txBox="1"/>
          <p:nvPr/>
        </p:nvSpPr>
        <p:spPr>
          <a:xfrm>
            <a:off x="15240" y="5432491"/>
            <a:ext cx="1216151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+mj-lt"/>
              </a:rPr>
              <a:t>Why we do this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K-Means needs you to choose k (the number of clusters).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But how do we know the best k?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Two popular ways: Elbow (look for bend in error curve) and Silhouette (score cluster quality).</a:t>
            </a:r>
          </a:p>
        </p:txBody>
      </p:sp>
    </p:spTree>
    <p:extLst>
      <p:ext uri="{BB962C8B-B14F-4D97-AF65-F5344CB8AC3E}">
        <p14:creationId xmlns:p14="http://schemas.microsoft.com/office/powerpoint/2010/main" val="227786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3E737-782C-7E13-6462-5E38A7CE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B3DABDB2-01DC-CE2F-FE94-7FE8A9C0B8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C9DE495-CEDE-F1C6-2C80-106FE86C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E3B61-8973-3D25-00DD-0352B368CB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6413FBB-FF24-749C-4C48-930938E86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78169"/>
            <a:ext cx="9281708" cy="4102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Prepare data</a:t>
            </a:r>
          </a:p>
          <a:p>
            <a:pPr marL="892175" lvl="1" indent="-4572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only petal length &amp; width → easier to see separation.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Try different k values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Loop k = 2 to 8.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For each k: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Run K-Means.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 the inertia (distance of points to their centers).</a:t>
            </a:r>
          </a:p>
          <a:p>
            <a:pPr marL="914400" marR="0" lvl="1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Save the silhouette score (how well points fit in their cluster vs others).</a:t>
            </a:r>
          </a:p>
        </p:txBody>
      </p:sp>
    </p:spTree>
    <p:extLst>
      <p:ext uri="{BB962C8B-B14F-4D97-AF65-F5344CB8AC3E}">
        <p14:creationId xmlns:p14="http://schemas.microsoft.com/office/powerpoint/2010/main" val="114242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4DB8B-D84B-7ABC-1F86-989B436B6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984A6851-3B2D-A857-0DA9-9F00130C401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8EC0FA2-9956-9C76-27C4-BDCF43891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194DEA-1D39-C69A-02C6-6AC034B4B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EB2B0D8-2117-C224-DE45-0DC9BF01D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0" y="6154896"/>
            <a:ext cx="8892178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 Elbow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Inertia decreases as k increases.</a:t>
            </a:r>
          </a:p>
          <a:p>
            <a:pPr marL="714375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“elbow point” (bend in the line) suggests a good k.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Plot Silhouette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62388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Higher silhouette score = better clustering.</a:t>
            </a:r>
          </a:p>
          <a:p>
            <a:pPr marL="62388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best k usually has the highest score.</a:t>
            </a:r>
          </a:p>
        </p:txBody>
      </p:sp>
    </p:spTree>
    <p:extLst>
      <p:ext uri="{BB962C8B-B14F-4D97-AF65-F5344CB8AC3E}">
        <p14:creationId xmlns:p14="http://schemas.microsoft.com/office/powerpoint/2010/main" val="2888482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1035F-858E-1D16-4E90-D5D7534AD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3035DDF-3326-FB55-7A58-620C57BA4E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6F49DBF-ABDF-0A48-7981-C70A34CDD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87AB8-2EED-FF8B-E68B-428581F857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5556"/>
          <a:stretch>
            <a:fillRect/>
          </a:stretch>
        </p:blipFill>
        <p:spPr>
          <a:xfrm>
            <a:off x="0" y="0"/>
            <a:ext cx="12192000" cy="57912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61006FB-ED2B-72E5-17D3-72E1661F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807927"/>
            <a:ext cx="12165979" cy="3903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Key Takeaways for Students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Elbow method: Too few clusters → error high; too many clusters → no big improvement.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Silhouette method: Balances cohesion (tight clusters) and separation (clusters far apart).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On Iris petals, both usually point to k ≈ 3.</a:t>
            </a:r>
          </a:p>
        </p:txBody>
      </p:sp>
    </p:spTree>
    <p:extLst>
      <p:ext uri="{BB962C8B-B14F-4D97-AF65-F5344CB8AC3E}">
        <p14:creationId xmlns:p14="http://schemas.microsoft.com/office/powerpoint/2010/main" val="2675267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3103-2046-BCBA-E61E-FEA094085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CCF77E8D-ED2A-23C9-8252-F104E55506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BEC2A9C-8BBC-6DC1-B13B-CEE6CBC71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ABF9357-ECD5-39B1-158A-A32C8FE79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5" y="0"/>
            <a:ext cx="6064406" cy="4909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9F4C3A99-E6DA-2136-30FB-DF82926A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4" y="5255208"/>
            <a:ext cx="6064406" cy="4790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9E290B-120B-4EDC-D6B9-9C66C66B2D2D}"/>
              </a:ext>
            </a:extLst>
          </p:cNvPr>
          <p:cNvSpPr txBox="1"/>
          <p:nvPr/>
        </p:nvSpPr>
        <p:spPr>
          <a:xfrm>
            <a:off x="6092283" y="1600200"/>
            <a:ext cx="6068122" cy="813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Elbow plot:</a:t>
            </a:r>
            <a:r>
              <a:rPr lang="en-US" sz="2700" dirty="0">
                <a:latin typeface="+mj-lt"/>
              </a:rPr>
              <a:t> The biggest drop in inertia happens from k=2 → k=3. After k=3, the curve flattens, meaning extra clusters don’t add much value.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Silhouette plot:</a:t>
            </a:r>
            <a:r>
              <a:rPr lang="en-US" sz="2700" dirty="0">
                <a:latin typeface="+mj-lt"/>
              </a:rPr>
              <a:t> The score is highest at k=2, but k=3 is also strong and aligns better with the natural three Iris species.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700" b="1" dirty="0">
                <a:latin typeface="+mj-lt"/>
              </a:rPr>
              <a:t>Conclusion:</a:t>
            </a:r>
            <a:r>
              <a:rPr lang="en-US" sz="2700" dirty="0">
                <a:latin typeface="+mj-lt"/>
              </a:rPr>
              <a:t> Both methods suggest </a:t>
            </a:r>
            <a:r>
              <a:rPr lang="en-US" sz="2700" b="1" dirty="0">
                <a:latin typeface="+mj-lt"/>
              </a:rPr>
              <a:t>k=3</a:t>
            </a:r>
            <a:r>
              <a:rPr lang="en-US" sz="2700" dirty="0">
                <a:latin typeface="+mj-lt"/>
              </a:rPr>
              <a:t> is a good balance (close to biology), even though silhouette peaks at 2.</a:t>
            </a:r>
          </a:p>
          <a:p>
            <a:pPr>
              <a:lnSpc>
                <a:spcPct val="150000"/>
              </a:lnSpc>
              <a:buNone/>
            </a:pPr>
            <a:r>
              <a:rPr lang="en-US" sz="2700" i="1" dirty="0">
                <a:latin typeface="+mj-lt"/>
              </a:rPr>
              <a:t>Why might silhouette suggest 2 but elbow suggest 3? Which would you trust here?</a:t>
            </a:r>
            <a:endParaRPr lang="en-US" sz="2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91398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00E26-BB37-F001-3989-125655A2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D27EFAE-DE06-5D1F-B254-8673B9DA4C16}"/>
              </a:ext>
            </a:extLst>
          </p:cNvPr>
          <p:cNvSpPr txBox="1"/>
          <p:nvPr/>
        </p:nvSpPr>
        <p:spPr>
          <a:xfrm>
            <a:off x="33826" y="0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Example 3: DBSCAN: Clustering by Density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412F0E7F-208E-E44E-BDC8-92B0C809BB1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348230-118D-66DA-C249-6467B5E3C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3A38BB-72E7-3207-6CD4-F1B713DE9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1" y="1436770"/>
            <a:ext cx="12176759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Why this example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 need to choose k.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Finds oddly shaped clusters and can mark noise.</a:t>
            </a:r>
          </a:p>
          <a:p>
            <a:pPr marL="803275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Shows contrast with K-Means’ round-cluster bias.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0F379-2AC8-C73C-54D7-4BE32160A64B}"/>
              </a:ext>
            </a:extLst>
          </p:cNvPr>
          <p:cNvSpPr txBox="1"/>
          <p:nvPr/>
        </p:nvSpPr>
        <p:spPr>
          <a:xfrm>
            <a:off x="-4332" y="764919"/>
            <a:ext cx="9106457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DBSCAN: Find Clusters (and Noise) Without Choosing k</a:t>
            </a:r>
          </a:p>
        </p:txBody>
      </p:sp>
    </p:spTree>
    <p:extLst>
      <p:ext uri="{BB962C8B-B14F-4D97-AF65-F5344CB8AC3E}">
        <p14:creationId xmlns:p14="http://schemas.microsoft.com/office/powerpoint/2010/main" val="2888744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C7FB-5D80-9EF5-F088-5F6CA63B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3EB3D63-76A4-F5DF-55AD-270DFE7C74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-1" y="-39624"/>
            <a:ext cx="12192000" cy="60198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159762E9-BF2B-1BBA-7C42-7CEBBC8608B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57E3509-0BEA-AB91-9672-B306A03E1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365B4046-E03F-D169-7F5E-47FCCA9A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566" y="2886681"/>
            <a:ext cx="6476999" cy="7135158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Load data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Iris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petal length &amp; width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(they separate species better).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 features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DBSCAN uses distances. We standardize so both features contribute fairly.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Pick DBSCAN knobs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eps: how close points must be to be “neighbors” (radius in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scaled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units).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min_samples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how many neighbors make a spot “dense” (including itself).</a:t>
            </a:r>
          </a:p>
        </p:txBody>
      </p:sp>
    </p:spTree>
    <p:extLst>
      <p:ext uri="{BB962C8B-B14F-4D97-AF65-F5344CB8AC3E}">
        <p14:creationId xmlns:p14="http://schemas.microsoft.com/office/powerpoint/2010/main" val="305791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BCF1-80FD-C92C-0565-97070139B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8E0532-7FEC-B71C-A837-67964823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22"/>
          <a:stretch>
            <a:fillRect/>
          </a:stretch>
        </p:blipFill>
        <p:spPr>
          <a:xfrm>
            <a:off x="-1" y="-39624"/>
            <a:ext cx="12192000" cy="6019800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3254121C-3278-A0E3-C19E-9FA28258D1D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EC7E0C58-E92D-45D8-93C2-E108ED7A7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6B514AE-B328-60E5-B8EF-88AC660B22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141" y="1941576"/>
            <a:ext cx="6476999" cy="584249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Run DBSCAN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It groups points in dense areas into clusters; sparse points become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noise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Read labels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 err="1">
                <a:solidFill>
                  <a:schemeClr val="tx1"/>
                </a:solidFill>
                <a:latin typeface="+mj-lt"/>
              </a:rPr>
              <a:t>labels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 = </a:t>
            </a:r>
            <a:r>
              <a:rPr lang="en-US" altLang="en-US" sz="2800" dirty="0" err="1">
                <a:solidFill>
                  <a:schemeClr val="tx1"/>
                </a:solidFill>
                <a:latin typeface="+mj-lt"/>
              </a:rPr>
              <a:t>db.labels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_ → cluster IDs 0,1,…; </a:t>
            </a: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noise = −1</a:t>
            </a: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</a:rPr>
              <a:t>Plot</a:t>
            </a:r>
            <a:br>
              <a:rPr lang="en-US" altLang="en-US" sz="2800" dirty="0">
                <a:solidFill>
                  <a:schemeClr val="tx1"/>
                </a:solidFill>
                <a:latin typeface="+mj-lt"/>
              </a:rPr>
            </a:br>
            <a:r>
              <a:rPr lang="en-US" altLang="en-US" sz="2800" dirty="0">
                <a:solidFill>
                  <a:schemeClr val="tx1"/>
                </a:solidFill>
                <a:latin typeface="+mj-lt"/>
              </a:rPr>
              <a:t>Show petal length (x) vs petal width (y), color by labels to see clusters/noise.</a:t>
            </a:r>
          </a:p>
        </p:txBody>
      </p:sp>
    </p:spTree>
    <p:extLst>
      <p:ext uri="{BB962C8B-B14F-4D97-AF65-F5344CB8AC3E}">
        <p14:creationId xmlns:p14="http://schemas.microsoft.com/office/powerpoint/2010/main" val="24800745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DDB50-E156-1CF5-B51F-1BDBB90A6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E65B757B-3318-FF34-FACB-F3CD647DA4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3775795-7285-1287-37F8-272875E1B7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3A0AC79-BC7B-1278-D9E8-1146675E1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585" y="37171"/>
            <a:ext cx="9543585" cy="765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F907A1-3E0F-5C74-4875-0DDCE0181C73}"/>
              </a:ext>
            </a:extLst>
          </p:cNvPr>
          <p:cNvSpPr txBox="1"/>
          <p:nvPr/>
        </p:nvSpPr>
        <p:spPr>
          <a:xfrm>
            <a:off x="0" y="7695603"/>
            <a:ext cx="12214302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DBSCAN found two main clusters in the Iris petal data — one small, tight cluster on the left and one larger cluster on the right — showing it can group dense regions without needing you to set k in advance.</a:t>
            </a:r>
          </a:p>
        </p:txBody>
      </p:sp>
    </p:spTree>
    <p:extLst>
      <p:ext uri="{BB962C8B-B14F-4D97-AF65-F5344CB8AC3E}">
        <p14:creationId xmlns:p14="http://schemas.microsoft.com/office/powerpoint/2010/main" val="34373068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8: Tune eps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4179735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811378"/>
            <a:ext cx="1208532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Try eps = 0.3, 0.5, 0.7.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Smaller eps → more clusters/noise; larger eps → clusters merge.</a:t>
            </a:r>
          </a:p>
        </p:txBody>
      </p:sp>
    </p:spTree>
    <p:extLst>
      <p:ext uri="{BB962C8B-B14F-4D97-AF65-F5344CB8AC3E}">
        <p14:creationId xmlns:p14="http://schemas.microsoft.com/office/powerpoint/2010/main" val="342641553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9: Compare to K-Means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303438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811378"/>
            <a:ext cx="12085320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Do: Run K-Means on the same features (X) and plot its labels.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38C202-C606-72C1-3C0A-5DF069402C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1111" r="37765" b="14445"/>
          <a:stretch>
            <a:fillRect/>
          </a:stretch>
        </p:blipFill>
        <p:spPr>
          <a:xfrm>
            <a:off x="0" y="4357012"/>
            <a:ext cx="12191999" cy="26936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89A77-4EBE-7AE3-6744-8B44434703EC}"/>
              </a:ext>
            </a:extLst>
          </p:cNvPr>
          <p:cNvSpPr txBox="1"/>
          <p:nvPr/>
        </p:nvSpPr>
        <p:spPr>
          <a:xfrm>
            <a:off x="30852" y="7050681"/>
            <a:ext cx="1208792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Notice:</a:t>
            </a:r>
            <a:r>
              <a:rPr lang="en-US" sz="2800" dirty="0">
                <a:latin typeface="+mj-lt"/>
              </a:rPr>
              <a:t> K-Means </a:t>
            </a:r>
            <a:r>
              <a:rPr lang="en-US" sz="2800" b="1" dirty="0">
                <a:latin typeface="+mj-lt"/>
              </a:rPr>
              <a:t>forces</a:t>
            </a:r>
            <a:r>
              <a:rPr lang="en-US" sz="2800" dirty="0">
                <a:latin typeface="+mj-lt"/>
              </a:rPr>
              <a:t> exactly k clusters; DBSCAN can find shapes and mark noise.</a:t>
            </a:r>
          </a:p>
        </p:txBody>
      </p:sp>
    </p:spTree>
    <p:extLst>
      <p:ext uri="{BB962C8B-B14F-4D97-AF65-F5344CB8AC3E}">
        <p14:creationId xmlns:p14="http://schemas.microsoft.com/office/powerpoint/2010/main" val="249822241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A55B-5E30-A9CC-D5BA-4721C9CF3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69596EB-3F0F-64BB-B2CF-E5142AC8E1C8}"/>
              </a:ext>
            </a:extLst>
          </p:cNvPr>
          <p:cNvSpPr txBox="1"/>
          <p:nvPr/>
        </p:nvSpPr>
        <p:spPr>
          <a:xfrm>
            <a:off x="191211" y="213486"/>
            <a:ext cx="10401300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500" b="1" dirty="0">
                <a:latin typeface="+mj-lt"/>
              </a:rPr>
              <a:t>Activity 10: Standardization effect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B211E48F-E7DE-C54B-456F-1E155D072BC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744154EA-BA8E-F61D-95EA-595720691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9" name="Timer">
            <a:hlinkClick r:id="" action="ppaction://media"/>
            <a:extLst>
              <a:ext uri="{FF2B5EF4-FFF2-40B4-BE49-F238E27FC236}">
                <a16:creationId xmlns:a16="http://schemas.microsoft.com/office/drawing/2014/main" id="{D575E0EA-161E-CF70-74BE-EE8B49C820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40625" t="44444" r="40625" b="41111"/>
          <a:stretch>
            <a:fillRect/>
          </a:stretch>
        </p:blipFill>
        <p:spPr>
          <a:xfrm>
            <a:off x="4899660" y="3034388"/>
            <a:ext cx="2286000" cy="9906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92A4600-38EE-172B-D56E-6EEB88DF31F4}"/>
              </a:ext>
            </a:extLst>
          </p:cNvPr>
          <p:cNvSpPr txBox="1"/>
          <p:nvPr/>
        </p:nvSpPr>
        <p:spPr>
          <a:xfrm>
            <a:off x="0" y="1390873"/>
            <a:ext cx="12085320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Do: Run DBSCAN without scaling (use X instead of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Xz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), then with scaling.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Notice: Results change a lot without scaling → distance-based methods need scaling.</a:t>
            </a:r>
          </a:p>
        </p:txBody>
      </p:sp>
    </p:spTree>
    <p:extLst>
      <p:ext uri="{BB962C8B-B14F-4D97-AF65-F5344CB8AC3E}">
        <p14:creationId xmlns:p14="http://schemas.microsoft.com/office/powerpoint/2010/main" val="2456097646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8CDC9-A7F0-B9E3-E9E4-516B6197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D91AB5A2-B21D-66A0-4528-C2C55210EB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EF6D16-E124-24B9-1D4B-698CF1363FA5}"/>
              </a:ext>
            </a:extLst>
          </p:cNvPr>
          <p:cNvSpPr txBox="1"/>
          <p:nvPr/>
        </p:nvSpPr>
        <p:spPr>
          <a:xfrm>
            <a:off x="0" y="0"/>
            <a:ext cx="11887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Thank You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2B71991-9C10-2CDD-0295-065A9579E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5779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50CBBC-F537-AFEC-634C-56C9DAB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3996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5037F8A-312A-5706-B9D4-BD56C9AD7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6063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163D227C-1D36-DEFE-C2F8-3CA3D97D9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E1BCA2-620C-3559-3A80-9228DA241173}"/>
              </a:ext>
            </a:extLst>
          </p:cNvPr>
          <p:cNvSpPr txBox="1"/>
          <p:nvPr/>
        </p:nvSpPr>
        <p:spPr>
          <a:xfrm>
            <a:off x="609600" y="2441246"/>
            <a:ext cx="10972800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Need Help with coding? Send an email or ask during the tutorial session.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FKeivanian@my.holmes.edu.au</a:t>
            </a:r>
          </a:p>
        </p:txBody>
      </p:sp>
    </p:spTree>
    <p:extLst>
      <p:ext uri="{BB962C8B-B14F-4D97-AF65-F5344CB8AC3E}">
        <p14:creationId xmlns:p14="http://schemas.microsoft.com/office/powerpoint/2010/main" val="2583695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1120</TotalTime>
  <Words>2526</Words>
  <Application>Microsoft Office PowerPoint</Application>
  <PresentationFormat>Custom</PresentationFormat>
  <Paragraphs>239</Paragraphs>
  <Slides>42</Slides>
  <Notes>0</Notes>
  <HiddenSlides>0</HiddenSlides>
  <MMClips>10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Aptos</vt:lpstr>
      <vt:lpstr>Arial</vt:lpstr>
      <vt:lpstr>Calibri</vt:lpstr>
      <vt:lpstr>Courier New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350</cp:revision>
  <dcterms:created xsi:type="dcterms:W3CDTF">2025-04-05T17:32:34Z</dcterms:created>
  <dcterms:modified xsi:type="dcterms:W3CDTF">2025-09-09T01:31:46Z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