
<file path=[Content_Types].xml><?xml version="1.0" encoding="utf-8"?>
<Types xmlns="http://schemas.openxmlformats.org/package/2006/content-types">
  <Default Extension="jpg" ContentType="image/jp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media/image4.jpg" ContentType="image/jpeg"/>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31"/>
  </p:notesMasterIdLst>
  <p:sldIdLst>
    <p:sldId id="256" r:id="rId2"/>
    <p:sldId id="378" r:id="rId3"/>
    <p:sldId id="1786" r:id="rId4"/>
    <p:sldId id="1787" r:id="rId5"/>
    <p:sldId id="1788" r:id="rId6"/>
    <p:sldId id="1794" r:id="rId7"/>
    <p:sldId id="1789" r:id="rId8"/>
    <p:sldId id="1790" r:id="rId9"/>
    <p:sldId id="1791" r:id="rId10"/>
    <p:sldId id="1792" r:id="rId11"/>
    <p:sldId id="1795" r:id="rId12"/>
    <p:sldId id="1796" r:id="rId13"/>
    <p:sldId id="1797" r:id="rId14"/>
    <p:sldId id="1798" r:id="rId15"/>
    <p:sldId id="1799" r:id="rId16"/>
    <p:sldId id="1800" r:id="rId17"/>
    <p:sldId id="1801" r:id="rId18"/>
    <p:sldId id="1802" r:id="rId19"/>
    <p:sldId id="1803" r:id="rId20"/>
    <p:sldId id="1804" r:id="rId21"/>
    <p:sldId id="1805" r:id="rId22"/>
    <p:sldId id="1806" r:id="rId23"/>
    <p:sldId id="1807" r:id="rId24"/>
    <p:sldId id="1808" r:id="rId25"/>
    <p:sldId id="1809" r:id="rId26"/>
    <p:sldId id="1810" r:id="rId27"/>
    <p:sldId id="1811" r:id="rId28"/>
    <p:sldId id="1812" r:id="rId29"/>
    <p:sldId id="612" r:id="rId30"/>
  </p:sldIdLst>
  <p:sldSz cx="12192000" cy="10058400"/>
  <p:notesSz cx="12192000" cy="10058400"/>
  <p:defaultTextStyle>
    <a:defPPr>
      <a:defRPr kern="0"/>
    </a:def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DA37D80-6434-44D0-A028-1B22A696006F}" styleName="Light Style 3 - Accent 2">
    <a:wholeTbl>
      <a:tcTxStyle>
        <a:fontRef idx="minor">
          <a:scrgbClr r="0" g="0" b="0"/>
        </a:fontRef>
        <a:schemeClr val="tx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noFill/>
        </a:fill>
      </a:tcStyle>
    </a:wholeTbl>
    <a:band1H>
      <a:tcStyle>
        <a:tcBdr/>
        <a:fill>
          <a:solidFill>
            <a:schemeClr val="accent2">
              <a:alpha val="20000"/>
            </a:schemeClr>
          </a:solidFill>
        </a:fill>
      </a:tcStyle>
    </a:band1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noFill/>
        </a:fill>
      </a:tcStyle>
    </a:lastRow>
    <a:firstRow>
      <a:tcTxStyle b="on"/>
      <a:tcStyle>
        <a:tcBdr>
          <a:bottom>
            <a:ln w="25400" cmpd="sng">
              <a:solidFill>
                <a:schemeClr val="accent2"/>
              </a:solidFill>
            </a:ln>
          </a:bottom>
        </a:tcBdr>
        <a:fill>
          <a:noFill/>
        </a:fill>
      </a:tcStyle>
    </a:firstRow>
  </a:tblStyle>
  <a:tblStyle styleId="{ED083AE6-46FA-4A59-8FB0-9F97EB10719F}" styleName="Light Style 3 - Accent 4">
    <a:wholeTbl>
      <a:tcTxStyle>
        <a:fontRef idx="minor">
          <a:scrgbClr r="0" g="0" b="0"/>
        </a:fontRef>
        <a:schemeClr val="tx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noFill/>
        </a:fill>
      </a:tcStyle>
    </a:wholeTbl>
    <a:band1H>
      <a:tcStyle>
        <a:tcBdr/>
        <a:fill>
          <a:solidFill>
            <a:schemeClr val="accent4">
              <a:alpha val="20000"/>
            </a:schemeClr>
          </a:solidFill>
        </a:fill>
      </a:tcStyle>
    </a:band1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noFill/>
        </a:fill>
      </a:tcStyle>
    </a:lastRow>
    <a:firstRow>
      <a:tcTxStyle b="on"/>
      <a:tcStyle>
        <a:tcBdr>
          <a:bottom>
            <a:ln w="25400" cmpd="sng">
              <a:solidFill>
                <a:schemeClr val="accent4"/>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0815" autoAdjust="0"/>
    <p:restoredTop sz="94660"/>
  </p:normalViewPr>
  <p:slideViewPr>
    <p:cSldViewPr>
      <p:cViewPr>
        <p:scale>
          <a:sx n="50" d="100"/>
          <a:sy n="50" d="100"/>
        </p:scale>
        <p:origin x="1170" y="28"/>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ableStyles" Target="tableStyles.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5283200" cy="504825"/>
          </a:xfrm>
          <a:prstGeom prst="rect">
            <a:avLst/>
          </a:prstGeom>
        </p:spPr>
        <p:txBody>
          <a:bodyPr vert="horz" lIns="91440" tIns="45720" rIns="91440" bIns="45720" rtlCol="0"/>
          <a:lstStyle>
            <a:lvl1pPr algn="l">
              <a:defRPr sz="1200"/>
            </a:lvl1pPr>
          </a:lstStyle>
          <a:p>
            <a:endParaRPr lang="en-AU"/>
          </a:p>
        </p:txBody>
      </p:sp>
      <p:sp>
        <p:nvSpPr>
          <p:cNvPr id="3" name="Date Placeholder 2"/>
          <p:cNvSpPr>
            <a:spLocks noGrp="1"/>
          </p:cNvSpPr>
          <p:nvPr>
            <p:ph type="dt" idx="1"/>
          </p:nvPr>
        </p:nvSpPr>
        <p:spPr>
          <a:xfrm>
            <a:off x="6905625" y="0"/>
            <a:ext cx="5283200" cy="504825"/>
          </a:xfrm>
          <a:prstGeom prst="rect">
            <a:avLst/>
          </a:prstGeom>
        </p:spPr>
        <p:txBody>
          <a:bodyPr vert="horz" lIns="91440" tIns="45720" rIns="91440" bIns="45720" rtlCol="0"/>
          <a:lstStyle>
            <a:lvl1pPr algn="r">
              <a:defRPr sz="1200"/>
            </a:lvl1pPr>
          </a:lstStyle>
          <a:p>
            <a:fld id="{4CDA5373-6344-4AF6-9BAC-A104016F08E5}" type="datetimeFigureOut">
              <a:rPr lang="en-AU" smtClean="0"/>
              <a:t>10/08/2025</a:t>
            </a:fld>
            <a:endParaRPr lang="en-AU"/>
          </a:p>
        </p:txBody>
      </p:sp>
      <p:sp>
        <p:nvSpPr>
          <p:cNvPr id="4" name="Slide Image Placeholder 3"/>
          <p:cNvSpPr>
            <a:spLocks noGrp="1" noRot="1" noChangeAspect="1"/>
          </p:cNvSpPr>
          <p:nvPr>
            <p:ph type="sldImg" idx="2"/>
          </p:nvPr>
        </p:nvSpPr>
        <p:spPr>
          <a:xfrm>
            <a:off x="4038600" y="1257300"/>
            <a:ext cx="4114800" cy="3394075"/>
          </a:xfrm>
          <a:prstGeom prst="rect">
            <a:avLst/>
          </a:prstGeom>
          <a:noFill/>
          <a:ln w="12700">
            <a:solidFill>
              <a:prstClr val="black"/>
            </a:solidFill>
          </a:ln>
        </p:spPr>
        <p:txBody>
          <a:bodyPr vert="horz" lIns="91440" tIns="45720" rIns="91440" bIns="45720" rtlCol="0" anchor="ctr"/>
          <a:lstStyle/>
          <a:p>
            <a:endParaRPr lang="en-AU"/>
          </a:p>
        </p:txBody>
      </p:sp>
      <p:sp>
        <p:nvSpPr>
          <p:cNvPr id="5" name="Notes Placeholder 4"/>
          <p:cNvSpPr>
            <a:spLocks noGrp="1"/>
          </p:cNvSpPr>
          <p:nvPr>
            <p:ph type="body" sz="quarter" idx="3"/>
          </p:nvPr>
        </p:nvSpPr>
        <p:spPr>
          <a:xfrm>
            <a:off x="1219200" y="4840288"/>
            <a:ext cx="9753600" cy="3960812"/>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6" name="Footer Placeholder 5"/>
          <p:cNvSpPr>
            <a:spLocks noGrp="1"/>
          </p:cNvSpPr>
          <p:nvPr>
            <p:ph type="ftr" sz="quarter" idx="4"/>
          </p:nvPr>
        </p:nvSpPr>
        <p:spPr>
          <a:xfrm>
            <a:off x="0" y="9553575"/>
            <a:ext cx="5283200" cy="504825"/>
          </a:xfrm>
          <a:prstGeom prst="rect">
            <a:avLst/>
          </a:prstGeom>
        </p:spPr>
        <p:txBody>
          <a:bodyPr vert="horz" lIns="91440" tIns="45720" rIns="91440" bIns="45720" rtlCol="0" anchor="b"/>
          <a:lstStyle>
            <a:lvl1pPr algn="l">
              <a:defRPr sz="1200"/>
            </a:lvl1pPr>
          </a:lstStyle>
          <a:p>
            <a:endParaRPr lang="en-AU"/>
          </a:p>
        </p:txBody>
      </p:sp>
      <p:sp>
        <p:nvSpPr>
          <p:cNvPr id="7" name="Slide Number Placeholder 6"/>
          <p:cNvSpPr>
            <a:spLocks noGrp="1"/>
          </p:cNvSpPr>
          <p:nvPr>
            <p:ph type="sldNum" sz="quarter" idx="5"/>
          </p:nvPr>
        </p:nvSpPr>
        <p:spPr>
          <a:xfrm>
            <a:off x="6905625" y="9553575"/>
            <a:ext cx="5283200" cy="504825"/>
          </a:xfrm>
          <a:prstGeom prst="rect">
            <a:avLst/>
          </a:prstGeom>
        </p:spPr>
        <p:txBody>
          <a:bodyPr vert="horz" lIns="91440" tIns="45720" rIns="91440" bIns="45720" rtlCol="0" anchor="b"/>
          <a:lstStyle>
            <a:lvl1pPr algn="r">
              <a:defRPr sz="1200"/>
            </a:lvl1pPr>
          </a:lstStyle>
          <a:p>
            <a:fld id="{F397AD3A-C137-495D-BCE3-2058CBCF8E4C}" type="slidenum">
              <a:rPr lang="en-AU" smtClean="0"/>
              <a:t>‹#›</a:t>
            </a:fld>
            <a:endParaRPr lang="en-AU"/>
          </a:p>
        </p:txBody>
      </p:sp>
    </p:spTree>
    <p:extLst>
      <p:ext uri="{BB962C8B-B14F-4D97-AF65-F5344CB8AC3E}">
        <p14:creationId xmlns:p14="http://schemas.microsoft.com/office/powerpoint/2010/main" val="326785415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obj" preserve="1">
  <p:cSld name="Title Slide">
    <p:bg>
      <p:bgPr>
        <a:solidFill>
          <a:schemeClr val="bg1"/>
        </a:solidFill>
        <a:effectLst/>
      </p:bgPr>
    </p:bg>
    <p:spTree>
      <p:nvGrpSpPr>
        <p:cNvPr id="1" name=""/>
        <p:cNvGrpSpPr/>
        <p:nvPr/>
      </p:nvGrpSpPr>
      <p:grpSpPr>
        <a:xfrm>
          <a:off x="0" y="0"/>
          <a:ext cx="0" cy="0"/>
          <a:chOff x="0" y="0"/>
          <a:chExt cx="0" cy="0"/>
        </a:xfrm>
      </p:grpSpPr>
      <p:pic>
        <p:nvPicPr>
          <p:cNvPr id="16" name="bg object 16"/>
          <p:cNvPicPr/>
          <p:nvPr/>
        </p:nvPicPr>
        <p:blipFill>
          <a:blip r:embed="rId2" cstate="print"/>
          <a:stretch>
            <a:fillRect/>
          </a:stretch>
        </p:blipFill>
        <p:spPr>
          <a:xfrm>
            <a:off x="0" y="0"/>
            <a:ext cx="12192000" cy="6857999"/>
          </a:xfrm>
          <a:prstGeom prst="rect">
            <a:avLst/>
          </a:prstGeom>
        </p:spPr>
      </p:pic>
      <p:pic>
        <p:nvPicPr>
          <p:cNvPr id="17" name="bg object 17"/>
          <p:cNvPicPr/>
          <p:nvPr/>
        </p:nvPicPr>
        <p:blipFill>
          <a:blip r:embed="rId3" cstate="print"/>
          <a:stretch>
            <a:fillRect/>
          </a:stretch>
        </p:blipFill>
        <p:spPr>
          <a:xfrm>
            <a:off x="3299459" y="77723"/>
            <a:ext cx="4029455" cy="1479803"/>
          </a:xfrm>
          <a:prstGeom prst="rect">
            <a:avLst/>
          </a:prstGeom>
        </p:spPr>
      </p:pic>
      <p:sp>
        <p:nvSpPr>
          <p:cNvPr id="2" name="Holder 2"/>
          <p:cNvSpPr>
            <a:spLocks noGrp="1"/>
          </p:cNvSpPr>
          <p:nvPr>
            <p:ph type="ctrTitle"/>
          </p:nvPr>
        </p:nvSpPr>
        <p:spPr>
          <a:xfrm>
            <a:off x="3055111" y="1967229"/>
            <a:ext cx="4791075" cy="452119"/>
          </a:xfrm>
          <a:prstGeom prst="rect">
            <a:avLst/>
          </a:prstGeom>
        </p:spPr>
        <p:txBody>
          <a:bodyPr wrap="square" lIns="0" tIns="0" rIns="0" bIns="0">
            <a:spAutoFit/>
          </a:bodyPr>
          <a:lstStyle>
            <a:lvl1pPr>
              <a:defRPr sz="2400" b="1" i="0">
                <a:solidFill>
                  <a:srgbClr val="0D0D0D"/>
                </a:solidFill>
                <a:latin typeface="Calibri"/>
                <a:cs typeface="Calibri"/>
              </a:defRPr>
            </a:lvl1pPr>
          </a:lstStyle>
          <a:p>
            <a:endParaRPr/>
          </a:p>
        </p:txBody>
      </p:sp>
      <p:sp>
        <p:nvSpPr>
          <p:cNvPr id="3" name="Holder 3"/>
          <p:cNvSpPr>
            <a:spLocks noGrp="1"/>
          </p:cNvSpPr>
          <p:nvPr>
            <p:ph type="subTitle" idx="4"/>
          </p:nvPr>
        </p:nvSpPr>
        <p:spPr>
          <a:xfrm>
            <a:off x="1828800" y="3840480"/>
            <a:ext cx="8534400" cy="1714500"/>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8/10/2025</a:t>
            </a:fld>
            <a:endParaRPr lang="en-US"/>
          </a:p>
        </p:txBody>
      </p:sp>
      <p:sp>
        <p:nvSpPr>
          <p:cNvPr id="6" name="Holder 6"/>
          <p:cNvSpPr>
            <a:spLocks noGrp="1"/>
          </p:cNvSpPr>
          <p:nvPr>
            <p:ph type="sldNum" sz="quarter" idx="7"/>
          </p:nvPr>
        </p:nvSpPr>
        <p:spPr/>
        <p:txBody>
          <a:bodyPr lIns="0" tIns="0" rIns="0" bIns="0"/>
          <a:lstStyle>
            <a:lvl1pPr>
              <a:defRPr sz="1100" b="0" i="0">
                <a:solidFill>
                  <a:schemeClr val="tx1"/>
                </a:solidFill>
                <a:latin typeface="Calibri"/>
                <a:cs typeface="Calibri"/>
              </a:defRPr>
            </a:lvl1pPr>
          </a:lstStyle>
          <a:p>
            <a:pPr marL="12700">
              <a:lnSpc>
                <a:spcPct val="100000"/>
              </a:lnSpc>
            </a:pPr>
            <a:r>
              <a:rPr dirty="0"/>
              <a:t>Page</a:t>
            </a:r>
            <a:r>
              <a:rPr spc="10" dirty="0"/>
              <a:t> </a:t>
            </a:r>
            <a:fld id="{81D60167-4931-47E6-BA6A-407CBD079E47}" type="slidenum">
              <a:rPr sz="1000" spc="-25" dirty="0">
                <a:latin typeface="Verdana"/>
                <a:cs typeface="Verdana"/>
              </a:rPr>
              <a:t>‹#›</a:t>
            </a:fld>
            <a:endParaRPr sz="1000">
              <a:latin typeface="Verdana"/>
              <a:cs typeface="Verdana"/>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obj" preserve="1">
  <p:cSld name="Title and Content">
    <p:bg>
      <p:bgPr>
        <a:solidFill>
          <a:schemeClr val="bg1"/>
        </a:solidFill>
        <a:effectLst/>
      </p:bgPr>
    </p:bg>
    <p:spTree>
      <p:nvGrpSpPr>
        <p:cNvPr id="1" name=""/>
        <p:cNvGrpSpPr/>
        <p:nvPr/>
      </p:nvGrpSpPr>
      <p:grpSpPr>
        <a:xfrm>
          <a:off x="0" y="0"/>
          <a:ext cx="0" cy="0"/>
          <a:chOff x="0" y="0"/>
          <a:chExt cx="0" cy="0"/>
        </a:xfrm>
      </p:grpSpPr>
      <p:pic>
        <p:nvPicPr>
          <p:cNvPr id="16" name="bg object 16"/>
          <p:cNvPicPr/>
          <p:nvPr/>
        </p:nvPicPr>
        <p:blipFill>
          <a:blip r:embed="rId2" cstate="print"/>
          <a:stretch>
            <a:fillRect/>
          </a:stretch>
        </p:blipFill>
        <p:spPr>
          <a:xfrm>
            <a:off x="0" y="0"/>
            <a:ext cx="12192000" cy="649224"/>
          </a:xfrm>
          <a:prstGeom prst="rect">
            <a:avLst/>
          </a:prstGeom>
        </p:spPr>
      </p:pic>
      <p:pic>
        <p:nvPicPr>
          <p:cNvPr id="17" name="bg object 17"/>
          <p:cNvPicPr/>
          <p:nvPr/>
        </p:nvPicPr>
        <p:blipFill>
          <a:blip r:embed="rId3" cstate="print"/>
          <a:stretch>
            <a:fillRect/>
          </a:stretch>
        </p:blipFill>
        <p:spPr>
          <a:xfrm>
            <a:off x="192023" y="42671"/>
            <a:ext cx="1531620" cy="562355"/>
          </a:xfrm>
          <a:prstGeom prst="rect">
            <a:avLst/>
          </a:prstGeom>
        </p:spPr>
      </p:pic>
      <p:sp>
        <p:nvSpPr>
          <p:cNvPr id="2" name="Holder 2"/>
          <p:cNvSpPr>
            <a:spLocks noGrp="1"/>
          </p:cNvSpPr>
          <p:nvPr>
            <p:ph type="title"/>
          </p:nvPr>
        </p:nvSpPr>
        <p:spPr/>
        <p:txBody>
          <a:bodyPr lIns="0" tIns="0" rIns="0" bIns="0"/>
          <a:lstStyle>
            <a:lvl1pPr>
              <a:defRPr sz="2400" b="1" i="0">
                <a:solidFill>
                  <a:srgbClr val="0D0D0D"/>
                </a:solidFill>
                <a:latin typeface="Calibri"/>
                <a:cs typeface="Calibri"/>
              </a:defRPr>
            </a:lvl1pPr>
          </a:lstStyle>
          <a:p>
            <a:endParaRPr/>
          </a:p>
        </p:txBody>
      </p:sp>
      <p:sp>
        <p:nvSpPr>
          <p:cNvPr id="3" name="Holder 3"/>
          <p:cNvSpPr>
            <a:spLocks noGrp="1"/>
          </p:cNvSpPr>
          <p:nvPr>
            <p:ph type="body" idx="1"/>
          </p:nvPr>
        </p:nvSpPr>
        <p:spPr/>
        <p:txBody>
          <a:bodyPr lIns="0" tIns="0" rIns="0" bIns="0"/>
          <a:lstStyle>
            <a:lvl1pPr>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8/10/2025</a:t>
            </a:fld>
            <a:endParaRPr lang="en-US"/>
          </a:p>
        </p:txBody>
      </p:sp>
      <p:sp>
        <p:nvSpPr>
          <p:cNvPr id="6" name="Holder 6"/>
          <p:cNvSpPr>
            <a:spLocks noGrp="1"/>
          </p:cNvSpPr>
          <p:nvPr>
            <p:ph type="sldNum" sz="quarter" idx="7"/>
          </p:nvPr>
        </p:nvSpPr>
        <p:spPr/>
        <p:txBody>
          <a:bodyPr lIns="0" tIns="0" rIns="0" bIns="0"/>
          <a:lstStyle>
            <a:lvl1pPr>
              <a:defRPr sz="1100" b="0" i="0">
                <a:solidFill>
                  <a:schemeClr val="tx1"/>
                </a:solidFill>
                <a:latin typeface="Calibri"/>
                <a:cs typeface="Calibri"/>
              </a:defRPr>
            </a:lvl1pPr>
          </a:lstStyle>
          <a:p>
            <a:pPr marL="12700">
              <a:lnSpc>
                <a:spcPct val="100000"/>
              </a:lnSpc>
            </a:pPr>
            <a:r>
              <a:rPr dirty="0"/>
              <a:t>Page</a:t>
            </a:r>
            <a:r>
              <a:rPr spc="10" dirty="0"/>
              <a:t> </a:t>
            </a:r>
            <a:fld id="{81D60167-4931-47E6-BA6A-407CBD079E47}" type="slidenum">
              <a:rPr sz="1000" spc="-25" dirty="0">
                <a:latin typeface="Verdana"/>
                <a:cs typeface="Verdana"/>
              </a:rPr>
              <a:t>‹#›</a:t>
            </a:fld>
            <a:endParaRPr sz="1000">
              <a:latin typeface="Verdana"/>
              <a:cs typeface="Verdana"/>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400" b="1" i="0">
                <a:solidFill>
                  <a:srgbClr val="0D0D0D"/>
                </a:solidFill>
                <a:latin typeface="Calibri"/>
                <a:cs typeface="Calibri"/>
              </a:defRPr>
            </a:lvl1pPr>
          </a:lstStyle>
          <a:p>
            <a:endParaRPr/>
          </a:p>
        </p:txBody>
      </p:sp>
      <p:sp>
        <p:nvSpPr>
          <p:cNvPr id="3" name="Holder 3"/>
          <p:cNvSpPr>
            <a:spLocks noGrp="1"/>
          </p:cNvSpPr>
          <p:nvPr>
            <p:ph sz="half" idx="2"/>
          </p:nvPr>
        </p:nvSpPr>
        <p:spPr>
          <a:xfrm>
            <a:off x="609600" y="1577340"/>
            <a:ext cx="5303520" cy="4526280"/>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6278880" y="1577340"/>
            <a:ext cx="5303520" cy="4526280"/>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8/10/2025</a:t>
            </a:fld>
            <a:endParaRPr lang="en-US"/>
          </a:p>
        </p:txBody>
      </p:sp>
      <p:sp>
        <p:nvSpPr>
          <p:cNvPr id="7" name="Holder 7"/>
          <p:cNvSpPr>
            <a:spLocks noGrp="1"/>
          </p:cNvSpPr>
          <p:nvPr>
            <p:ph type="sldNum" sz="quarter" idx="7"/>
          </p:nvPr>
        </p:nvSpPr>
        <p:spPr/>
        <p:txBody>
          <a:bodyPr lIns="0" tIns="0" rIns="0" bIns="0"/>
          <a:lstStyle>
            <a:lvl1pPr>
              <a:defRPr sz="1100" b="0" i="0">
                <a:solidFill>
                  <a:schemeClr val="tx1"/>
                </a:solidFill>
                <a:latin typeface="Calibri"/>
                <a:cs typeface="Calibri"/>
              </a:defRPr>
            </a:lvl1pPr>
          </a:lstStyle>
          <a:p>
            <a:pPr marL="12700">
              <a:lnSpc>
                <a:spcPct val="100000"/>
              </a:lnSpc>
            </a:pPr>
            <a:r>
              <a:rPr dirty="0"/>
              <a:t>Page</a:t>
            </a:r>
            <a:r>
              <a:rPr spc="10" dirty="0"/>
              <a:t> </a:t>
            </a:r>
            <a:fld id="{81D60167-4931-47E6-BA6A-407CBD079E47}" type="slidenum">
              <a:rPr sz="1000" spc="-25" dirty="0">
                <a:latin typeface="Verdana"/>
                <a:cs typeface="Verdana"/>
              </a:rPr>
              <a:t>‹#›</a:t>
            </a:fld>
            <a:endParaRPr sz="1000">
              <a:latin typeface="Verdana"/>
              <a:cs typeface="Verdana"/>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obj" preserve="1">
  <p:cSld name="Title Only">
    <p:bg>
      <p:bgPr>
        <a:solidFill>
          <a:schemeClr val="bg1"/>
        </a:solidFill>
        <a:effectLst/>
      </p:bgPr>
    </p:bg>
    <p:spTree>
      <p:nvGrpSpPr>
        <p:cNvPr id="1" name=""/>
        <p:cNvGrpSpPr/>
        <p:nvPr/>
      </p:nvGrpSpPr>
      <p:grpSpPr>
        <a:xfrm>
          <a:off x="0" y="0"/>
          <a:ext cx="0" cy="0"/>
          <a:chOff x="0" y="0"/>
          <a:chExt cx="0" cy="0"/>
        </a:xfrm>
      </p:grpSpPr>
      <p:pic>
        <p:nvPicPr>
          <p:cNvPr id="16" name="bg object 16"/>
          <p:cNvPicPr/>
          <p:nvPr/>
        </p:nvPicPr>
        <p:blipFill>
          <a:blip r:embed="rId2" cstate="print"/>
          <a:stretch>
            <a:fillRect/>
          </a:stretch>
        </p:blipFill>
        <p:spPr>
          <a:xfrm>
            <a:off x="0" y="0"/>
            <a:ext cx="12192000" cy="6857999"/>
          </a:xfrm>
          <a:prstGeom prst="rect">
            <a:avLst/>
          </a:prstGeom>
        </p:spPr>
      </p:pic>
      <p:pic>
        <p:nvPicPr>
          <p:cNvPr id="17" name="bg object 17"/>
          <p:cNvPicPr/>
          <p:nvPr/>
        </p:nvPicPr>
        <p:blipFill>
          <a:blip r:embed="rId3" cstate="print"/>
          <a:stretch>
            <a:fillRect/>
          </a:stretch>
        </p:blipFill>
        <p:spPr>
          <a:xfrm>
            <a:off x="3299459" y="77723"/>
            <a:ext cx="4029455" cy="1479803"/>
          </a:xfrm>
          <a:prstGeom prst="rect">
            <a:avLst/>
          </a:prstGeom>
        </p:spPr>
      </p:pic>
      <p:sp>
        <p:nvSpPr>
          <p:cNvPr id="2" name="Holder 2"/>
          <p:cNvSpPr>
            <a:spLocks noGrp="1"/>
          </p:cNvSpPr>
          <p:nvPr>
            <p:ph type="title"/>
          </p:nvPr>
        </p:nvSpPr>
        <p:spPr/>
        <p:txBody>
          <a:bodyPr lIns="0" tIns="0" rIns="0" bIns="0"/>
          <a:lstStyle>
            <a:lvl1pPr>
              <a:defRPr sz="2400" b="1" i="0">
                <a:solidFill>
                  <a:srgbClr val="0D0D0D"/>
                </a:solidFill>
                <a:latin typeface="Calibri"/>
                <a:cs typeface="Calibri"/>
              </a:defRPr>
            </a:lvl1pPr>
          </a:lstStyle>
          <a:p>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8/10/2025</a:t>
            </a:fld>
            <a:endParaRPr lang="en-US"/>
          </a:p>
        </p:txBody>
      </p:sp>
      <p:sp>
        <p:nvSpPr>
          <p:cNvPr id="5" name="Holder 5"/>
          <p:cNvSpPr>
            <a:spLocks noGrp="1"/>
          </p:cNvSpPr>
          <p:nvPr>
            <p:ph type="sldNum" sz="quarter" idx="7"/>
          </p:nvPr>
        </p:nvSpPr>
        <p:spPr/>
        <p:txBody>
          <a:bodyPr lIns="0" tIns="0" rIns="0" bIns="0"/>
          <a:lstStyle>
            <a:lvl1pPr>
              <a:defRPr sz="1100" b="0" i="0">
                <a:solidFill>
                  <a:schemeClr val="tx1"/>
                </a:solidFill>
                <a:latin typeface="Calibri"/>
                <a:cs typeface="Calibri"/>
              </a:defRPr>
            </a:lvl1pPr>
          </a:lstStyle>
          <a:p>
            <a:pPr marL="12700">
              <a:lnSpc>
                <a:spcPct val="100000"/>
              </a:lnSpc>
            </a:pPr>
            <a:r>
              <a:rPr dirty="0"/>
              <a:t>Page</a:t>
            </a:r>
            <a:r>
              <a:rPr spc="10" dirty="0"/>
              <a:t> </a:t>
            </a:r>
            <a:fld id="{81D60167-4931-47E6-BA6A-407CBD079E47}" type="slidenum">
              <a:rPr sz="1000" spc="-25" dirty="0">
                <a:latin typeface="Verdana"/>
                <a:cs typeface="Verdana"/>
              </a:rPr>
              <a:t>‹#›</a:t>
            </a:fld>
            <a:endParaRPr sz="1000">
              <a:latin typeface="Verdana"/>
              <a:cs typeface="Verdana"/>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8/10/2025</a:t>
            </a:fld>
            <a:endParaRPr lang="en-US"/>
          </a:p>
        </p:txBody>
      </p:sp>
      <p:sp>
        <p:nvSpPr>
          <p:cNvPr id="4" name="Holder 4"/>
          <p:cNvSpPr>
            <a:spLocks noGrp="1"/>
          </p:cNvSpPr>
          <p:nvPr>
            <p:ph type="sldNum" sz="quarter" idx="7"/>
          </p:nvPr>
        </p:nvSpPr>
        <p:spPr/>
        <p:txBody>
          <a:bodyPr lIns="0" tIns="0" rIns="0" bIns="0"/>
          <a:lstStyle>
            <a:lvl1pPr>
              <a:defRPr sz="1100" b="0" i="0">
                <a:solidFill>
                  <a:schemeClr val="tx1"/>
                </a:solidFill>
                <a:latin typeface="Calibri"/>
                <a:cs typeface="Calibri"/>
              </a:defRPr>
            </a:lvl1pPr>
          </a:lstStyle>
          <a:p>
            <a:pPr marL="12700">
              <a:lnSpc>
                <a:spcPct val="100000"/>
              </a:lnSpc>
            </a:pPr>
            <a:r>
              <a:rPr dirty="0"/>
              <a:t>Page</a:t>
            </a:r>
            <a:r>
              <a:rPr spc="10" dirty="0"/>
              <a:t> </a:t>
            </a:r>
            <a:fld id="{81D60167-4931-47E6-BA6A-407CBD079E47}" type="slidenum">
              <a:rPr sz="1000" spc="-25" dirty="0">
                <a:latin typeface="Verdana"/>
                <a:cs typeface="Verdana"/>
              </a:rPr>
              <a:t>‹#›</a:t>
            </a:fld>
            <a:endParaRPr sz="1000">
              <a:latin typeface="Verdana"/>
              <a:cs typeface="Verdana"/>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older 2"/>
          <p:cNvSpPr>
            <a:spLocks noGrp="1"/>
          </p:cNvSpPr>
          <p:nvPr>
            <p:ph type="title"/>
          </p:nvPr>
        </p:nvSpPr>
        <p:spPr>
          <a:xfrm>
            <a:off x="78739" y="-1396"/>
            <a:ext cx="12034520" cy="391160"/>
          </a:xfrm>
          <a:prstGeom prst="rect">
            <a:avLst/>
          </a:prstGeom>
        </p:spPr>
        <p:txBody>
          <a:bodyPr wrap="square" lIns="0" tIns="0" rIns="0" bIns="0">
            <a:spAutoFit/>
          </a:bodyPr>
          <a:lstStyle>
            <a:lvl1pPr>
              <a:defRPr sz="2400" b="1" i="0">
                <a:solidFill>
                  <a:srgbClr val="0D0D0D"/>
                </a:solidFill>
                <a:latin typeface="Calibri"/>
                <a:cs typeface="Calibri"/>
              </a:defRPr>
            </a:lvl1pPr>
          </a:lstStyle>
          <a:p>
            <a:endParaRPr/>
          </a:p>
        </p:txBody>
      </p:sp>
      <p:sp>
        <p:nvSpPr>
          <p:cNvPr id="3" name="Holder 3"/>
          <p:cNvSpPr>
            <a:spLocks noGrp="1"/>
          </p:cNvSpPr>
          <p:nvPr>
            <p:ph type="body" idx="1"/>
          </p:nvPr>
        </p:nvSpPr>
        <p:spPr>
          <a:xfrm>
            <a:off x="609600" y="1577340"/>
            <a:ext cx="10972800" cy="4526280"/>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a:xfrm>
            <a:off x="4145280" y="6377940"/>
            <a:ext cx="3901440" cy="342900"/>
          </a:xfrm>
          <a:prstGeom prst="rect">
            <a:avLst/>
          </a:prstGeom>
        </p:spPr>
        <p:txBody>
          <a:bodyPr wrap="square" lIns="0" tIns="0" rIns="0" bIns="0">
            <a:spAutoFit/>
          </a:bodyPr>
          <a:lstStyle>
            <a:lvl1pPr algn="ctr">
              <a:defRPr>
                <a:solidFill>
                  <a:schemeClr val="tx1">
                    <a:tint val="75000"/>
                  </a:schemeClr>
                </a:solidFill>
              </a:defRPr>
            </a:lvl1pPr>
          </a:lstStyle>
          <a:p>
            <a:endParaRPr/>
          </a:p>
        </p:txBody>
      </p:sp>
      <p:sp>
        <p:nvSpPr>
          <p:cNvPr id="5" name="Holder 5"/>
          <p:cNvSpPr>
            <a:spLocks noGrp="1"/>
          </p:cNvSpPr>
          <p:nvPr>
            <p:ph type="dt" sz="half" idx="6"/>
          </p:nvPr>
        </p:nvSpPr>
        <p:spPr>
          <a:xfrm>
            <a:off x="609600" y="6377940"/>
            <a:ext cx="2804160" cy="342900"/>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t>8/10/2025</a:t>
            </a:fld>
            <a:endParaRPr lang="en-US"/>
          </a:p>
        </p:txBody>
      </p:sp>
      <p:sp>
        <p:nvSpPr>
          <p:cNvPr id="6" name="Holder 6"/>
          <p:cNvSpPr>
            <a:spLocks noGrp="1"/>
          </p:cNvSpPr>
          <p:nvPr>
            <p:ph type="sldNum" sz="quarter" idx="7"/>
          </p:nvPr>
        </p:nvSpPr>
        <p:spPr>
          <a:xfrm>
            <a:off x="5921502" y="9253759"/>
            <a:ext cx="533400" cy="187959"/>
          </a:xfrm>
          <a:prstGeom prst="rect">
            <a:avLst/>
          </a:prstGeom>
        </p:spPr>
        <p:txBody>
          <a:bodyPr wrap="square" lIns="0" tIns="0" rIns="0" bIns="0">
            <a:spAutoFit/>
          </a:bodyPr>
          <a:lstStyle>
            <a:lvl1pPr>
              <a:defRPr sz="1100" b="0" i="0">
                <a:solidFill>
                  <a:schemeClr val="tx1"/>
                </a:solidFill>
                <a:latin typeface="Calibri"/>
                <a:cs typeface="Calibri"/>
              </a:defRPr>
            </a:lvl1pPr>
          </a:lstStyle>
          <a:p>
            <a:pPr marL="12700">
              <a:lnSpc>
                <a:spcPct val="100000"/>
              </a:lnSpc>
            </a:pPr>
            <a:r>
              <a:rPr dirty="0"/>
              <a:t>Page</a:t>
            </a:r>
            <a:r>
              <a:rPr spc="10" dirty="0"/>
              <a:t> </a:t>
            </a:r>
            <a:fld id="{81D60167-4931-47E6-BA6A-407CBD079E47}" type="slidenum">
              <a:rPr sz="1000" spc="-25" dirty="0">
                <a:latin typeface="Verdana"/>
                <a:cs typeface="Verdana"/>
              </a:rPr>
              <a:t>‹#›</a:t>
            </a:fld>
            <a:endParaRPr sz="1000">
              <a:latin typeface="Verdana"/>
              <a:cs typeface="Verdana"/>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image" Target="../media/image4.jpg"/><Relationship Id="rId1" Type="http://schemas.openxmlformats.org/officeDocument/2006/relationships/slideLayout" Target="../slideLayouts/slideLayout5.xml"/></Relationships>
</file>

<file path=ppt/slides/_rels/slide2.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jpg"/><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5.jpg"/><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5.jpg"/><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5.jpg"/><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5.jpg"/><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5.jpg"/><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5.jpg"/><Relationship Id="rId1" Type="http://schemas.openxmlformats.org/officeDocument/2006/relationships/slideLayout" Target="../slideLayouts/slideLayout5.xml"/></Relationships>
</file>

<file path=ppt/slides/_rels/slide1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5.jpg"/><Relationship Id="rId1" Type="http://schemas.openxmlformats.org/officeDocument/2006/relationships/slideLayout" Target="../slideLayouts/slideLayout5.xml"/></Relationships>
</file>

<file path=ppt/slides/_rels/slide1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5.jpg"/><Relationship Id="rId1" Type="http://schemas.openxmlformats.org/officeDocument/2006/relationships/slideLayout" Target="../slideLayouts/slideLayout5.xml"/></Relationships>
</file>

<file path=ppt/slides/_rels/slide1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5.jpg"/><Relationship Id="rId1" Type="http://schemas.openxmlformats.org/officeDocument/2006/relationships/slideLayout" Target="../slideLayouts/slideLayout5.xml"/><Relationship Id="rId4" Type="http://schemas.openxmlformats.org/officeDocument/2006/relationships/image" Target="../media/image11.png"/></Relationships>
</file>

<file path=ppt/slides/_rels/slide1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5.jpg"/><Relationship Id="rId1" Type="http://schemas.openxmlformats.org/officeDocument/2006/relationships/slideLayout" Target="../slideLayouts/slideLayout5.xml"/></Relationships>
</file>

<file path=ppt/slides/_rels/slide19.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Layout" Target="../slideLayouts/slideLayout5.xml"/></Relationships>
</file>

<file path=ppt/slides/_rels/slide20.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Layout" Target="../slideLayouts/slideLayout5.xml"/></Relationships>
</file>

<file path=ppt/slides/_rels/slide2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5.jpg"/><Relationship Id="rId1" Type="http://schemas.openxmlformats.org/officeDocument/2006/relationships/slideLayout" Target="../slideLayouts/slideLayout5.xml"/></Relationships>
</file>

<file path=ppt/slides/_rels/slide22.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5.jpg"/><Relationship Id="rId1" Type="http://schemas.openxmlformats.org/officeDocument/2006/relationships/slideLayout" Target="../slideLayouts/slideLayout5.xml"/></Relationships>
</file>

<file path=ppt/slides/_rels/slide23.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Layout" Target="../slideLayouts/slideLayout5.xml"/></Relationships>
</file>

<file path=ppt/slides/_rels/slide24.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Layout" Target="../slideLayouts/slideLayout5.xml"/></Relationships>
</file>

<file path=ppt/slides/_rels/slide2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5.jpg"/><Relationship Id="rId1" Type="http://schemas.openxmlformats.org/officeDocument/2006/relationships/slideLayout" Target="../slideLayouts/slideLayout5.xml"/></Relationships>
</file>

<file path=ppt/slides/_rels/slide2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5.jpg"/><Relationship Id="rId1" Type="http://schemas.openxmlformats.org/officeDocument/2006/relationships/slideLayout" Target="../slideLayouts/slideLayout5.xml"/></Relationships>
</file>

<file path=ppt/slides/_rels/slide27.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5.jpg"/><Relationship Id="rId1" Type="http://schemas.openxmlformats.org/officeDocument/2006/relationships/slideLayout" Target="../slideLayouts/slideLayout5.xml"/></Relationships>
</file>

<file path=ppt/slides/_rels/slide28.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Layout" Target="../slideLayouts/slideLayout5.xml"/></Relationships>
</file>

<file path=ppt/slides/_rels/slide29.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7" name="Rectangle 16">
            <a:extLst>
              <a:ext uri="{FF2B5EF4-FFF2-40B4-BE49-F238E27FC236}">
                <a16:creationId xmlns:a16="http://schemas.microsoft.com/office/drawing/2014/main" id="{B5A8AFA4-5C32-4100-9C6D-839A47E15FA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100584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a:extLst>
              <a:ext uri="{FF2B5EF4-FFF2-40B4-BE49-F238E27FC236}">
                <a16:creationId xmlns:a16="http://schemas.microsoft.com/office/drawing/2014/main" id="{96B5F253-7949-47C2-9DBD-1570ECDA229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85799" y="1005839"/>
            <a:ext cx="5421703" cy="8046721"/>
          </a:xfrm>
          <a:prstGeom prst="rect">
            <a:avLst/>
          </a:prstGeom>
          <a:solidFill>
            <a:schemeClr val="accent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B3C8CCC5-7719-5429-9C16-F066E03793F0}"/>
              </a:ext>
            </a:extLst>
          </p:cNvPr>
          <p:cNvSpPr txBox="1"/>
          <p:nvPr/>
        </p:nvSpPr>
        <p:spPr>
          <a:xfrm>
            <a:off x="914400" y="1840319"/>
            <a:ext cx="4953000" cy="2350681"/>
          </a:xfrm>
          <a:prstGeom prst="rect">
            <a:avLst/>
          </a:prstGeom>
        </p:spPr>
        <p:txBody>
          <a:bodyPr vert="horz" lIns="91440" tIns="45720" rIns="91440" bIns="45720" rtlCol="0" anchor="b">
            <a:normAutofit/>
          </a:bodyPr>
          <a:lstStyle/>
          <a:p>
            <a:pPr algn="ctr" rtl="0">
              <a:lnSpc>
                <a:spcPct val="90000"/>
              </a:lnSpc>
              <a:spcBef>
                <a:spcPct val="0"/>
              </a:spcBef>
              <a:spcAft>
                <a:spcPts val="600"/>
              </a:spcAft>
            </a:pPr>
            <a:r>
              <a:rPr lang="en-US" sz="3600" b="1" kern="1200" dirty="0">
                <a:solidFill>
                  <a:srgbClr val="595959"/>
                </a:solidFill>
                <a:latin typeface="+mj-lt"/>
                <a:ea typeface="+mj-ea"/>
                <a:cs typeface="+mj-cs"/>
              </a:rPr>
              <a:t>HI6040 (Artificial Intelligence and Machine Learning)</a:t>
            </a:r>
          </a:p>
          <a:p>
            <a:pPr algn="ctr" rtl="0">
              <a:lnSpc>
                <a:spcPct val="90000"/>
              </a:lnSpc>
              <a:spcBef>
                <a:spcPct val="0"/>
              </a:spcBef>
              <a:spcAft>
                <a:spcPts val="600"/>
              </a:spcAft>
            </a:pPr>
            <a:r>
              <a:rPr lang="en-US" sz="3600" b="1" kern="1200" dirty="0">
                <a:solidFill>
                  <a:srgbClr val="595959"/>
                </a:solidFill>
                <a:latin typeface="+mj-lt"/>
                <a:ea typeface="+mj-ea"/>
                <a:cs typeface="+mj-cs"/>
              </a:rPr>
              <a:t>Dr. Farshid Keivanian</a:t>
            </a:r>
            <a:endParaRPr lang="en-US" sz="3600" kern="1200" dirty="0">
              <a:solidFill>
                <a:srgbClr val="595959"/>
              </a:solidFill>
              <a:latin typeface="+mj-lt"/>
              <a:ea typeface="+mj-ea"/>
              <a:cs typeface="+mj-cs"/>
            </a:endParaRPr>
          </a:p>
        </p:txBody>
      </p:sp>
      <p:pic>
        <p:nvPicPr>
          <p:cNvPr id="4" name="Picture 3">
            <a:extLst>
              <a:ext uri="{FF2B5EF4-FFF2-40B4-BE49-F238E27FC236}">
                <a16:creationId xmlns:a16="http://schemas.microsoft.com/office/drawing/2014/main" id="{37BA1B80-27DD-FC4B-43BE-F15BBB7F77C0}"/>
              </a:ext>
            </a:extLst>
          </p:cNvPr>
          <p:cNvPicPr>
            <a:picLocks noChangeAspect="1"/>
          </p:cNvPicPr>
          <p:nvPr/>
        </p:nvPicPr>
        <p:blipFill>
          <a:blip r:embed="rId2">
            <a:extLst>
              <a:ext uri="{28A0092B-C50C-407E-A947-70E740481C1C}">
                <a14:useLocalDpi xmlns:a14="http://schemas.microsoft.com/office/drawing/2010/main" val="0"/>
              </a:ext>
            </a:extLst>
          </a:blip>
          <a:srcRect l="4968" r="24813" b="1"/>
          <a:stretch>
            <a:fillRect/>
          </a:stretch>
        </p:blipFill>
        <p:spPr>
          <a:xfrm>
            <a:off x="6107503" y="1005838"/>
            <a:ext cx="5410200" cy="8046720"/>
          </a:xfrm>
          <a:prstGeom prst="rect">
            <a:avLst/>
          </a:prstGeom>
        </p:spPr>
      </p:pic>
      <p:pic>
        <p:nvPicPr>
          <p:cNvPr id="3" name="object 3"/>
          <p:cNvPicPr/>
          <p:nvPr/>
        </p:nvPicPr>
        <p:blipFill>
          <a:blip r:embed="rId3" cstate="print"/>
          <a:stretch>
            <a:fillRect/>
          </a:stretch>
        </p:blipFill>
        <p:spPr>
          <a:xfrm>
            <a:off x="10261092" y="0"/>
            <a:ext cx="1930907" cy="1901952"/>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81F2FAC8-42AD-DB92-166F-2F42E02C4C89}"/>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6747F174-E865-EA2C-9A7B-75ECF3EA7974}"/>
              </a:ext>
            </a:extLst>
          </p:cNvPr>
          <p:cNvSpPr txBox="1"/>
          <p:nvPr/>
        </p:nvSpPr>
        <p:spPr>
          <a:xfrm>
            <a:off x="191211" y="213486"/>
            <a:ext cx="10401300" cy="997709"/>
          </a:xfrm>
          <a:prstGeom prst="rect">
            <a:avLst/>
          </a:prstGeom>
        </p:spPr>
        <p:txBody>
          <a:bodyPr vert="horz" wrap="square" lIns="0" tIns="12700" rIns="0" bIns="0" rtlCol="0">
            <a:spAutoFit/>
          </a:bodyPr>
          <a:lstStyle/>
          <a:p>
            <a:r>
              <a:rPr lang="en-US" sz="3200" b="1" dirty="0"/>
              <a:t>Getting Started with Python Scripts in Azure Machine Learning</a:t>
            </a:r>
          </a:p>
        </p:txBody>
      </p:sp>
      <p:pic>
        <p:nvPicPr>
          <p:cNvPr id="3" name="object 3">
            <a:extLst>
              <a:ext uri="{FF2B5EF4-FFF2-40B4-BE49-F238E27FC236}">
                <a16:creationId xmlns:a16="http://schemas.microsoft.com/office/drawing/2014/main" id="{22898743-2B79-D5DF-5AFF-870A1775B58B}"/>
              </a:ext>
            </a:extLst>
          </p:cNvPr>
          <p:cNvPicPr/>
          <p:nvPr/>
        </p:nvPicPr>
        <p:blipFill>
          <a:blip r:embed="rId2" cstate="print"/>
          <a:stretch>
            <a:fillRect/>
          </a:stretch>
        </p:blipFill>
        <p:spPr>
          <a:xfrm>
            <a:off x="10261092" y="0"/>
            <a:ext cx="1930907" cy="1901952"/>
          </a:xfrm>
          <a:prstGeom prst="rect">
            <a:avLst/>
          </a:prstGeom>
        </p:spPr>
      </p:pic>
      <p:sp>
        <p:nvSpPr>
          <p:cNvPr id="6" name="Rectangle 1">
            <a:extLst>
              <a:ext uri="{FF2B5EF4-FFF2-40B4-BE49-F238E27FC236}">
                <a16:creationId xmlns:a16="http://schemas.microsoft.com/office/drawing/2014/main" id="{9C30F892-69B9-E3BA-260C-8084D712AC59}"/>
              </a:ext>
            </a:extLst>
          </p:cNvPr>
          <p:cNvSpPr>
            <a:spLocks noChangeArrowheads="1"/>
          </p:cNvSpPr>
          <p:nvPr/>
        </p:nvSpPr>
        <p:spPr bwMode="auto">
          <a:xfrm>
            <a:off x="1493838" y="2886681"/>
            <a:ext cx="184731" cy="55399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200" b="1" i="0" u="none" strike="noStrike" cap="none" normalizeH="0" baseline="0">
              <a:ln>
                <a:noFill/>
              </a:ln>
              <a:solidFill>
                <a:schemeClr val="tx1"/>
              </a:solidFill>
              <a:effectLst/>
              <a:latin typeface="+mj-lt"/>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a:ln>
                <a:noFill/>
              </a:ln>
              <a:solidFill>
                <a:schemeClr val="tx1"/>
              </a:solidFill>
              <a:effectLst/>
              <a:latin typeface="+mj-lt"/>
            </a:endParaRPr>
          </a:p>
        </p:txBody>
      </p:sp>
      <p:sp>
        <p:nvSpPr>
          <p:cNvPr id="5" name="TextBox 4">
            <a:extLst>
              <a:ext uri="{FF2B5EF4-FFF2-40B4-BE49-F238E27FC236}">
                <a16:creationId xmlns:a16="http://schemas.microsoft.com/office/drawing/2014/main" id="{93D26459-E9EB-FA7D-8B8F-E2F5CD70284A}"/>
              </a:ext>
            </a:extLst>
          </p:cNvPr>
          <p:cNvSpPr txBox="1"/>
          <p:nvPr/>
        </p:nvSpPr>
        <p:spPr>
          <a:xfrm>
            <a:off x="380999" y="1441079"/>
            <a:ext cx="11810999" cy="5196166"/>
          </a:xfrm>
          <a:prstGeom prst="rect">
            <a:avLst/>
          </a:prstGeom>
          <a:noFill/>
        </p:spPr>
        <p:txBody>
          <a:bodyPr wrap="square">
            <a:spAutoFit/>
          </a:bodyPr>
          <a:lstStyle/>
          <a:p>
            <a:pPr>
              <a:lnSpc>
                <a:spcPct val="150000"/>
              </a:lnSpc>
            </a:pPr>
            <a:r>
              <a:rPr lang="en-US" sz="2800" b="1" dirty="0">
                <a:latin typeface="+mj-lt"/>
              </a:rPr>
              <a:t>Objective</a:t>
            </a:r>
          </a:p>
          <a:p>
            <a:pPr>
              <a:lnSpc>
                <a:spcPct val="150000"/>
              </a:lnSpc>
            </a:pPr>
            <a:r>
              <a:rPr lang="en-US" sz="2800" dirty="0">
                <a:latin typeface="+mj-lt"/>
              </a:rPr>
              <a:t>Students will run their first Python scripts in the cloud using Azure Machine Learning. The focus is not on building a model but on understanding </a:t>
            </a:r>
            <a:r>
              <a:rPr lang="en-US" sz="2800" dirty="0" err="1">
                <a:latin typeface="+mj-lt"/>
              </a:rPr>
              <a:t>AzureML's</a:t>
            </a:r>
            <a:r>
              <a:rPr lang="en-US" sz="2800" dirty="0">
                <a:latin typeface="+mj-lt"/>
              </a:rPr>
              <a:t> interface, compute setup, and script execution.</a:t>
            </a:r>
          </a:p>
          <a:p>
            <a:pPr>
              <a:lnSpc>
                <a:spcPct val="150000"/>
              </a:lnSpc>
            </a:pPr>
            <a:r>
              <a:rPr lang="en-US" sz="2800" dirty="0">
                <a:latin typeface="+mj-lt"/>
              </a:rPr>
              <a:t>If </a:t>
            </a:r>
            <a:r>
              <a:rPr lang="en-US" sz="2800" dirty="0" err="1">
                <a:latin typeface="+mj-lt"/>
              </a:rPr>
              <a:t>AzureML</a:t>
            </a:r>
            <a:r>
              <a:rPr lang="en-US" sz="2800" dirty="0">
                <a:latin typeface="+mj-lt"/>
              </a:rPr>
              <a:t> is not working, Anaconda (for beginners) and VS Code (for those with some background) are alternative options.</a:t>
            </a:r>
          </a:p>
          <a:p>
            <a:pPr>
              <a:lnSpc>
                <a:spcPct val="150000"/>
              </a:lnSpc>
            </a:pPr>
            <a:r>
              <a:rPr lang="en-US" sz="2800" dirty="0">
                <a:latin typeface="+mj-lt"/>
              </a:rPr>
              <a:t>Your Password to connect </a:t>
            </a:r>
            <a:r>
              <a:rPr lang="en-US" sz="2800" dirty="0" err="1">
                <a:latin typeface="+mj-lt"/>
              </a:rPr>
              <a:t>WiFi</a:t>
            </a:r>
            <a:r>
              <a:rPr lang="en-US" sz="2800" dirty="0">
                <a:latin typeface="+mj-lt"/>
              </a:rPr>
              <a:t> is your </a:t>
            </a:r>
            <a:r>
              <a:rPr lang="en-US" sz="2800" dirty="0">
                <a:highlight>
                  <a:srgbClr val="FFFF00"/>
                </a:highlight>
                <a:latin typeface="+mj-lt"/>
              </a:rPr>
              <a:t>Holmes webmail password</a:t>
            </a:r>
            <a:r>
              <a:rPr lang="en-US" sz="2800" dirty="0">
                <a:latin typeface="+mj-lt"/>
              </a:rPr>
              <a:t>, or </a:t>
            </a:r>
            <a:r>
              <a:rPr lang="en-US" sz="2800" dirty="0" err="1">
                <a:highlight>
                  <a:srgbClr val="FFFF00"/>
                </a:highlight>
                <a:latin typeface="+mj-lt"/>
              </a:rPr>
              <a:t>HiDD</a:t>
            </a:r>
            <a:r>
              <a:rPr lang="en-US" sz="2800" dirty="0">
                <a:highlight>
                  <a:srgbClr val="FFFF00"/>
                </a:highlight>
                <a:latin typeface="+mj-lt"/>
              </a:rPr>
              <a:t>/MM/YYYY</a:t>
            </a:r>
          </a:p>
        </p:txBody>
      </p:sp>
    </p:spTree>
    <p:extLst>
      <p:ext uri="{BB962C8B-B14F-4D97-AF65-F5344CB8AC3E}">
        <p14:creationId xmlns:p14="http://schemas.microsoft.com/office/powerpoint/2010/main" val="298406474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DF0AB05E-CF76-3C8B-B059-835408C8E36A}"/>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CDA7C220-7C6E-3E66-A05F-9F38F917DC4B}"/>
              </a:ext>
            </a:extLst>
          </p:cNvPr>
          <p:cNvSpPr txBox="1"/>
          <p:nvPr/>
        </p:nvSpPr>
        <p:spPr>
          <a:xfrm>
            <a:off x="191211" y="213486"/>
            <a:ext cx="10401300" cy="997709"/>
          </a:xfrm>
          <a:prstGeom prst="rect">
            <a:avLst/>
          </a:prstGeom>
        </p:spPr>
        <p:txBody>
          <a:bodyPr vert="horz" wrap="square" lIns="0" tIns="12700" rIns="0" bIns="0" rtlCol="0">
            <a:spAutoFit/>
          </a:bodyPr>
          <a:lstStyle/>
          <a:p>
            <a:r>
              <a:rPr lang="en-US" sz="3200" b="1" dirty="0"/>
              <a:t>Getting Started with Python Scripts in Azure Machine Learning</a:t>
            </a:r>
          </a:p>
        </p:txBody>
      </p:sp>
      <p:pic>
        <p:nvPicPr>
          <p:cNvPr id="3" name="object 3">
            <a:extLst>
              <a:ext uri="{FF2B5EF4-FFF2-40B4-BE49-F238E27FC236}">
                <a16:creationId xmlns:a16="http://schemas.microsoft.com/office/drawing/2014/main" id="{4FD6636D-11CC-7B42-4DF0-4DB241D596E9}"/>
              </a:ext>
            </a:extLst>
          </p:cNvPr>
          <p:cNvPicPr/>
          <p:nvPr/>
        </p:nvPicPr>
        <p:blipFill>
          <a:blip r:embed="rId2" cstate="print"/>
          <a:stretch>
            <a:fillRect/>
          </a:stretch>
        </p:blipFill>
        <p:spPr>
          <a:xfrm>
            <a:off x="10261092" y="0"/>
            <a:ext cx="1930907" cy="1901952"/>
          </a:xfrm>
          <a:prstGeom prst="rect">
            <a:avLst/>
          </a:prstGeom>
        </p:spPr>
      </p:pic>
      <p:sp>
        <p:nvSpPr>
          <p:cNvPr id="6" name="Rectangle 1">
            <a:extLst>
              <a:ext uri="{FF2B5EF4-FFF2-40B4-BE49-F238E27FC236}">
                <a16:creationId xmlns:a16="http://schemas.microsoft.com/office/drawing/2014/main" id="{40C3E5DF-CF24-233A-AA2E-BEDD0278302D}"/>
              </a:ext>
            </a:extLst>
          </p:cNvPr>
          <p:cNvSpPr>
            <a:spLocks noChangeArrowheads="1"/>
          </p:cNvSpPr>
          <p:nvPr/>
        </p:nvSpPr>
        <p:spPr bwMode="auto">
          <a:xfrm>
            <a:off x="1493838" y="2886681"/>
            <a:ext cx="184731" cy="55399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200" b="1" i="0" u="none" strike="noStrike" cap="none" normalizeH="0" baseline="0">
              <a:ln>
                <a:noFill/>
              </a:ln>
              <a:solidFill>
                <a:schemeClr val="tx1"/>
              </a:solidFill>
              <a:effectLst/>
              <a:latin typeface="+mj-lt"/>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a:ln>
                <a:noFill/>
              </a:ln>
              <a:solidFill>
                <a:schemeClr val="tx1"/>
              </a:solidFill>
              <a:effectLst/>
              <a:latin typeface="+mj-lt"/>
            </a:endParaRPr>
          </a:p>
        </p:txBody>
      </p:sp>
      <p:sp>
        <p:nvSpPr>
          <p:cNvPr id="5" name="TextBox 4">
            <a:extLst>
              <a:ext uri="{FF2B5EF4-FFF2-40B4-BE49-F238E27FC236}">
                <a16:creationId xmlns:a16="http://schemas.microsoft.com/office/drawing/2014/main" id="{307D40E8-DC9D-185F-2B7C-AC5C2E777538}"/>
              </a:ext>
            </a:extLst>
          </p:cNvPr>
          <p:cNvSpPr txBox="1"/>
          <p:nvPr/>
        </p:nvSpPr>
        <p:spPr>
          <a:xfrm>
            <a:off x="380999" y="1441079"/>
            <a:ext cx="11810999" cy="1318181"/>
          </a:xfrm>
          <a:prstGeom prst="rect">
            <a:avLst/>
          </a:prstGeom>
          <a:noFill/>
        </p:spPr>
        <p:txBody>
          <a:bodyPr wrap="square">
            <a:spAutoFit/>
          </a:bodyPr>
          <a:lstStyle/>
          <a:p>
            <a:pPr marL="0" marR="0" lvl="0" indent="0" algn="l" defTabSz="914400" rtl="0" eaLnBrk="0" fontAlgn="base" latinLnBrk="0" hangingPunct="0">
              <a:lnSpc>
                <a:spcPct val="150000"/>
              </a:lnSpc>
              <a:spcBef>
                <a:spcPct val="0"/>
              </a:spcBef>
              <a:spcAft>
                <a:spcPct val="0"/>
              </a:spcAft>
              <a:buClrTx/>
              <a:buSzTx/>
              <a:buFontTx/>
              <a:buNone/>
              <a:tabLst/>
            </a:pPr>
            <a:r>
              <a:rPr kumimoji="0" lang="en-US" altLang="en-US" sz="2800" b="0" i="0" u="none" strike="noStrike" cap="none" normalizeH="0" baseline="0" dirty="0">
                <a:ln>
                  <a:noFill/>
                </a:ln>
                <a:solidFill>
                  <a:schemeClr val="tx1"/>
                </a:solidFill>
                <a:effectLst/>
                <a:highlight>
                  <a:srgbClr val="FFFF00"/>
                </a:highlight>
                <a:latin typeface="+mj-lt"/>
              </a:rPr>
              <a:t>pip install azure-identity </a:t>
            </a:r>
            <a:r>
              <a:rPr kumimoji="0" lang="en-US" altLang="en-US" sz="2800" b="0" i="0" u="none" strike="noStrike" cap="none" normalizeH="0" baseline="0" dirty="0">
                <a:ln>
                  <a:noFill/>
                </a:ln>
                <a:solidFill>
                  <a:schemeClr val="tx1"/>
                </a:solidFill>
                <a:effectLst/>
                <a:latin typeface="+mj-lt"/>
              </a:rPr>
              <a:t>simply </a:t>
            </a:r>
            <a:r>
              <a:rPr kumimoji="0" lang="en-US" altLang="en-US" sz="2800" b="1" i="0" u="none" strike="noStrike" cap="none" normalizeH="0" baseline="0" dirty="0">
                <a:ln>
                  <a:noFill/>
                </a:ln>
                <a:solidFill>
                  <a:schemeClr val="tx1"/>
                </a:solidFill>
                <a:effectLst/>
                <a:latin typeface="+mj-lt"/>
              </a:rPr>
              <a:t>adds Microsoft’s Azure Identity library</a:t>
            </a:r>
            <a:r>
              <a:rPr kumimoji="0" lang="en-US" altLang="en-US" sz="2800" b="0" i="0" u="none" strike="noStrike" cap="none" normalizeH="0" baseline="0" dirty="0">
                <a:ln>
                  <a:noFill/>
                </a:ln>
                <a:solidFill>
                  <a:schemeClr val="tx1"/>
                </a:solidFill>
                <a:effectLst/>
                <a:latin typeface="+mj-lt"/>
              </a:rPr>
              <a:t> to your Python environment. </a:t>
            </a:r>
          </a:p>
        </p:txBody>
      </p:sp>
      <p:sp>
        <p:nvSpPr>
          <p:cNvPr id="7" name="Rectangle 2">
            <a:extLst>
              <a:ext uri="{FF2B5EF4-FFF2-40B4-BE49-F238E27FC236}">
                <a16:creationId xmlns:a16="http://schemas.microsoft.com/office/drawing/2014/main" id="{5BAB7EFA-CB7D-82D1-C101-B6B4076D9DB3}"/>
              </a:ext>
            </a:extLst>
          </p:cNvPr>
          <p:cNvSpPr>
            <a:spLocks noChangeArrowheads="1"/>
          </p:cNvSpPr>
          <p:nvPr/>
        </p:nvSpPr>
        <p:spPr bwMode="auto">
          <a:xfrm>
            <a:off x="365757" y="2933221"/>
            <a:ext cx="11811001" cy="45498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50000"/>
              </a:lnSpc>
              <a:spcBef>
                <a:spcPct val="0"/>
              </a:spcBef>
              <a:spcAft>
                <a:spcPct val="0"/>
              </a:spcAft>
              <a:buClrTx/>
              <a:buSzTx/>
              <a:buFontTx/>
              <a:buNone/>
              <a:tabLst/>
            </a:pPr>
            <a:r>
              <a:rPr kumimoji="0" lang="en-US" altLang="en-US" sz="2800" b="0" i="0" u="none" strike="noStrike" cap="none" normalizeH="0" baseline="0" dirty="0">
                <a:ln>
                  <a:noFill/>
                </a:ln>
                <a:solidFill>
                  <a:schemeClr val="tx1"/>
                </a:solidFill>
                <a:effectLst/>
                <a:latin typeface="+mj-lt"/>
              </a:rPr>
              <a:t>It gives your Python code the ability to </a:t>
            </a:r>
            <a:r>
              <a:rPr kumimoji="0" lang="en-US" altLang="en-US" sz="2800" b="1" i="0" u="none" strike="noStrike" cap="none" normalizeH="0" baseline="0" dirty="0">
                <a:ln>
                  <a:noFill/>
                </a:ln>
                <a:solidFill>
                  <a:schemeClr val="tx1"/>
                </a:solidFill>
                <a:effectLst/>
                <a:latin typeface="+mj-lt"/>
              </a:rPr>
              <a:t>log in to Azure services</a:t>
            </a:r>
            <a:r>
              <a:rPr kumimoji="0" lang="en-US" altLang="en-US" sz="2800" b="0" i="0" u="none" strike="noStrike" cap="none" normalizeH="0" baseline="0" dirty="0">
                <a:ln>
                  <a:noFill/>
                </a:ln>
                <a:solidFill>
                  <a:schemeClr val="tx1"/>
                </a:solidFill>
                <a:effectLst/>
                <a:latin typeface="+mj-lt"/>
              </a:rPr>
              <a:t> by providing different ways to authenticate, such as:</a:t>
            </a:r>
          </a:p>
          <a:p>
            <a:pPr marL="457200" marR="0" lvl="0" indent="-457200" algn="l"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2800" b="0" i="0" u="none" strike="noStrike" cap="none" normalizeH="0" baseline="0" dirty="0">
                <a:ln>
                  <a:noFill/>
                </a:ln>
                <a:solidFill>
                  <a:schemeClr val="tx1"/>
                </a:solidFill>
                <a:effectLst/>
                <a:latin typeface="+mj-lt"/>
              </a:rPr>
              <a:t>Using your Azure account sign-in from the </a:t>
            </a:r>
            <a:r>
              <a:rPr kumimoji="0" lang="en-US" altLang="en-US" sz="2800" b="1" i="0" u="none" strike="noStrike" cap="none" normalizeH="0" baseline="0" dirty="0">
                <a:ln>
                  <a:noFill/>
                </a:ln>
                <a:solidFill>
                  <a:schemeClr val="tx1"/>
                </a:solidFill>
                <a:effectLst/>
                <a:latin typeface="+mj-lt"/>
              </a:rPr>
              <a:t>Azure CLI</a:t>
            </a:r>
            <a:r>
              <a:rPr kumimoji="0" lang="en-US" altLang="en-US" sz="2800" b="0" i="0" u="none" strike="noStrike" cap="none" normalizeH="0" baseline="0" dirty="0">
                <a:ln>
                  <a:noFill/>
                </a:ln>
                <a:solidFill>
                  <a:schemeClr val="tx1"/>
                </a:solidFill>
                <a:effectLst/>
                <a:latin typeface="+mj-lt"/>
              </a:rPr>
              <a:t> (</a:t>
            </a:r>
            <a:r>
              <a:rPr kumimoji="0" lang="en-US" altLang="en-US" sz="2800" b="0" i="0" u="none" strike="noStrike" cap="none" normalizeH="0" baseline="0" dirty="0" err="1">
                <a:ln>
                  <a:noFill/>
                </a:ln>
                <a:solidFill>
                  <a:schemeClr val="tx1"/>
                </a:solidFill>
                <a:effectLst/>
                <a:latin typeface="+mj-lt"/>
              </a:rPr>
              <a:t>az</a:t>
            </a:r>
            <a:r>
              <a:rPr kumimoji="0" lang="en-US" altLang="en-US" sz="2800" b="0" i="0" u="none" strike="noStrike" cap="none" normalizeH="0" baseline="0" dirty="0">
                <a:ln>
                  <a:noFill/>
                </a:ln>
                <a:solidFill>
                  <a:schemeClr val="tx1"/>
                </a:solidFill>
                <a:effectLst/>
                <a:latin typeface="+mj-lt"/>
              </a:rPr>
              <a:t> login)</a:t>
            </a:r>
          </a:p>
          <a:p>
            <a:pPr marL="457200" marR="0" lvl="0" indent="-457200" algn="l"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2800" b="0" i="0" u="none" strike="noStrike" cap="none" normalizeH="0" baseline="0" dirty="0">
                <a:ln>
                  <a:noFill/>
                </a:ln>
                <a:solidFill>
                  <a:schemeClr val="tx1"/>
                </a:solidFill>
                <a:effectLst/>
                <a:latin typeface="+mj-lt"/>
              </a:rPr>
              <a:t>Using credentials stored in </a:t>
            </a:r>
            <a:r>
              <a:rPr kumimoji="0" lang="en-US" altLang="en-US" sz="2800" b="1" i="0" u="none" strike="noStrike" cap="none" normalizeH="0" baseline="0" dirty="0">
                <a:ln>
                  <a:noFill/>
                </a:ln>
                <a:solidFill>
                  <a:schemeClr val="tx1"/>
                </a:solidFill>
                <a:effectLst/>
                <a:latin typeface="+mj-lt"/>
              </a:rPr>
              <a:t>Visual Studio Code</a:t>
            </a:r>
            <a:endParaRPr kumimoji="0" lang="en-US" altLang="en-US" sz="2800" b="0" i="0" u="none" strike="noStrike" cap="none" normalizeH="0" baseline="0" dirty="0">
              <a:ln>
                <a:noFill/>
              </a:ln>
              <a:solidFill>
                <a:schemeClr val="tx1"/>
              </a:solidFill>
              <a:effectLst/>
              <a:latin typeface="+mj-lt"/>
            </a:endParaRPr>
          </a:p>
          <a:p>
            <a:pPr marL="457200" marR="0" lvl="0" indent="-457200" algn="l"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2800" b="0" i="0" u="none" strike="noStrike" cap="none" normalizeH="0" baseline="0" dirty="0">
                <a:ln>
                  <a:noFill/>
                </a:ln>
                <a:solidFill>
                  <a:schemeClr val="tx1"/>
                </a:solidFill>
                <a:effectLst/>
                <a:latin typeface="+mj-lt"/>
              </a:rPr>
              <a:t>Using </a:t>
            </a:r>
            <a:r>
              <a:rPr kumimoji="0" lang="en-US" altLang="en-US" sz="2800" b="1" i="0" u="none" strike="noStrike" cap="none" normalizeH="0" baseline="0" dirty="0">
                <a:ln>
                  <a:noFill/>
                </a:ln>
                <a:solidFill>
                  <a:schemeClr val="tx1"/>
                </a:solidFill>
                <a:effectLst/>
                <a:latin typeface="+mj-lt"/>
              </a:rPr>
              <a:t>environment variables</a:t>
            </a:r>
            <a:r>
              <a:rPr kumimoji="0" lang="en-US" altLang="en-US" sz="2800" b="0" i="0" u="none" strike="noStrike" cap="none" normalizeH="0" baseline="0" dirty="0">
                <a:ln>
                  <a:noFill/>
                </a:ln>
                <a:solidFill>
                  <a:schemeClr val="tx1"/>
                </a:solidFill>
                <a:effectLst/>
                <a:latin typeface="+mj-lt"/>
              </a:rPr>
              <a:t> (username/password, client ID, tenant ID)</a:t>
            </a:r>
          </a:p>
          <a:p>
            <a:pPr marL="457200" marR="0" lvl="0" indent="-457200" algn="l"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2800" b="0" i="0" u="none" strike="noStrike" cap="none" normalizeH="0" baseline="0" dirty="0">
                <a:ln>
                  <a:noFill/>
                </a:ln>
                <a:solidFill>
                  <a:schemeClr val="tx1"/>
                </a:solidFill>
                <a:effectLst/>
                <a:latin typeface="+mj-lt"/>
              </a:rPr>
              <a:t>Using </a:t>
            </a:r>
            <a:r>
              <a:rPr kumimoji="0" lang="en-US" altLang="en-US" sz="2800" b="1" i="0" u="none" strike="noStrike" cap="none" normalizeH="0" baseline="0" dirty="0">
                <a:ln>
                  <a:noFill/>
                </a:ln>
                <a:solidFill>
                  <a:schemeClr val="tx1"/>
                </a:solidFill>
                <a:effectLst/>
                <a:latin typeface="+mj-lt"/>
              </a:rPr>
              <a:t>Managed Identity</a:t>
            </a:r>
            <a:r>
              <a:rPr kumimoji="0" lang="en-US" altLang="en-US" sz="2800" b="0" i="0" u="none" strike="noStrike" cap="none" normalizeH="0" baseline="0" dirty="0">
                <a:ln>
                  <a:noFill/>
                </a:ln>
                <a:solidFill>
                  <a:schemeClr val="tx1"/>
                </a:solidFill>
                <a:effectLst/>
                <a:latin typeface="+mj-lt"/>
              </a:rPr>
              <a:t> if your code is running inside Azure (like on an Azure VM or Web App)</a:t>
            </a:r>
          </a:p>
        </p:txBody>
      </p:sp>
    </p:spTree>
    <p:extLst>
      <p:ext uri="{BB962C8B-B14F-4D97-AF65-F5344CB8AC3E}">
        <p14:creationId xmlns:p14="http://schemas.microsoft.com/office/powerpoint/2010/main" val="110702739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B5C658E8-9D24-CAC8-4AF7-71E5175D8780}"/>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56E99B96-F5F8-F721-285E-FC68DC959DB7}"/>
              </a:ext>
            </a:extLst>
          </p:cNvPr>
          <p:cNvSpPr txBox="1"/>
          <p:nvPr/>
        </p:nvSpPr>
        <p:spPr>
          <a:xfrm>
            <a:off x="191211" y="213486"/>
            <a:ext cx="10401300" cy="997709"/>
          </a:xfrm>
          <a:prstGeom prst="rect">
            <a:avLst/>
          </a:prstGeom>
        </p:spPr>
        <p:txBody>
          <a:bodyPr vert="horz" wrap="square" lIns="0" tIns="12700" rIns="0" bIns="0" rtlCol="0">
            <a:spAutoFit/>
          </a:bodyPr>
          <a:lstStyle/>
          <a:p>
            <a:r>
              <a:rPr lang="en-US" sz="3200" b="1" dirty="0"/>
              <a:t>Getting Started with Python Scripts in Azure Machine Learning</a:t>
            </a:r>
          </a:p>
        </p:txBody>
      </p:sp>
      <p:pic>
        <p:nvPicPr>
          <p:cNvPr id="3" name="object 3">
            <a:extLst>
              <a:ext uri="{FF2B5EF4-FFF2-40B4-BE49-F238E27FC236}">
                <a16:creationId xmlns:a16="http://schemas.microsoft.com/office/drawing/2014/main" id="{03A0572B-C00D-5313-693F-F95E47FE6FDE}"/>
              </a:ext>
            </a:extLst>
          </p:cNvPr>
          <p:cNvPicPr/>
          <p:nvPr/>
        </p:nvPicPr>
        <p:blipFill>
          <a:blip r:embed="rId2" cstate="print"/>
          <a:stretch>
            <a:fillRect/>
          </a:stretch>
        </p:blipFill>
        <p:spPr>
          <a:xfrm>
            <a:off x="10261092" y="0"/>
            <a:ext cx="1930907" cy="1901952"/>
          </a:xfrm>
          <a:prstGeom prst="rect">
            <a:avLst/>
          </a:prstGeom>
        </p:spPr>
      </p:pic>
      <p:sp>
        <p:nvSpPr>
          <p:cNvPr id="6" name="Rectangle 1">
            <a:extLst>
              <a:ext uri="{FF2B5EF4-FFF2-40B4-BE49-F238E27FC236}">
                <a16:creationId xmlns:a16="http://schemas.microsoft.com/office/drawing/2014/main" id="{5EF1F423-3BF4-368F-D195-2DC7DA2A650A}"/>
              </a:ext>
            </a:extLst>
          </p:cNvPr>
          <p:cNvSpPr>
            <a:spLocks noChangeArrowheads="1"/>
          </p:cNvSpPr>
          <p:nvPr/>
        </p:nvSpPr>
        <p:spPr bwMode="auto">
          <a:xfrm>
            <a:off x="1493838" y="2886681"/>
            <a:ext cx="184731" cy="55399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200" b="1" i="0" u="none" strike="noStrike" cap="none" normalizeH="0" baseline="0">
              <a:ln>
                <a:noFill/>
              </a:ln>
              <a:solidFill>
                <a:schemeClr val="tx1"/>
              </a:solidFill>
              <a:effectLst/>
              <a:latin typeface="+mj-lt"/>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a:ln>
                <a:noFill/>
              </a:ln>
              <a:solidFill>
                <a:schemeClr val="tx1"/>
              </a:solidFill>
              <a:effectLst/>
              <a:latin typeface="+mj-lt"/>
            </a:endParaRPr>
          </a:p>
        </p:txBody>
      </p:sp>
      <p:sp>
        <p:nvSpPr>
          <p:cNvPr id="5" name="TextBox 4">
            <a:extLst>
              <a:ext uri="{FF2B5EF4-FFF2-40B4-BE49-F238E27FC236}">
                <a16:creationId xmlns:a16="http://schemas.microsoft.com/office/drawing/2014/main" id="{AE3DB2C5-25FF-F865-C100-D21FE7B4A02A}"/>
              </a:ext>
            </a:extLst>
          </p:cNvPr>
          <p:cNvSpPr txBox="1"/>
          <p:nvPr/>
        </p:nvSpPr>
        <p:spPr>
          <a:xfrm>
            <a:off x="380999" y="1441079"/>
            <a:ext cx="11810999" cy="1318181"/>
          </a:xfrm>
          <a:prstGeom prst="rect">
            <a:avLst/>
          </a:prstGeom>
          <a:noFill/>
        </p:spPr>
        <p:txBody>
          <a:bodyPr wrap="square">
            <a:spAutoFit/>
          </a:bodyPr>
          <a:lstStyle/>
          <a:p>
            <a:pPr marL="0" marR="0" lvl="0" indent="0" algn="l" defTabSz="914400" rtl="0" eaLnBrk="0" fontAlgn="base" latinLnBrk="0" hangingPunct="0">
              <a:lnSpc>
                <a:spcPct val="150000"/>
              </a:lnSpc>
              <a:spcBef>
                <a:spcPct val="0"/>
              </a:spcBef>
              <a:spcAft>
                <a:spcPct val="0"/>
              </a:spcAft>
              <a:buClrTx/>
              <a:buSzTx/>
              <a:buFontTx/>
              <a:buNone/>
              <a:tabLst/>
            </a:pPr>
            <a:r>
              <a:rPr kumimoji="0" lang="en-US" altLang="en-US" sz="2800" b="1" i="0" u="none" strike="noStrike" cap="none" normalizeH="0" baseline="0" dirty="0">
                <a:ln>
                  <a:noFill/>
                </a:ln>
                <a:solidFill>
                  <a:schemeClr val="tx1"/>
                </a:solidFill>
                <a:effectLst/>
                <a:latin typeface="+mj-lt"/>
              </a:rPr>
              <a:t>Why it’s needed here:</a:t>
            </a:r>
          </a:p>
          <a:p>
            <a:pPr marL="0" marR="0" lvl="0" indent="0" algn="l" defTabSz="914400" rtl="0" eaLnBrk="0" fontAlgn="base" latinLnBrk="0" hangingPunct="0">
              <a:lnSpc>
                <a:spcPct val="150000"/>
              </a:lnSpc>
              <a:spcBef>
                <a:spcPct val="0"/>
              </a:spcBef>
              <a:spcAft>
                <a:spcPct val="0"/>
              </a:spcAft>
              <a:buClrTx/>
              <a:buSzTx/>
              <a:buFontTx/>
              <a:buNone/>
              <a:tabLst/>
            </a:pPr>
            <a:r>
              <a:rPr kumimoji="0" lang="en-US" altLang="en-US" sz="2800" b="0" i="0" u="none" strike="noStrike" cap="none" normalizeH="0" baseline="0" dirty="0">
                <a:ln>
                  <a:noFill/>
                </a:ln>
                <a:solidFill>
                  <a:schemeClr val="tx1"/>
                </a:solidFill>
                <a:effectLst/>
                <a:latin typeface="+mj-lt"/>
              </a:rPr>
              <a:t>When you use azure.ai.ml to connect to an Azure ML Workspace: </a:t>
            </a:r>
          </a:p>
        </p:txBody>
      </p:sp>
      <p:sp>
        <p:nvSpPr>
          <p:cNvPr id="7" name="Rectangle 2">
            <a:extLst>
              <a:ext uri="{FF2B5EF4-FFF2-40B4-BE49-F238E27FC236}">
                <a16:creationId xmlns:a16="http://schemas.microsoft.com/office/drawing/2014/main" id="{D3198802-BA74-54C2-DE0A-A3D6DEE033F2}"/>
              </a:ext>
            </a:extLst>
          </p:cNvPr>
          <p:cNvSpPr>
            <a:spLocks noChangeArrowheads="1"/>
          </p:cNvSpPr>
          <p:nvPr/>
        </p:nvSpPr>
        <p:spPr bwMode="auto">
          <a:xfrm>
            <a:off x="380997" y="2989144"/>
            <a:ext cx="11811001" cy="67185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50000"/>
              </a:lnSpc>
              <a:spcBef>
                <a:spcPct val="0"/>
              </a:spcBef>
              <a:spcAft>
                <a:spcPct val="0"/>
              </a:spcAft>
              <a:buClrTx/>
              <a:buSzTx/>
              <a:buFontTx/>
              <a:buNone/>
              <a:tabLst/>
            </a:pPr>
            <a:r>
              <a:rPr kumimoji="0" lang="en-US" altLang="en-US" sz="2800" b="0" i="0" u="none" strike="noStrike" cap="none" normalizeH="0" baseline="0" dirty="0">
                <a:ln>
                  <a:noFill/>
                </a:ln>
                <a:solidFill>
                  <a:schemeClr val="tx1"/>
                </a:solidFill>
                <a:effectLst/>
                <a:highlight>
                  <a:srgbClr val="FFFF00"/>
                </a:highlight>
                <a:latin typeface="+mj-lt"/>
              </a:rPr>
              <a:t>from </a:t>
            </a:r>
            <a:r>
              <a:rPr kumimoji="0" lang="en-US" altLang="en-US" sz="2800" b="0" i="0" u="none" strike="noStrike" cap="none" normalizeH="0" baseline="0" dirty="0" err="1">
                <a:ln>
                  <a:noFill/>
                </a:ln>
                <a:solidFill>
                  <a:schemeClr val="tx1"/>
                </a:solidFill>
                <a:effectLst/>
                <a:highlight>
                  <a:srgbClr val="FFFF00"/>
                </a:highlight>
                <a:latin typeface="+mj-lt"/>
              </a:rPr>
              <a:t>azure.identity</a:t>
            </a:r>
            <a:r>
              <a:rPr kumimoji="0" lang="en-US" altLang="en-US" sz="2800" b="0" i="0" u="none" strike="noStrike" cap="none" normalizeH="0" baseline="0" dirty="0">
                <a:ln>
                  <a:noFill/>
                </a:ln>
                <a:solidFill>
                  <a:schemeClr val="tx1"/>
                </a:solidFill>
                <a:effectLst/>
                <a:highlight>
                  <a:srgbClr val="FFFF00"/>
                </a:highlight>
                <a:latin typeface="+mj-lt"/>
              </a:rPr>
              <a:t> import </a:t>
            </a:r>
            <a:r>
              <a:rPr kumimoji="0" lang="en-US" altLang="en-US" sz="2800" b="0" i="0" u="none" strike="noStrike" cap="none" normalizeH="0" baseline="0" dirty="0" err="1">
                <a:ln>
                  <a:noFill/>
                </a:ln>
                <a:solidFill>
                  <a:schemeClr val="tx1"/>
                </a:solidFill>
                <a:effectLst/>
                <a:highlight>
                  <a:srgbClr val="FFFF00"/>
                </a:highlight>
                <a:latin typeface="+mj-lt"/>
              </a:rPr>
              <a:t>DefaultAzureCredential</a:t>
            </a:r>
            <a:endParaRPr kumimoji="0" lang="en-US" altLang="en-US" sz="2800" b="0" i="0" u="none" strike="noStrike" cap="none" normalizeH="0" baseline="0" dirty="0">
              <a:ln>
                <a:noFill/>
              </a:ln>
              <a:solidFill>
                <a:schemeClr val="tx1"/>
              </a:solidFill>
              <a:effectLst/>
              <a:highlight>
                <a:srgbClr val="FFFF00"/>
              </a:highlight>
              <a:latin typeface="+mj-lt"/>
            </a:endParaRPr>
          </a:p>
        </p:txBody>
      </p:sp>
      <p:sp>
        <p:nvSpPr>
          <p:cNvPr id="8" name="Rectangle 2">
            <a:extLst>
              <a:ext uri="{FF2B5EF4-FFF2-40B4-BE49-F238E27FC236}">
                <a16:creationId xmlns:a16="http://schemas.microsoft.com/office/drawing/2014/main" id="{0E507F77-F0D5-0574-25DB-E1646005FCAF}"/>
              </a:ext>
            </a:extLst>
          </p:cNvPr>
          <p:cNvSpPr>
            <a:spLocks noChangeArrowheads="1"/>
          </p:cNvSpPr>
          <p:nvPr/>
        </p:nvSpPr>
        <p:spPr bwMode="auto">
          <a:xfrm>
            <a:off x="380997" y="4471585"/>
            <a:ext cx="11277603" cy="325717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50000"/>
              </a:lnSpc>
              <a:spcBef>
                <a:spcPct val="0"/>
              </a:spcBef>
              <a:spcAft>
                <a:spcPct val="0"/>
              </a:spcAft>
              <a:buClrTx/>
              <a:buSzTx/>
              <a:buFontTx/>
              <a:buNone/>
              <a:tabLst/>
            </a:pPr>
            <a:r>
              <a:rPr kumimoji="0" lang="en-US" altLang="en-US" sz="2800" b="0" i="0" u="none" strike="noStrike" cap="none" normalizeH="0" baseline="0" dirty="0">
                <a:ln>
                  <a:noFill/>
                </a:ln>
                <a:solidFill>
                  <a:schemeClr val="tx1"/>
                </a:solidFill>
                <a:effectLst/>
                <a:latin typeface="+mj-lt"/>
              </a:rPr>
              <a:t>this </a:t>
            </a:r>
            <a:r>
              <a:rPr kumimoji="0" lang="en-US" altLang="en-US" sz="2800" b="1" i="0" u="none" strike="noStrike" cap="none" normalizeH="0" baseline="0" dirty="0" err="1">
                <a:ln>
                  <a:noFill/>
                </a:ln>
                <a:solidFill>
                  <a:schemeClr val="tx1"/>
                </a:solidFill>
                <a:effectLst/>
                <a:latin typeface="+mj-lt"/>
              </a:rPr>
              <a:t>DefaultAzureCredential</a:t>
            </a:r>
            <a:r>
              <a:rPr kumimoji="0" lang="en-US" altLang="en-US" sz="2800" b="0" i="0" u="none" strike="noStrike" cap="none" normalizeH="0" baseline="0" dirty="0">
                <a:ln>
                  <a:noFill/>
                </a:ln>
                <a:solidFill>
                  <a:schemeClr val="tx1"/>
                </a:solidFill>
                <a:effectLst/>
                <a:latin typeface="+mj-lt"/>
              </a:rPr>
              <a:t> comes from azure-identity.</a:t>
            </a:r>
            <a:br>
              <a:rPr kumimoji="0" lang="en-US" altLang="en-US" sz="2800" b="0" i="0" u="none" strike="noStrike" cap="none" normalizeH="0" baseline="0" dirty="0">
                <a:ln>
                  <a:noFill/>
                </a:ln>
                <a:solidFill>
                  <a:schemeClr val="tx1"/>
                </a:solidFill>
                <a:effectLst/>
                <a:latin typeface="+mj-lt"/>
              </a:rPr>
            </a:br>
            <a:r>
              <a:rPr kumimoji="0" lang="en-US" altLang="en-US" sz="2800" b="0" i="0" u="none" strike="noStrike" cap="none" normalizeH="0" baseline="0" dirty="0">
                <a:ln>
                  <a:noFill/>
                </a:ln>
                <a:solidFill>
                  <a:schemeClr val="tx1"/>
                </a:solidFill>
                <a:effectLst/>
                <a:latin typeface="+mj-lt"/>
              </a:rPr>
              <a:t>It tries several login methods in order (CLI, VS Code, environment, etc.) until it finds one that works.</a:t>
            </a:r>
          </a:p>
          <a:p>
            <a:pPr marL="0" marR="0" lvl="0" indent="0" algn="l" defTabSz="914400" rtl="0" eaLnBrk="0" fontAlgn="base" latinLnBrk="0" hangingPunct="0">
              <a:lnSpc>
                <a:spcPct val="150000"/>
              </a:lnSpc>
              <a:spcBef>
                <a:spcPct val="0"/>
              </a:spcBef>
              <a:spcAft>
                <a:spcPct val="0"/>
              </a:spcAft>
              <a:buClrTx/>
              <a:buSzTx/>
              <a:buFontTx/>
              <a:buNone/>
              <a:tabLst/>
            </a:pPr>
            <a:r>
              <a:rPr kumimoji="0" lang="en-US" altLang="en-US" sz="2800" b="0" i="0" u="none" strike="noStrike" cap="none" normalizeH="0" baseline="0" dirty="0">
                <a:ln>
                  <a:noFill/>
                </a:ln>
                <a:solidFill>
                  <a:schemeClr val="tx1"/>
                </a:solidFill>
                <a:effectLst/>
                <a:latin typeface="+mj-lt"/>
              </a:rPr>
              <a:t>Without azure-identity, your code can’t sign in to Azure at all — so you can only run </a:t>
            </a:r>
            <a:r>
              <a:rPr kumimoji="0" lang="en-US" altLang="en-US" sz="2800" b="1" i="0" u="none" strike="noStrike" cap="none" normalizeH="0" baseline="0" dirty="0">
                <a:ln>
                  <a:noFill/>
                </a:ln>
                <a:solidFill>
                  <a:schemeClr val="tx1"/>
                </a:solidFill>
                <a:effectLst/>
                <a:latin typeface="+mj-lt"/>
              </a:rPr>
              <a:t>local code</a:t>
            </a:r>
            <a:r>
              <a:rPr kumimoji="0" lang="en-US" altLang="en-US" sz="2800" b="0" i="0" u="none" strike="noStrike" cap="none" normalizeH="0" baseline="0" dirty="0">
                <a:ln>
                  <a:noFill/>
                </a:ln>
                <a:solidFill>
                  <a:schemeClr val="tx1"/>
                </a:solidFill>
                <a:effectLst/>
                <a:latin typeface="+mj-lt"/>
              </a:rPr>
              <a:t>, not submit jobs to Azure services.</a:t>
            </a:r>
          </a:p>
        </p:txBody>
      </p:sp>
    </p:spTree>
    <p:extLst>
      <p:ext uri="{BB962C8B-B14F-4D97-AF65-F5344CB8AC3E}">
        <p14:creationId xmlns:p14="http://schemas.microsoft.com/office/powerpoint/2010/main" val="14968354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5">
                                            <p:txEl>
                                              <p:pRg st="1" end="1"/>
                                            </p:txEl>
                                          </p:spTgt>
                                        </p:tgtEl>
                                        <p:attrNameLst>
                                          <p:attrName>style.visibility</p:attrName>
                                        </p:attrNameLst>
                                      </p:cBhvr>
                                      <p:to>
                                        <p:strVal val="visible"/>
                                      </p:to>
                                    </p:set>
                                    <p:animEffect transition="in" filter="fade">
                                      <p:cBhvr>
                                        <p:cTn id="7" dur="1000"/>
                                        <p:tgtEl>
                                          <p:spTgt spid="5">
                                            <p:txEl>
                                              <p:pRg st="1" end="1"/>
                                            </p:txEl>
                                          </p:spTgt>
                                        </p:tgtEl>
                                      </p:cBhvr>
                                    </p:animEffect>
                                    <p:anim calcmode="lin" valueType="num">
                                      <p:cBhvr>
                                        <p:cTn id="8" dur="1000" fill="hold"/>
                                        <p:tgtEl>
                                          <p:spTgt spid="5">
                                            <p:txEl>
                                              <p:pRg st="1" end="1"/>
                                            </p:txEl>
                                          </p:spTgt>
                                        </p:tgtEl>
                                        <p:attrNameLst>
                                          <p:attrName>ppt_x</p:attrName>
                                        </p:attrNameLst>
                                      </p:cBhvr>
                                      <p:tavLst>
                                        <p:tav tm="0">
                                          <p:val>
                                            <p:strVal val="#ppt_x"/>
                                          </p:val>
                                        </p:tav>
                                        <p:tav tm="100000">
                                          <p:val>
                                            <p:strVal val="#ppt_x"/>
                                          </p:val>
                                        </p:tav>
                                      </p:tavLst>
                                    </p:anim>
                                    <p:anim calcmode="lin" valueType="num">
                                      <p:cBhvr>
                                        <p:cTn id="9" dur="1000" fill="hold"/>
                                        <p:tgtEl>
                                          <p:spTgt spid="5">
                                            <p:txEl>
                                              <p:pRg st="1" end="1"/>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DC3D93E2-FE74-4363-1332-B079EEC691F3}"/>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0BAB4EC4-EE28-89D9-73E7-0E0BC8F11D73}"/>
              </a:ext>
            </a:extLst>
          </p:cNvPr>
          <p:cNvSpPr txBox="1"/>
          <p:nvPr/>
        </p:nvSpPr>
        <p:spPr>
          <a:xfrm>
            <a:off x="191211" y="213486"/>
            <a:ext cx="10401300" cy="997709"/>
          </a:xfrm>
          <a:prstGeom prst="rect">
            <a:avLst/>
          </a:prstGeom>
        </p:spPr>
        <p:txBody>
          <a:bodyPr vert="horz" wrap="square" lIns="0" tIns="12700" rIns="0" bIns="0" rtlCol="0">
            <a:spAutoFit/>
          </a:bodyPr>
          <a:lstStyle/>
          <a:p>
            <a:r>
              <a:rPr lang="en-US" sz="3200" b="1" dirty="0"/>
              <a:t>Getting Started with Python Scripts in Azure Machine Learning</a:t>
            </a:r>
          </a:p>
        </p:txBody>
      </p:sp>
      <p:pic>
        <p:nvPicPr>
          <p:cNvPr id="3" name="object 3">
            <a:extLst>
              <a:ext uri="{FF2B5EF4-FFF2-40B4-BE49-F238E27FC236}">
                <a16:creationId xmlns:a16="http://schemas.microsoft.com/office/drawing/2014/main" id="{DE9FD020-ED8E-256E-A40E-A70AC55129F0}"/>
              </a:ext>
            </a:extLst>
          </p:cNvPr>
          <p:cNvPicPr/>
          <p:nvPr/>
        </p:nvPicPr>
        <p:blipFill>
          <a:blip r:embed="rId2" cstate="print"/>
          <a:stretch>
            <a:fillRect/>
          </a:stretch>
        </p:blipFill>
        <p:spPr>
          <a:xfrm>
            <a:off x="10261092" y="0"/>
            <a:ext cx="1930907" cy="1901952"/>
          </a:xfrm>
          <a:prstGeom prst="rect">
            <a:avLst/>
          </a:prstGeom>
        </p:spPr>
      </p:pic>
      <p:sp>
        <p:nvSpPr>
          <p:cNvPr id="6" name="Rectangle 1">
            <a:extLst>
              <a:ext uri="{FF2B5EF4-FFF2-40B4-BE49-F238E27FC236}">
                <a16:creationId xmlns:a16="http://schemas.microsoft.com/office/drawing/2014/main" id="{3BD9D4A8-2415-E69F-418E-CE9CFCB1B8EA}"/>
              </a:ext>
            </a:extLst>
          </p:cNvPr>
          <p:cNvSpPr>
            <a:spLocks noChangeArrowheads="1"/>
          </p:cNvSpPr>
          <p:nvPr/>
        </p:nvSpPr>
        <p:spPr bwMode="auto">
          <a:xfrm>
            <a:off x="1493838" y="2886681"/>
            <a:ext cx="184731" cy="55399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200" b="1" i="0" u="none" strike="noStrike" cap="none" normalizeH="0" baseline="0">
              <a:ln>
                <a:noFill/>
              </a:ln>
              <a:solidFill>
                <a:schemeClr val="tx1"/>
              </a:solidFill>
              <a:effectLst/>
              <a:latin typeface="+mj-lt"/>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a:ln>
                <a:noFill/>
              </a:ln>
              <a:solidFill>
                <a:schemeClr val="tx1"/>
              </a:solidFill>
              <a:effectLst/>
              <a:latin typeface="+mj-lt"/>
            </a:endParaRPr>
          </a:p>
        </p:txBody>
      </p:sp>
      <p:sp>
        <p:nvSpPr>
          <p:cNvPr id="5" name="TextBox 4">
            <a:extLst>
              <a:ext uri="{FF2B5EF4-FFF2-40B4-BE49-F238E27FC236}">
                <a16:creationId xmlns:a16="http://schemas.microsoft.com/office/drawing/2014/main" id="{D93CD2F6-8D7D-5602-F8A2-AE97DEC695B1}"/>
              </a:ext>
            </a:extLst>
          </p:cNvPr>
          <p:cNvSpPr txBox="1"/>
          <p:nvPr/>
        </p:nvSpPr>
        <p:spPr>
          <a:xfrm>
            <a:off x="381000" y="1441079"/>
            <a:ext cx="10401300" cy="1318181"/>
          </a:xfrm>
          <a:prstGeom prst="rect">
            <a:avLst/>
          </a:prstGeom>
          <a:noFill/>
        </p:spPr>
        <p:txBody>
          <a:bodyPr wrap="square">
            <a:spAutoFit/>
          </a:bodyPr>
          <a:lstStyle/>
          <a:p>
            <a:pPr marL="0" marR="0" lvl="0" indent="0" algn="l" defTabSz="914400" rtl="0" eaLnBrk="0" fontAlgn="base" latinLnBrk="0" hangingPunct="0">
              <a:lnSpc>
                <a:spcPct val="150000"/>
              </a:lnSpc>
              <a:spcBef>
                <a:spcPct val="0"/>
              </a:spcBef>
              <a:spcAft>
                <a:spcPct val="0"/>
              </a:spcAft>
              <a:buClrTx/>
              <a:buSzTx/>
              <a:buFontTx/>
              <a:buNone/>
              <a:tabLst/>
            </a:pPr>
            <a:r>
              <a:rPr kumimoji="0" lang="en-US" altLang="en-US" sz="2800" b="0" i="0" u="none" strike="noStrike" cap="none" normalizeH="0" baseline="0" dirty="0">
                <a:ln>
                  <a:noFill/>
                </a:ln>
                <a:solidFill>
                  <a:schemeClr val="tx1"/>
                </a:solidFill>
                <a:effectLst/>
                <a:highlight>
                  <a:srgbClr val="FFFF00"/>
                </a:highlight>
                <a:latin typeface="+mj-lt"/>
              </a:rPr>
              <a:t>pip install azure-ai-ml azure-identity </a:t>
            </a:r>
            <a:r>
              <a:rPr kumimoji="0" lang="en-US" altLang="en-US" sz="2800" b="0" i="0" u="none" strike="noStrike" cap="none" normalizeH="0" baseline="0" dirty="0">
                <a:ln>
                  <a:noFill/>
                </a:ln>
                <a:solidFill>
                  <a:schemeClr val="tx1"/>
                </a:solidFill>
                <a:effectLst/>
                <a:latin typeface="+mj-lt"/>
              </a:rPr>
              <a:t>means you are installing </a:t>
            </a:r>
            <a:r>
              <a:rPr kumimoji="0" lang="en-US" altLang="en-US" sz="2800" b="1" i="0" u="none" strike="noStrike" cap="none" normalizeH="0" baseline="0" dirty="0">
                <a:ln>
                  <a:noFill/>
                </a:ln>
                <a:solidFill>
                  <a:schemeClr val="tx1"/>
                </a:solidFill>
                <a:effectLst/>
                <a:latin typeface="+mj-lt"/>
              </a:rPr>
              <a:t>two packages at the same time</a:t>
            </a:r>
            <a:r>
              <a:rPr kumimoji="0" lang="en-US" altLang="en-US" sz="2800" b="0" i="0" u="none" strike="noStrike" cap="none" normalizeH="0" baseline="0" dirty="0">
                <a:ln>
                  <a:noFill/>
                </a:ln>
                <a:solidFill>
                  <a:schemeClr val="tx1"/>
                </a:solidFill>
                <a:effectLst/>
                <a:latin typeface="+mj-lt"/>
              </a:rPr>
              <a:t>: </a:t>
            </a:r>
          </a:p>
        </p:txBody>
      </p:sp>
      <p:pic>
        <p:nvPicPr>
          <p:cNvPr id="11" name="Picture 10">
            <a:extLst>
              <a:ext uri="{FF2B5EF4-FFF2-40B4-BE49-F238E27FC236}">
                <a16:creationId xmlns:a16="http://schemas.microsoft.com/office/drawing/2014/main" id="{6864C958-FF75-77FB-9B4E-BA56E6464EC3}"/>
              </a:ext>
            </a:extLst>
          </p:cNvPr>
          <p:cNvPicPr>
            <a:picLocks noChangeAspect="1"/>
          </p:cNvPicPr>
          <p:nvPr/>
        </p:nvPicPr>
        <p:blipFill>
          <a:blip r:embed="rId3"/>
          <a:srcRect l="5625" t="34445" r="32500" b="27778"/>
          <a:stretch>
            <a:fillRect/>
          </a:stretch>
        </p:blipFill>
        <p:spPr>
          <a:xfrm>
            <a:off x="501068" y="2998436"/>
            <a:ext cx="11233731" cy="3858049"/>
          </a:xfrm>
          <a:prstGeom prst="rect">
            <a:avLst/>
          </a:prstGeom>
        </p:spPr>
      </p:pic>
    </p:spTree>
    <p:extLst>
      <p:ext uri="{BB962C8B-B14F-4D97-AF65-F5344CB8AC3E}">
        <p14:creationId xmlns:p14="http://schemas.microsoft.com/office/powerpoint/2010/main" val="137236402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3DF2E80D-1D30-8831-FB68-5B4DFC16A661}"/>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24FC1FED-DBD0-4564-8238-C975C1BC8DE2}"/>
              </a:ext>
            </a:extLst>
          </p:cNvPr>
          <p:cNvSpPr txBox="1"/>
          <p:nvPr/>
        </p:nvSpPr>
        <p:spPr>
          <a:xfrm>
            <a:off x="191211" y="213486"/>
            <a:ext cx="10401300" cy="997709"/>
          </a:xfrm>
          <a:prstGeom prst="rect">
            <a:avLst/>
          </a:prstGeom>
        </p:spPr>
        <p:txBody>
          <a:bodyPr vert="horz" wrap="square" lIns="0" tIns="12700" rIns="0" bIns="0" rtlCol="0">
            <a:spAutoFit/>
          </a:bodyPr>
          <a:lstStyle/>
          <a:p>
            <a:r>
              <a:rPr lang="en-US" sz="3200" b="1" dirty="0"/>
              <a:t>Getting Started with Python Scripts in Azure Machine Learning</a:t>
            </a:r>
          </a:p>
        </p:txBody>
      </p:sp>
      <p:pic>
        <p:nvPicPr>
          <p:cNvPr id="3" name="object 3">
            <a:extLst>
              <a:ext uri="{FF2B5EF4-FFF2-40B4-BE49-F238E27FC236}">
                <a16:creationId xmlns:a16="http://schemas.microsoft.com/office/drawing/2014/main" id="{70FE8582-D870-D0B3-D948-1545119C73F4}"/>
              </a:ext>
            </a:extLst>
          </p:cNvPr>
          <p:cNvPicPr/>
          <p:nvPr/>
        </p:nvPicPr>
        <p:blipFill>
          <a:blip r:embed="rId2" cstate="print"/>
          <a:stretch>
            <a:fillRect/>
          </a:stretch>
        </p:blipFill>
        <p:spPr>
          <a:xfrm>
            <a:off x="10261092" y="0"/>
            <a:ext cx="1930907" cy="1901952"/>
          </a:xfrm>
          <a:prstGeom prst="rect">
            <a:avLst/>
          </a:prstGeom>
        </p:spPr>
      </p:pic>
      <p:sp>
        <p:nvSpPr>
          <p:cNvPr id="6" name="Rectangle 1">
            <a:extLst>
              <a:ext uri="{FF2B5EF4-FFF2-40B4-BE49-F238E27FC236}">
                <a16:creationId xmlns:a16="http://schemas.microsoft.com/office/drawing/2014/main" id="{4C33B239-DBCB-EC9C-DD49-9286697A3D18}"/>
              </a:ext>
            </a:extLst>
          </p:cNvPr>
          <p:cNvSpPr>
            <a:spLocks noChangeArrowheads="1"/>
          </p:cNvSpPr>
          <p:nvPr/>
        </p:nvSpPr>
        <p:spPr bwMode="auto">
          <a:xfrm>
            <a:off x="1493838" y="2886681"/>
            <a:ext cx="184731" cy="55399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200" b="1" i="0" u="none" strike="noStrike" cap="none" normalizeH="0" baseline="0">
              <a:ln>
                <a:noFill/>
              </a:ln>
              <a:solidFill>
                <a:schemeClr val="tx1"/>
              </a:solidFill>
              <a:effectLst/>
              <a:latin typeface="+mj-lt"/>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a:ln>
                <a:noFill/>
              </a:ln>
              <a:solidFill>
                <a:schemeClr val="tx1"/>
              </a:solidFill>
              <a:effectLst/>
              <a:latin typeface="+mj-lt"/>
            </a:endParaRPr>
          </a:p>
        </p:txBody>
      </p:sp>
      <p:sp>
        <p:nvSpPr>
          <p:cNvPr id="5" name="TextBox 4">
            <a:extLst>
              <a:ext uri="{FF2B5EF4-FFF2-40B4-BE49-F238E27FC236}">
                <a16:creationId xmlns:a16="http://schemas.microsoft.com/office/drawing/2014/main" id="{64858777-9A40-0104-5FFF-C3DF5FD3AE9C}"/>
              </a:ext>
            </a:extLst>
          </p:cNvPr>
          <p:cNvSpPr txBox="1"/>
          <p:nvPr/>
        </p:nvSpPr>
        <p:spPr>
          <a:xfrm>
            <a:off x="381000" y="1441079"/>
            <a:ext cx="10401300" cy="1318181"/>
          </a:xfrm>
          <a:prstGeom prst="rect">
            <a:avLst/>
          </a:prstGeom>
          <a:noFill/>
        </p:spPr>
        <p:txBody>
          <a:bodyPr wrap="square">
            <a:spAutoFit/>
          </a:bodyPr>
          <a:lstStyle/>
          <a:p>
            <a:pPr marL="0" marR="0" lvl="0" indent="0" algn="l" defTabSz="914400" rtl="0" eaLnBrk="0" fontAlgn="base" latinLnBrk="0" hangingPunct="0">
              <a:lnSpc>
                <a:spcPct val="150000"/>
              </a:lnSpc>
              <a:spcBef>
                <a:spcPct val="0"/>
              </a:spcBef>
              <a:spcAft>
                <a:spcPct val="0"/>
              </a:spcAft>
              <a:buClrTx/>
              <a:buSzTx/>
              <a:buFontTx/>
              <a:buNone/>
              <a:tabLst/>
            </a:pPr>
            <a:r>
              <a:rPr kumimoji="0" lang="en-US" altLang="en-US" sz="2800" b="0" i="0" u="none" strike="noStrike" cap="none" normalizeH="0" baseline="0" dirty="0">
                <a:ln>
                  <a:noFill/>
                </a:ln>
                <a:solidFill>
                  <a:schemeClr val="tx1"/>
                </a:solidFill>
                <a:effectLst/>
                <a:highlight>
                  <a:srgbClr val="FFFF00"/>
                </a:highlight>
                <a:latin typeface="+mj-lt"/>
              </a:rPr>
              <a:t>pip install azure-ai-ml azure-identity </a:t>
            </a:r>
            <a:r>
              <a:rPr kumimoji="0" lang="en-US" altLang="en-US" sz="2800" b="0" i="0" u="none" strike="noStrike" cap="none" normalizeH="0" baseline="0" dirty="0">
                <a:ln>
                  <a:noFill/>
                </a:ln>
                <a:solidFill>
                  <a:schemeClr val="tx1"/>
                </a:solidFill>
                <a:effectLst/>
                <a:latin typeface="+mj-lt"/>
              </a:rPr>
              <a:t>means you are installing </a:t>
            </a:r>
            <a:r>
              <a:rPr kumimoji="0" lang="en-US" altLang="en-US" sz="2800" b="1" i="0" u="none" strike="noStrike" cap="none" normalizeH="0" baseline="0" dirty="0">
                <a:ln>
                  <a:noFill/>
                </a:ln>
                <a:solidFill>
                  <a:schemeClr val="tx1"/>
                </a:solidFill>
                <a:effectLst/>
                <a:latin typeface="+mj-lt"/>
              </a:rPr>
              <a:t>two packages at the same time</a:t>
            </a:r>
            <a:r>
              <a:rPr kumimoji="0" lang="en-US" altLang="en-US" sz="2800" b="0" i="0" u="none" strike="noStrike" cap="none" normalizeH="0" baseline="0" dirty="0">
                <a:ln>
                  <a:noFill/>
                </a:ln>
                <a:solidFill>
                  <a:schemeClr val="tx1"/>
                </a:solidFill>
                <a:effectLst/>
                <a:latin typeface="+mj-lt"/>
              </a:rPr>
              <a:t>: </a:t>
            </a:r>
          </a:p>
        </p:txBody>
      </p:sp>
      <p:sp>
        <p:nvSpPr>
          <p:cNvPr id="9" name="Rectangle 2">
            <a:extLst>
              <a:ext uri="{FF2B5EF4-FFF2-40B4-BE49-F238E27FC236}">
                <a16:creationId xmlns:a16="http://schemas.microsoft.com/office/drawing/2014/main" id="{AD7C3C2C-BC9F-4C3D-4C88-F5B894739E6C}"/>
              </a:ext>
            </a:extLst>
          </p:cNvPr>
          <p:cNvSpPr>
            <a:spLocks noChangeArrowheads="1"/>
          </p:cNvSpPr>
          <p:nvPr/>
        </p:nvSpPr>
        <p:spPr bwMode="auto">
          <a:xfrm>
            <a:off x="211756" y="2886681"/>
            <a:ext cx="11768487" cy="64888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50000"/>
              </a:lnSpc>
              <a:spcBef>
                <a:spcPct val="0"/>
              </a:spcBef>
              <a:spcAft>
                <a:spcPct val="0"/>
              </a:spcAft>
              <a:buClrTx/>
              <a:buSzTx/>
              <a:buFontTx/>
              <a:buNone/>
              <a:tabLst/>
            </a:pPr>
            <a:r>
              <a:rPr kumimoji="0" lang="en-US" altLang="en-US" sz="2800" b="1" i="0" u="none" strike="noStrike" cap="none" normalizeH="0" baseline="0" dirty="0">
                <a:ln>
                  <a:noFill/>
                </a:ln>
                <a:solidFill>
                  <a:schemeClr val="tx1"/>
                </a:solidFill>
                <a:effectLst/>
                <a:latin typeface="+mj-lt"/>
              </a:rPr>
              <a:t>azure-ai-ml</a:t>
            </a:r>
          </a:p>
          <a:p>
            <a:pPr marL="457200" marR="0" lvl="0" indent="-457200" algn="l"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2800" b="0" i="0" u="none" strike="noStrike" cap="none" normalizeH="0" baseline="0" dirty="0">
                <a:ln>
                  <a:noFill/>
                </a:ln>
                <a:solidFill>
                  <a:schemeClr val="tx1"/>
                </a:solidFill>
                <a:effectLst/>
                <a:latin typeface="+mj-lt"/>
              </a:rPr>
              <a:t>This is the </a:t>
            </a:r>
            <a:r>
              <a:rPr kumimoji="0" lang="en-US" altLang="en-US" sz="2800" b="1" i="0" u="none" strike="noStrike" cap="none" normalizeH="0" baseline="0" dirty="0">
                <a:ln>
                  <a:noFill/>
                </a:ln>
                <a:solidFill>
                  <a:schemeClr val="tx1"/>
                </a:solidFill>
                <a:effectLst/>
                <a:latin typeface="+mj-lt"/>
              </a:rPr>
              <a:t>Azure Machine Learning SDK v2</a:t>
            </a:r>
            <a:r>
              <a:rPr kumimoji="0" lang="en-US" altLang="en-US" sz="2800" b="0" i="0" u="none" strike="noStrike" cap="none" normalizeH="0" baseline="0" dirty="0">
                <a:ln>
                  <a:noFill/>
                </a:ln>
                <a:solidFill>
                  <a:schemeClr val="tx1"/>
                </a:solidFill>
                <a:effectLst/>
                <a:latin typeface="+mj-lt"/>
              </a:rPr>
              <a:t>.</a:t>
            </a:r>
          </a:p>
          <a:p>
            <a:pPr marL="457200" marR="0" lvl="0" indent="-457200" algn="l"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2800" b="0" i="0" u="none" strike="noStrike" cap="none" normalizeH="0" baseline="0" dirty="0">
                <a:ln>
                  <a:noFill/>
                </a:ln>
                <a:solidFill>
                  <a:schemeClr val="tx1"/>
                </a:solidFill>
                <a:effectLst/>
                <a:latin typeface="+mj-lt"/>
              </a:rPr>
              <a:t>It gives Python the ability to </a:t>
            </a:r>
            <a:r>
              <a:rPr kumimoji="0" lang="en-US" altLang="en-US" sz="2800" b="1" i="0" u="none" strike="noStrike" cap="none" normalizeH="0" baseline="0" dirty="0">
                <a:ln>
                  <a:noFill/>
                </a:ln>
                <a:solidFill>
                  <a:schemeClr val="tx1"/>
                </a:solidFill>
                <a:effectLst/>
                <a:latin typeface="+mj-lt"/>
              </a:rPr>
              <a:t>create, manage, and run ML workflows</a:t>
            </a:r>
            <a:r>
              <a:rPr kumimoji="0" lang="en-US" altLang="en-US" sz="2800" b="0" i="0" u="none" strike="noStrike" cap="none" normalizeH="0" baseline="0" dirty="0">
                <a:ln>
                  <a:noFill/>
                </a:ln>
                <a:solidFill>
                  <a:schemeClr val="tx1"/>
                </a:solidFill>
                <a:effectLst/>
                <a:latin typeface="+mj-lt"/>
              </a:rPr>
              <a:t> on Azure ML.</a:t>
            </a:r>
          </a:p>
          <a:p>
            <a:pPr marL="457200" marR="0" lvl="0" indent="-457200" algn="l"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2800" b="0" i="0" u="none" strike="noStrike" cap="none" normalizeH="0" baseline="0" dirty="0">
                <a:ln>
                  <a:noFill/>
                </a:ln>
                <a:solidFill>
                  <a:schemeClr val="tx1"/>
                </a:solidFill>
                <a:effectLst/>
                <a:latin typeface="+mj-lt"/>
              </a:rPr>
              <a:t>Includes functions to:</a:t>
            </a:r>
          </a:p>
          <a:p>
            <a:pPr marL="914400" marR="0" lvl="1" indent="-457200" algn="l"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2800" b="0" i="0" u="none" strike="noStrike" cap="none" normalizeH="0" baseline="0" dirty="0">
                <a:ln>
                  <a:noFill/>
                </a:ln>
                <a:solidFill>
                  <a:schemeClr val="tx1"/>
                </a:solidFill>
                <a:effectLst/>
                <a:latin typeface="+mj-lt"/>
              </a:rPr>
              <a:t>Connect to your Azure ML Workspace</a:t>
            </a:r>
          </a:p>
          <a:p>
            <a:pPr marL="914400" marR="0" lvl="1" indent="-457200" algn="l"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2800" b="0" i="0" u="none" strike="noStrike" cap="none" normalizeH="0" baseline="0" dirty="0">
                <a:ln>
                  <a:noFill/>
                </a:ln>
                <a:solidFill>
                  <a:schemeClr val="tx1"/>
                </a:solidFill>
                <a:effectLst/>
                <a:latin typeface="+mj-lt"/>
              </a:rPr>
              <a:t>Create datasets, environments, and compute clusters</a:t>
            </a:r>
          </a:p>
          <a:p>
            <a:pPr marL="914400" marR="0" lvl="1" indent="-457200" algn="l"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2800" b="0" i="0" u="none" strike="noStrike" cap="none" normalizeH="0" baseline="0" dirty="0">
                <a:ln>
                  <a:noFill/>
                </a:ln>
                <a:solidFill>
                  <a:schemeClr val="tx1"/>
                </a:solidFill>
                <a:effectLst/>
                <a:latin typeface="+mj-lt"/>
              </a:rPr>
              <a:t>Submit and monitor training jobs</a:t>
            </a:r>
          </a:p>
          <a:p>
            <a:pPr marL="914400" marR="0" lvl="1" indent="-457200" algn="l"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2800" b="0" i="0" u="none" strike="noStrike" cap="none" normalizeH="0" baseline="0" dirty="0">
                <a:ln>
                  <a:noFill/>
                </a:ln>
                <a:solidFill>
                  <a:schemeClr val="tx1"/>
                </a:solidFill>
                <a:effectLst/>
                <a:latin typeface="+mj-lt"/>
              </a:rPr>
              <a:t>Register and deploy ML models</a:t>
            </a:r>
          </a:p>
          <a:p>
            <a:pPr marL="0" marR="0" lvl="0" indent="0" algn="l" defTabSz="914400" rtl="0" eaLnBrk="0" fontAlgn="base" latinLnBrk="0" hangingPunct="0">
              <a:lnSpc>
                <a:spcPct val="150000"/>
              </a:lnSpc>
              <a:spcBef>
                <a:spcPct val="0"/>
              </a:spcBef>
              <a:spcAft>
                <a:spcPct val="0"/>
              </a:spcAft>
              <a:buClrTx/>
              <a:buSzTx/>
              <a:buFontTx/>
              <a:buNone/>
              <a:tabLst/>
            </a:pPr>
            <a:r>
              <a:rPr kumimoji="0" lang="en-US" altLang="en-US" sz="2800" b="0" i="0" u="none" strike="noStrike" cap="none" normalizeH="0" baseline="0" dirty="0">
                <a:ln>
                  <a:noFill/>
                </a:ln>
                <a:solidFill>
                  <a:schemeClr val="tx1"/>
                </a:solidFill>
                <a:effectLst/>
                <a:latin typeface="+mj-lt"/>
              </a:rPr>
              <a:t>Think of it as the </a:t>
            </a:r>
            <a:r>
              <a:rPr kumimoji="0" lang="en-US" altLang="en-US" sz="2800" b="1" i="0" u="none" strike="noStrike" cap="none" normalizeH="0" baseline="0" dirty="0">
                <a:ln>
                  <a:noFill/>
                </a:ln>
                <a:solidFill>
                  <a:schemeClr val="tx1"/>
                </a:solidFill>
                <a:effectLst/>
                <a:latin typeface="+mj-lt"/>
              </a:rPr>
              <a:t>"toolbox" for Azure ML</a:t>
            </a:r>
            <a:r>
              <a:rPr kumimoji="0" lang="en-US" altLang="en-US" sz="2800" b="0" i="0" u="none" strike="noStrike" cap="none" normalizeH="0" baseline="0" dirty="0">
                <a:ln>
                  <a:noFill/>
                </a:ln>
                <a:solidFill>
                  <a:schemeClr val="tx1"/>
                </a:solidFill>
                <a:effectLst/>
                <a:latin typeface="+mj-lt"/>
              </a:rPr>
              <a:t>.</a:t>
            </a:r>
          </a:p>
        </p:txBody>
      </p:sp>
    </p:spTree>
    <p:extLst>
      <p:ext uri="{BB962C8B-B14F-4D97-AF65-F5344CB8AC3E}">
        <p14:creationId xmlns:p14="http://schemas.microsoft.com/office/powerpoint/2010/main" val="91574120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6B956C4B-DF41-AFA5-1E78-D78B7ABC2F28}"/>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A6EB7EE0-1FD9-061D-6F3C-C3B012E89B78}"/>
              </a:ext>
            </a:extLst>
          </p:cNvPr>
          <p:cNvSpPr txBox="1"/>
          <p:nvPr/>
        </p:nvSpPr>
        <p:spPr>
          <a:xfrm>
            <a:off x="191211" y="213486"/>
            <a:ext cx="10401300" cy="997709"/>
          </a:xfrm>
          <a:prstGeom prst="rect">
            <a:avLst/>
          </a:prstGeom>
        </p:spPr>
        <p:txBody>
          <a:bodyPr vert="horz" wrap="square" lIns="0" tIns="12700" rIns="0" bIns="0" rtlCol="0">
            <a:spAutoFit/>
          </a:bodyPr>
          <a:lstStyle/>
          <a:p>
            <a:r>
              <a:rPr lang="en-US" sz="3200" b="1" dirty="0"/>
              <a:t>Getting Started with Python Scripts in Azure Machine Learning</a:t>
            </a:r>
          </a:p>
        </p:txBody>
      </p:sp>
      <p:pic>
        <p:nvPicPr>
          <p:cNvPr id="3" name="object 3">
            <a:extLst>
              <a:ext uri="{FF2B5EF4-FFF2-40B4-BE49-F238E27FC236}">
                <a16:creationId xmlns:a16="http://schemas.microsoft.com/office/drawing/2014/main" id="{CDCC5C60-938A-7130-B899-0001BA56D587}"/>
              </a:ext>
            </a:extLst>
          </p:cNvPr>
          <p:cNvPicPr/>
          <p:nvPr/>
        </p:nvPicPr>
        <p:blipFill>
          <a:blip r:embed="rId2" cstate="print"/>
          <a:stretch>
            <a:fillRect/>
          </a:stretch>
        </p:blipFill>
        <p:spPr>
          <a:xfrm>
            <a:off x="10261092" y="0"/>
            <a:ext cx="1930907" cy="1901952"/>
          </a:xfrm>
          <a:prstGeom prst="rect">
            <a:avLst/>
          </a:prstGeom>
        </p:spPr>
      </p:pic>
      <p:sp>
        <p:nvSpPr>
          <p:cNvPr id="6" name="Rectangle 1">
            <a:extLst>
              <a:ext uri="{FF2B5EF4-FFF2-40B4-BE49-F238E27FC236}">
                <a16:creationId xmlns:a16="http://schemas.microsoft.com/office/drawing/2014/main" id="{1F2FEF77-0359-3A41-B877-410E76A4E93A}"/>
              </a:ext>
            </a:extLst>
          </p:cNvPr>
          <p:cNvSpPr>
            <a:spLocks noChangeArrowheads="1"/>
          </p:cNvSpPr>
          <p:nvPr/>
        </p:nvSpPr>
        <p:spPr bwMode="auto">
          <a:xfrm>
            <a:off x="1493838" y="2886681"/>
            <a:ext cx="184731" cy="55399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200" b="1" i="0" u="none" strike="noStrike" cap="none" normalizeH="0" baseline="0">
              <a:ln>
                <a:noFill/>
              </a:ln>
              <a:solidFill>
                <a:schemeClr val="tx1"/>
              </a:solidFill>
              <a:effectLst/>
              <a:latin typeface="+mj-lt"/>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a:ln>
                <a:noFill/>
              </a:ln>
              <a:solidFill>
                <a:schemeClr val="tx1"/>
              </a:solidFill>
              <a:effectLst/>
              <a:latin typeface="+mj-lt"/>
            </a:endParaRPr>
          </a:p>
        </p:txBody>
      </p:sp>
      <p:sp>
        <p:nvSpPr>
          <p:cNvPr id="9" name="Rectangle 2">
            <a:extLst>
              <a:ext uri="{FF2B5EF4-FFF2-40B4-BE49-F238E27FC236}">
                <a16:creationId xmlns:a16="http://schemas.microsoft.com/office/drawing/2014/main" id="{39D61ACE-92DD-67D5-7F3F-97B3DA98D2D2}"/>
              </a:ext>
            </a:extLst>
          </p:cNvPr>
          <p:cNvSpPr>
            <a:spLocks noChangeArrowheads="1"/>
          </p:cNvSpPr>
          <p:nvPr/>
        </p:nvSpPr>
        <p:spPr bwMode="auto">
          <a:xfrm>
            <a:off x="191211" y="1752600"/>
            <a:ext cx="11768487" cy="51961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50000"/>
              </a:lnSpc>
              <a:spcBef>
                <a:spcPct val="0"/>
              </a:spcBef>
              <a:spcAft>
                <a:spcPct val="0"/>
              </a:spcAft>
              <a:buClrTx/>
              <a:buSzTx/>
              <a:buFontTx/>
              <a:buNone/>
              <a:tabLst/>
            </a:pPr>
            <a:r>
              <a:rPr kumimoji="0" lang="en-US" altLang="en-US" sz="2800" b="1" i="0" u="none" strike="noStrike" cap="none" normalizeH="0" baseline="0" dirty="0">
                <a:ln>
                  <a:noFill/>
                </a:ln>
                <a:solidFill>
                  <a:schemeClr val="tx1"/>
                </a:solidFill>
                <a:effectLst/>
                <a:latin typeface="+mj-lt"/>
              </a:rPr>
              <a:t>azure-identity</a:t>
            </a:r>
          </a:p>
          <a:p>
            <a:pPr marL="457200" marR="0" lvl="0" indent="-457200" algn="l"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2800" b="0" i="0" u="none" strike="noStrike" cap="none" normalizeH="0" baseline="0" dirty="0">
                <a:ln>
                  <a:noFill/>
                </a:ln>
                <a:solidFill>
                  <a:schemeClr val="tx1"/>
                </a:solidFill>
                <a:effectLst/>
                <a:latin typeface="+mj-lt"/>
              </a:rPr>
              <a:t>This is Azure’s </a:t>
            </a:r>
            <a:r>
              <a:rPr kumimoji="0" lang="en-US" altLang="en-US" sz="2800" b="1" i="0" u="none" strike="noStrike" cap="none" normalizeH="0" baseline="0" dirty="0">
                <a:ln>
                  <a:noFill/>
                </a:ln>
                <a:solidFill>
                  <a:schemeClr val="tx1"/>
                </a:solidFill>
                <a:effectLst/>
                <a:latin typeface="+mj-lt"/>
              </a:rPr>
              <a:t>authentication library</a:t>
            </a:r>
            <a:r>
              <a:rPr kumimoji="0" lang="en-US" altLang="en-US" sz="2800" b="0" i="0" u="none" strike="noStrike" cap="none" normalizeH="0" baseline="0" dirty="0">
                <a:ln>
                  <a:noFill/>
                </a:ln>
                <a:solidFill>
                  <a:schemeClr val="tx1"/>
                </a:solidFill>
                <a:effectLst/>
                <a:latin typeface="+mj-lt"/>
              </a:rPr>
              <a:t>.</a:t>
            </a:r>
          </a:p>
          <a:p>
            <a:pPr marL="457200" marR="0" lvl="0" indent="-457200" algn="l"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2800" b="0" i="0" u="none" strike="noStrike" cap="none" normalizeH="0" baseline="0" dirty="0">
                <a:ln>
                  <a:noFill/>
                </a:ln>
                <a:solidFill>
                  <a:schemeClr val="tx1"/>
                </a:solidFill>
                <a:effectLst/>
                <a:latin typeface="+mj-lt"/>
              </a:rPr>
              <a:t>It provides different ways for your code to </a:t>
            </a:r>
            <a:r>
              <a:rPr kumimoji="0" lang="en-US" altLang="en-US" sz="2800" b="1" i="0" u="none" strike="noStrike" cap="none" normalizeH="0" baseline="0" dirty="0">
                <a:ln>
                  <a:noFill/>
                </a:ln>
                <a:solidFill>
                  <a:schemeClr val="tx1"/>
                </a:solidFill>
                <a:effectLst/>
                <a:latin typeface="+mj-lt"/>
              </a:rPr>
              <a:t>log in</a:t>
            </a:r>
            <a:r>
              <a:rPr kumimoji="0" lang="en-US" altLang="en-US" sz="2800" b="0" i="0" u="none" strike="noStrike" cap="none" normalizeH="0" baseline="0" dirty="0">
                <a:ln>
                  <a:noFill/>
                </a:ln>
                <a:solidFill>
                  <a:schemeClr val="tx1"/>
                </a:solidFill>
                <a:effectLst/>
                <a:latin typeface="+mj-lt"/>
              </a:rPr>
              <a:t> to Azure, for example:</a:t>
            </a:r>
          </a:p>
          <a:p>
            <a:pPr marL="914400" marR="0" lvl="1" indent="-457200" algn="l"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2800" b="0" i="0" u="none" strike="noStrike" cap="none" normalizeH="0" baseline="0" dirty="0">
                <a:ln>
                  <a:noFill/>
                </a:ln>
                <a:solidFill>
                  <a:schemeClr val="tx1"/>
                </a:solidFill>
                <a:effectLst/>
                <a:latin typeface="+mj-lt"/>
              </a:rPr>
              <a:t>Azure CLI login (</a:t>
            </a:r>
            <a:r>
              <a:rPr kumimoji="0" lang="en-US" altLang="en-US" sz="2800" b="0" i="0" u="none" strike="noStrike" cap="none" normalizeH="0" baseline="0" dirty="0" err="1">
                <a:ln>
                  <a:noFill/>
                </a:ln>
                <a:solidFill>
                  <a:schemeClr val="tx1"/>
                </a:solidFill>
                <a:effectLst/>
                <a:latin typeface="+mj-lt"/>
              </a:rPr>
              <a:t>az</a:t>
            </a:r>
            <a:r>
              <a:rPr kumimoji="0" lang="en-US" altLang="en-US" sz="2800" b="0" i="0" u="none" strike="noStrike" cap="none" normalizeH="0" baseline="0" dirty="0">
                <a:ln>
                  <a:noFill/>
                </a:ln>
                <a:solidFill>
                  <a:schemeClr val="tx1"/>
                </a:solidFill>
                <a:effectLst/>
                <a:latin typeface="+mj-lt"/>
              </a:rPr>
              <a:t> login)</a:t>
            </a:r>
          </a:p>
          <a:p>
            <a:pPr marL="914400" marR="0" lvl="1" indent="-457200" algn="l"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2800" b="0" i="0" u="none" strike="noStrike" cap="none" normalizeH="0" baseline="0" dirty="0">
                <a:ln>
                  <a:noFill/>
                </a:ln>
                <a:solidFill>
                  <a:schemeClr val="tx1"/>
                </a:solidFill>
                <a:effectLst/>
                <a:latin typeface="+mj-lt"/>
              </a:rPr>
              <a:t>Visual Studio Code login</a:t>
            </a:r>
          </a:p>
          <a:p>
            <a:pPr marL="914400" marR="0" lvl="1" indent="-457200" algn="l"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2800" b="0" i="0" u="none" strike="noStrike" cap="none" normalizeH="0" baseline="0" dirty="0">
                <a:ln>
                  <a:noFill/>
                </a:ln>
                <a:solidFill>
                  <a:schemeClr val="tx1"/>
                </a:solidFill>
                <a:effectLst/>
                <a:latin typeface="+mj-lt"/>
              </a:rPr>
              <a:t>Managed identity (if running in Azure cloud)</a:t>
            </a:r>
          </a:p>
          <a:p>
            <a:pPr marL="914400" marR="0" lvl="1" indent="-457200" algn="l"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2800" b="0" i="0" u="none" strike="noStrike" cap="none" normalizeH="0" baseline="0" dirty="0">
                <a:ln>
                  <a:noFill/>
                </a:ln>
                <a:solidFill>
                  <a:schemeClr val="tx1"/>
                </a:solidFill>
                <a:effectLst/>
                <a:latin typeface="+mj-lt"/>
              </a:rPr>
              <a:t>Environment variables (username/password, client ID, etc.)</a:t>
            </a:r>
          </a:p>
          <a:p>
            <a:pPr marL="0" marR="0" lvl="0" indent="0" algn="l" defTabSz="914400" rtl="0" eaLnBrk="0" fontAlgn="base" latinLnBrk="0" hangingPunct="0">
              <a:lnSpc>
                <a:spcPct val="150000"/>
              </a:lnSpc>
              <a:spcBef>
                <a:spcPct val="0"/>
              </a:spcBef>
              <a:spcAft>
                <a:spcPct val="0"/>
              </a:spcAft>
              <a:buClrTx/>
              <a:buSzTx/>
              <a:buFontTx/>
              <a:buNone/>
              <a:tabLst/>
            </a:pPr>
            <a:r>
              <a:rPr kumimoji="0" lang="en-US" altLang="en-US" sz="2800" b="0" i="0" u="none" strike="noStrike" cap="none" normalizeH="0" baseline="0" dirty="0">
                <a:ln>
                  <a:noFill/>
                </a:ln>
                <a:solidFill>
                  <a:schemeClr val="tx1"/>
                </a:solidFill>
                <a:effectLst/>
                <a:latin typeface="+mj-lt"/>
              </a:rPr>
              <a:t>Think of it as the </a:t>
            </a:r>
            <a:r>
              <a:rPr kumimoji="0" lang="en-US" altLang="en-US" sz="2800" b="1" i="0" u="none" strike="noStrike" cap="none" normalizeH="0" baseline="0" dirty="0">
                <a:ln>
                  <a:noFill/>
                </a:ln>
                <a:solidFill>
                  <a:schemeClr val="tx1"/>
                </a:solidFill>
                <a:effectLst/>
                <a:latin typeface="+mj-lt"/>
              </a:rPr>
              <a:t>"key" to open Azure’s door</a:t>
            </a:r>
            <a:r>
              <a:rPr kumimoji="0" lang="en-US" altLang="en-US" sz="2800" b="0" i="0" u="none" strike="noStrike" cap="none" normalizeH="0" baseline="0" dirty="0">
                <a:ln>
                  <a:noFill/>
                </a:ln>
                <a:solidFill>
                  <a:schemeClr val="tx1"/>
                </a:solidFill>
                <a:effectLst/>
                <a:latin typeface="+mj-lt"/>
              </a:rPr>
              <a:t>.</a:t>
            </a:r>
          </a:p>
        </p:txBody>
      </p:sp>
    </p:spTree>
    <p:extLst>
      <p:ext uri="{BB962C8B-B14F-4D97-AF65-F5344CB8AC3E}">
        <p14:creationId xmlns:p14="http://schemas.microsoft.com/office/powerpoint/2010/main" val="12099230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4849E636-8545-F9E8-F9B5-471A994F5A9D}"/>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8B20D81F-EF1E-B46F-0BC0-FB02766FB992}"/>
              </a:ext>
            </a:extLst>
          </p:cNvPr>
          <p:cNvSpPr txBox="1"/>
          <p:nvPr/>
        </p:nvSpPr>
        <p:spPr>
          <a:xfrm>
            <a:off x="191211" y="213486"/>
            <a:ext cx="10401300" cy="997709"/>
          </a:xfrm>
          <a:prstGeom prst="rect">
            <a:avLst/>
          </a:prstGeom>
        </p:spPr>
        <p:txBody>
          <a:bodyPr vert="horz" wrap="square" lIns="0" tIns="12700" rIns="0" bIns="0" rtlCol="0">
            <a:spAutoFit/>
          </a:bodyPr>
          <a:lstStyle/>
          <a:p>
            <a:r>
              <a:rPr lang="en-US" sz="3200" b="1" dirty="0"/>
              <a:t>Getting Started with Python Scripts in Azure Machine Learning</a:t>
            </a:r>
          </a:p>
        </p:txBody>
      </p:sp>
      <p:pic>
        <p:nvPicPr>
          <p:cNvPr id="3" name="object 3">
            <a:extLst>
              <a:ext uri="{FF2B5EF4-FFF2-40B4-BE49-F238E27FC236}">
                <a16:creationId xmlns:a16="http://schemas.microsoft.com/office/drawing/2014/main" id="{895F06F0-C002-E3F7-00E7-4A2842391139}"/>
              </a:ext>
            </a:extLst>
          </p:cNvPr>
          <p:cNvPicPr/>
          <p:nvPr/>
        </p:nvPicPr>
        <p:blipFill>
          <a:blip r:embed="rId2" cstate="print"/>
          <a:stretch>
            <a:fillRect/>
          </a:stretch>
        </p:blipFill>
        <p:spPr>
          <a:xfrm>
            <a:off x="10261092" y="0"/>
            <a:ext cx="1930907" cy="1901952"/>
          </a:xfrm>
          <a:prstGeom prst="rect">
            <a:avLst/>
          </a:prstGeom>
        </p:spPr>
      </p:pic>
      <p:sp>
        <p:nvSpPr>
          <p:cNvPr id="6" name="Rectangle 1">
            <a:extLst>
              <a:ext uri="{FF2B5EF4-FFF2-40B4-BE49-F238E27FC236}">
                <a16:creationId xmlns:a16="http://schemas.microsoft.com/office/drawing/2014/main" id="{FF9B3D22-5913-72B4-1060-19C789640965}"/>
              </a:ext>
            </a:extLst>
          </p:cNvPr>
          <p:cNvSpPr>
            <a:spLocks noChangeArrowheads="1"/>
          </p:cNvSpPr>
          <p:nvPr/>
        </p:nvSpPr>
        <p:spPr bwMode="auto">
          <a:xfrm>
            <a:off x="1493838" y="2886681"/>
            <a:ext cx="184731" cy="55399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200" b="1" i="0" u="none" strike="noStrike" cap="none" normalizeH="0" baseline="0">
              <a:ln>
                <a:noFill/>
              </a:ln>
              <a:solidFill>
                <a:schemeClr val="tx1"/>
              </a:solidFill>
              <a:effectLst/>
              <a:latin typeface="+mj-lt"/>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a:ln>
                <a:noFill/>
              </a:ln>
              <a:solidFill>
                <a:schemeClr val="tx1"/>
              </a:solidFill>
              <a:effectLst/>
              <a:latin typeface="+mj-lt"/>
            </a:endParaRPr>
          </a:p>
        </p:txBody>
      </p:sp>
      <p:sp>
        <p:nvSpPr>
          <p:cNvPr id="9" name="Rectangle 2">
            <a:extLst>
              <a:ext uri="{FF2B5EF4-FFF2-40B4-BE49-F238E27FC236}">
                <a16:creationId xmlns:a16="http://schemas.microsoft.com/office/drawing/2014/main" id="{48EC0CB9-D0A0-4B1E-6A68-656A75A44E41}"/>
              </a:ext>
            </a:extLst>
          </p:cNvPr>
          <p:cNvSpPr>
            <a:spLocks noChangeArrowheads="1"/>
          </p:cNvSpPr>
          <p:nvPr/>
        </p:nvSpPr>
        <p:spPr bwMode="auto">
          <a:xfrm>
            <a:off x="191211" y="2398931"/>
            <a:ext cx="11768487" cy="39035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50000"/>
              </a:lnSpc>
              <a:spcBef>
                <a:spcPct val="0"/>
              </a:spcBef>
              <a:spcAft>
                <a:spcPct val="0"/>
              </a:spcAft>
              <a:buClrTx/>
              <a:buSzTx/>
              <a:buFontTx/>
              <a:buNone/>
              <a:tabLst/>
            </a:pPr>
            <a:r>
              <a:rPr kumimoji="0" lang="en-US" altLang="en-US" sz="2800" b="1" i="0" u="none" strike="noStrike" cap="none" normalizeH="0" baseline="0" dirty="0">
                <a:ln>
                  <a:noFill/>
                </a:ln>
                <a:solidFill>
                  <a:schemeClr val="tx1"/>
                </a:solidFill>
                <a:effectLst/>
                <a:latin typeface="+mj-lt"/>
              </a:rPr>
              <a:t>Why install both together?</a:t>
            </a:r>
          </a:p>
          <a:p>
            <a:pPr marL="457200" marR="0" lvl="0" indent="-457200" algn="l"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2800" b="0" i="0" u="none" strike="noStrike" cap="none" normalizeH="0" baseline="0" dirty="0">
                <a:ln>
                  <a:noFill/>
                </a:ln>
                <a:solidFill>
                  <a:schemeClr val="tx1"/>
                </a:solidFill>
                <a:effectLst/>
                <a:latin typeface="+mj-lt"/>
              </a:rPr>
              <a:t>azure-ai-ml </a:t>
            </a:r>
            <a:r>
              <a:rPr kumimoji="0" lang="en-US" altLang="en-US" sz="2800" b="1" i="0" u="none" strike="noStrike" cap="none" normalizeH="0" baseline="0" dirty="0">
                <a:ln>
                  <a:noFill/>
                </a:ln>
                <a:solidFill>
                  <a:schemeClr val="tx1"/>
                </a:solidFill>
                <a:effectLst/>
                <a:latin typeface="+mj-lt"/>
              </a:rPr>
              <a:t>needs</a:t>
            </a:r>
            <a:r>
              <a:rPr kumimoji="0" lang="en-US" altLang="en-US" sz="2800" b="0" i="0" u="none" strike="noStrike" cap="none" normalizeH="0" baseline="0" dirty="0">
                <a:ln>
                  <a:noFill/>
                </a:ln>
                <a:solidFill>
                  <a:schemeClr val="tx1"/>
                </a:solidFill>
                <a:effectLst/>
                <a:latin typeface="+mj-lt"/>
              </a:rPr>
              <a:t> azure-identity when you want to connect to Azure resources.</a:t>
            </a:r>
          </a:p>
          <a:p>
            <a:pPr marL="457200" marR="0" lvl="0" indent="-457200" algn="l"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2800" b="0" i="0" u="none" strike="noStrike" cap="none" normalizeH="0" baseline="0" dirty="0">
                <a:ln>
                  <a:noFill/>
                </a:ln>
                <a:solidFill>
                  <a:schemeClr val="tx1"/>
                </a:solidFill>
                <a:effectLst/>
                <a:latin typeface="+mj-lt"/>
              </a:rPr>
              <a:t>Without azure-identity, you can still write local code with azure-ai-ml, but you </a:t>
            </a:r>
            <a:r>
              <a:rPr kumimoji="0" lang="en-US" altLang="en-US" sz="2800" b="1" i="0" u="none" strike="noStrike" cap="none" normalizeH="0" baseline="0" dirty="0">
                <a:ln>
                  <a:noFill/>
                </a:ln>
                <a:solidFill>
                  <a:schemeClr val="tx1"/>
                </a:solidFill>
                <a:effectLst/>
                <a:latin typeface="+mj-lt"/>
              </a:rPr>
              <a:t>cannot</a:t>
            </a:r>
            <a:r>
              <a:rPr kumimoji="0" lang="en-US" altLang="en-US" sz="2800" b="0" i="0" u="none" strike="noStrike" cap="none" normalizeH="0" baseline="0" dirty="0">
                <a:ln>
                  <a:noFill/>
                </a:ln>
                <a:solidFill>
                  <a:schemeClr val="tx1"/>
                </a:solidFill>
                <a:effectLst/>
                <a:latin typeface="+mj-lt"/>
              </a:rPr>
              <a:t> authenticate to Azure ML to run jobs or manage resources in the cloud.</a:t>
            </a:r>
          </a:p>
        </p:txBody>
      </p:sp>
    </p:spTree>
    <p:extLst>
      <p:ext uri="{BB962C8B-B14F-4D97-AF65-F5344CB8AC3E}">
        <p14:creationId xmlns:p14="http://schemas.microsoft.com/office/powerpoint/2010/main" val="24517781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9">
                                            <p:txEl>
                                              <p:pRg st="1" end="1"/>
                                            </p:txEl>
                                          </p:spTgt>
                                        </p:tgtEl>
                                        <p:attrNameLst>
                                          <p:attrName>style.visibility</p:attrName>
                                        </p:attrNameLst>
                                      </p:cBhvr>
                                      <p:to>
                                        <p:strVal val="visible"/>
                                      </p:to>
                                    </p:set>
                                    <p:animEffect transition="in" filter="fade">
                                      <p:cBhvr>
                                        <p:cTn id="7" dur="1000"/>
                                        <p:tgtEl>
                                          <p:spTgt spid="9">
                                            <p:txEl>
                                              <p:pRg st="1" end="1"/>
                                            </p:txEl>
                                          </p:spTgt>
                                        </p:tgtEl>
                                      </p:cBhvr>
                                    </p:animEffect>
                                    <p:anim calcmode="lin" valueType="num">
                                      <p:cBhvr>
                                        <p:cTn id="8" dur="1000" fill="hold"/>
                                        <p:tgtEl>
                                          <p:spTgt spid="9">
                                            <p:txEl>
                                              <p:pRg st="1" end="1"/>
                                            </p:txEl>
                                          </p:spTgt>
                                        </p:tgtEl>
                                        <p:attrNameLst>
                                          <p:attrName>ppt_x</p:attrName>
                                        </p:attrNameLst>
                                      </p:cBhvr>
                                      <p:tavLst>
                                        <p:tav tm="0">
                                          <p:val>
                                            <p:strVal val="#ppt_x"/>
                                          </p:val>
                                        </p:tav>
                                        <p:tav tm="100000">
                                          <p:val>
                                            <p:strVal val="#ppt_x"/>
                                          </p:val>
                                        </p:tav>
                                      </p:tavLst>
                                    </p:anim>
                                    <p:anim calcmode="lin" valueType="num">
                                      <p:cBhvr>
                                        <p:cTn id="9" dur="1000" fill="hold"/>
                                        <p:tgtEl>
                                          <p:spTgt spid="9">
                                            <p:txEl>
                                              <p:pRg st="1" end="1"/>
                                            </p:txEl>
                                          </p:spTgt>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9">
                                            <p:txEl>
                                              <p:pRg st="2" end="2"/>
                                            </p:txEl>
                                          </p:spTgt>
                                        </p:tgtEl>
                                        <p:attrNameLst>
                                          <p:attrName>style.visibility</p:attrName>
                                        </p:attrNameLst>
                                      </p:cBhvr>
                                      <p:to>
                                        <p:strVal val="visible"/>
                                      </p:to>
                                    </p:set>
                                    <p:animEffect transition="in" filter="fade">
                                      <p:cBhvr>
                                        <p:cTn id="12" dur="1000"/>
                                        <p:tgtEl>
                                          <p:spTgt spid="9">
                                            <p:txEl>
                                              <p:pRg st="2" end="2"/>
                                            </p:txEl>
                                          </p:spTgt>
                                        </p:tgtEl>
                                      </p:cBhvr>
                                    </p:animEffect>
                                    <p:anim calcmode="lin" valueType="num">
                                      <p:cBhvr>
                                        <p:cTn id="13" dur="1000" fill="hold"/>
                                        <p:tgtEl>
                                          <p:spTgt spid="9">
                                            <p:txEl>
                                              <p:pRg st="2" end="2"/>
                                            </p:txEl>
                                          </p:spTgt>
                                        </p:tgtEl>
                                        <p:attrNameLst>
                                          <p:attrName>ppt_x</p:attrName>
                                        </p:attrNameLst>
                                      </p:cBhvr>
                                      <p:tavLst>
                                        <p:tav tm="0">
                                          <p:val>
                                            <p:strVal val="#ppt_x"/>
                                          </p:val>
                                        </p:tav>
                                        <p:tav tm="100000">
                                          <p:val>
                                            <p:strVal val="#ppt_x"/>
                                          </p:val>
                                        </p:tav>
                                      </p:tavLst>
                                    </p:anim>
                                    <p:anim calcmode="lin" valueType="num">
                                      <p:cBhvr>
                                        <p:cTn id="14" dur="1000" fill="hold"/>
                                        <p:tgtEl>
                                          <p:spTgt spid="9">
                                            <p:txEl>
                                              <p:pRg st="2" end="2"/>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34B3025D-0B81-2315-4281-25DA915649B6}"/>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027CDF31-3D5B-12E3-AC17-C77F7E74F37C}"/>
              </a:ext>
            </a:extLst>
          </p:cNvPr>
          <p:cNvSpPr txBox="1"/>
          <p:nvPr/>
        </p:nvSpPr>
        <p:spPr>
          <a:xfrm>
            <a:off x="191211" y="213486"/>
            <a:ext cx="10401300" cy="997709"/>
          </a:xfrm>
          <a:prstGeom prst="rect">
            <a:avLst/>
          </a:prstGeom>
        </p:spPr>
        <p:txBody>
          <a:bodyPr vert="horz" wrap="square" lIns="0" tIns="12700" rIns="0" bIns="0" rtlCol="0">
            <a:spAutoFit/>
          </a:bodyPr>
          <a:lstStyle/>
          <a:p>
            <a:r>
              <a:rPr lang="en-US" sz="3200" b="1" dirty="0"/>
              <a:t>Getting Started with Python Scripts in Azure Machine Learning</a:t>
            </a:r>
          </a:p>
        </p:txBody>
      </p:sp>
      <p:pic>
        <p:nvPicPr>
          <p:cNvPr id="3" name="object 3">
            <a:extLst>
              <a:ext uri="{FF2B5EF4-FFF2-40B4-BE49-F238E27FC236}">
                <a16:creationId xmlns:a16="http://schemas.microsoft.com/office/drawing/2014/main" id="{BE57ACC2-1BCC-2569-2359-ACEA3D3AA3E5}"/>
              </a:ext>
            </a:extLst>
          </p:cNvPr>
          <p:cNvPicPr/>
          <p:nvPr/>
        </p:nvPicPr>
        <p:blipFill>
          <a:blip r:embed="rId2" cstate="print"/>
          <a:stretch>
            <a:fillRect/>
          </a:stretch>
        </p:blipFill>
        <p:spPr>
          <a:xfrm>
            <a:off x="10261092" y="0"/>
            <a:ext cx="1930907" cy="1901952"/>
          </a:xfrm>
          <a:prstGeom prst="rect">
            <a:avLst/>
          </a:prstGeom>
        </p:spPr>
      </p:pic>
      <p:sp>
        <p:nvSpPr>
          <p:cNvPr id="6" name="Rectangle 1">
            <a:extLst>
              <a:ext uri="{FF2B5EF4-FFF2-40B4-BE49-F238E27FC236}">
                <a16:creationId xmlns:a16="http://schemas.microsoft.com/office/drawing/2014/main" id="{DD1528FF-08E2-036F-9DBD-CDF62B3F02D3}"/>
              </a:ext>
            </a:extLst>
          </p:cNvPr>
          <p:cNvSpPr>
            <a:spLocks noChangeArrowheads="1"/>
          </p:cNvSpPr>
          <p:nvPr/>
        </p:nvSpPr>
        <p:spPr bwMode="auto">
          <a:xfrm>
            <a:off x="1493838" y="2886681"/>
            <a:ext cx="184731" cy="55399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200" b="1" i="0" u="none" strike="noStrike" cap="none" normalizeH="0" baseline="0">
              <a:ln>
                <a:noFill/>
              </a:ln>
              <a:solidFill>
                <a:schemeClr val="tx1"/>
              </a:solidFill>
              <a:effectLst/>
              <a:latin typeface="+mj-lt"/>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a:ln>
                <a:noFill/>
              </a:ln>
              <a:solidFill>
                <a:schemeClr val="tx1"/>
              </a:solidFill>
              <a:effectLst/>
              <a:latin typeface="+mj-lt"/>
            </a:endParaRPr>
          </a:p>
        </p:txBody>
      </p:sp>
      <p:sp>
        <p:nvSpPr>
          <p:cNvPr id="7" name="Rectangle 1">
            <a:extLst>
              <a:ext uri="{FF2B5EF4-FFF2-40B4-BE49-F238E27FC236}">
                <a16:creationId xmlns:a16="http://schemas.microsoft.com/office/drawing/2014/main" id="{E537B1F0-B549-5643-4EE0-EAD372D71432}"/>
              </a:ext>
            </a:extLst>
          </p:cNvPr>
          <p:cNvSpPr>
            <a:spLocks noChangeArrowheads="1"/>
          </p:cNvSpPr>
          <p:nvPr/>
        </p:nvSpPr>
        <p:spPr bwMode="auto">
          <a:xfrm>
            <a:off x="593912" y="8357863"/>
            <a:ext cx="9595897" cy="131818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457200" marR="0" lvl="0" indent="-457200" algn="l"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2800" b="1" i="0" u="none" strike="noStrike" cap="none" normalizeH="0" baseline="0" dirty="0">
                <a:ln>
                  <a:noFill/>
                </a:ln>
                <a:solidFill>
                  <a:schemeClr val="tx1"/>
                </a:solidFill>
                <a:effectLst/>
                <a:latin typeface="+mj-lt"/>
              </a:rPr>
              <a:t>azure-ai-ml</a:t>
            </a:r>
            <a:r>
              <a:rPr kumimoji="0" lang="en-US" altLang="en-US" sz="2800" b="0" i="0" u="none" strike="noStrike" cap="none" normalizeH="0" baseline="0" dirty="0">
                <a:ln>
                  <a:noFill/>
                </a:ln>
                <a:solidFill>
                  <a:schemeClr val="tx1"/>
                </a:solidFill>
                <a:effectLst/>
                <a:latin typeface="+mj-lt"/>
              </a:rPr>
              <a:t> = tells Python </a:t>
            </a:r>
            <a:r>
              <a:rPr kumimoji="0" lang="en-US" altLang="en-US" sz="2800" b="0" i="1" u="none" strike="noStrike" cap="none" normalizeH="0" baseline="0" dirty="0">
                <a:ln>
                  <a:noFill/>
                </a:ln>
                <a:solidFill>
                  <a:schemeClr val="tx1"/>
                </a:solidFill>
                <a:effectLst/>
                <a:latin typeface="+mj-lt"/>
              </a:rPr>
              <a:t>what</a:t>
            </a:r>
            <a:r>
              <a:rPr kumimoji="0" lang="en-US" altLang="en-US" sz="2800" b="0" i="0" u="none" strike="noStrike" cap="none" normalizeH="0" baseline="0" dirty="0">
                <a:ln>
                  <a:noFill/>
                </a:ln>
                <a:solidFill>
                  <a:schemeClr val="tx1"/>
                </a:solidFill>
                <a:effectLst/>
                <a:latin typeface="+mj-lt"/>
              </a:rPr>
              <a:t> to do in Azure ML</a:t>
            </a:r>
          </a:p>
          <a:p>
            <a:pPr marL="457200" marR="0" lvl="0" indent="-457200" algn="l"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2800" b="1" i="0" u="none" strike="noStrike" cap="none" normalizeH="0" baseline="0" dirty="0">
                <a:ln>
                  <a:noFill/>
                </a:ln>
                <a:solidFill>
                  <a:schemeClr val="tx1"/>
                </a:solidFill>
                <a:effectLst/>
                <a:latin typeface="+mj-lt"/>
              </a:rPr>
              <a:t>azure-identity</a:t>
            </a:r>
            <a:r>
              <a:rPr kumimoji="0" lang="en-US" altLang="en-US" sz="2800" b="0" i="0" u="none" strike="noStrike" cap="none" normalizeH="0" baseline="0" dirty="0">
                <a:ln>
                  <a:noFill/>
                </a:ln>
                <a:solidFill>
                  <a:schemeClr val="tx1"/>
                </a:solidFill>
                <a:effectLst/>
                <a:latin typeface="+mj-lt"/>
              </a:rPr>
              <a:t> = tells Python </a:t>
            </a:r>
            <a:r>
              <a:rPr kumimoji="0" lang="en-US" altLang="en-US" sz="2800" b="0" i="1" u="none" strike="noStrike" cap="none" normalizeH="0" baseline="0" dirty="0">
                <a:ln>
                  <a:noFill/>
                </a:ln>
                <a:solidFill>
                  <a:schemeClr val="tx1"/>
                </a:solidFill>
                <a:effectLst/>
                <a:latin typeface="+mj-lt"/>
              </a:rPr>
              <a:t>who you are</a:t>
            </a:r>
            <a:r>
              <a:rPr kumimoji="0" lang="en-US" altLang="en-US" sz="2800" b="0" i="0" u="none" strike="noStrike" cap="none" normalizeH="0" baseline="0" dirty="0">
                <a:ln>
                  <a:noFill/>
                </a:ln>
                <a:solidFill>
                  <a:schemeClr val="tx1"/>
                </a:solidFill>
                <a:effectLst/>
                <a:latin typeface="+mj-lt"/>
              </a:rPr>
              <a:t> so Azure lets you in</a:t>
            </a:r>
          </a:p>
        </p:txBody>
      </p:sp>
      <p:pic>
        <p:nvPicPr>
          <p:cNvPr id="10" name="Picture 9">
            <a:extLst>
              <a:ext uri="{FF2B5EF4-FFF2-40B4-BE49-F238E27FC236}">
                <a16:creationId xmlns:a16="http://schemas.microsoft.com/office/drawing/2014/main" id="{86B33EAB-50A5-2796-0694-02A17E54C678}"/>
              </a:ext>
            </a:extLst>
          </p:cNvPr>
          <p:cNvPicPr>
            <a:picLocks noChangeAspect="1"/>
          </p:cNvPicPr>
          <p:nvPr/>
        </p:nvPicPr>
        <p:blipFill>
          <a:blip r:embed="rId3"/>
          <a:srcRect l="22500" t="37777" r="37500" b="22222"/>
          <a:stretch>
            <a:fillRect/>
          </a:stretch>
        </p:blipFill>
        <p:spPr>
          <a:xfrm>
            <a:off x="191210" y="1784470"/>
            <a:ext cx="11314989" cy="6364681"/>
          </a:xfrm>
          <a:prstGeom prst="rect">
            <a:avLst/>
          </a:prstGeom>
        </p:spPr>
      </p:pic>
    </p:spTree>
    <p:extLst>
      <p:ext uri="{BB962C8B-B14F-4D97-AF65-F5344CB8AC3E}">
        <p14:creationId xmlns:p14="http://schemas.microsoft.com/office/powerpoint/2010/main" val="266519777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D0CAF79A-F5CB-4232-343D-C6109378C33C}"/>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BEF83F95-19E6-7C6C-D396-FF2B4CDE2BB7}"/>
              </a:ext>
            </a:extLst>
          </p:cNvPr>
          <p:cNvSpPr txBox="1"/>
          <p:nvPr/>
        </p:nvSpPr>
        <p:spPr>
          <a:xfrm>
            <a:off x="191211" y="213486"/>
            <a:ext cx="10401300" cy="997709"/>
          </a:xfrm>
          <a:prstGeom prst="rect">
            <a:avLst/>
          </a:prstGeom>
        </p:spPr>
        <p:txBody>
          <a:bodyPr vert="horz" wrap="square" lIns="0" tIns="12700" rIns="0" bIns="0" rtlCol="0">
            <a:spAutoFit/>
          </a:bodyPr>
          <a:lstStyle/>
          <a:p>
            <a:r>
              <a:rPr lang="en-US" sz="3200" b="1" dirty="0"/>
              <a:t>Getting Started with Python Scripts in Azure Machine Learning</a:t>
            </a:r>
          </a:p>
        </p:txBody>
      </p:sp>
      <p:pic>
        <p:nvPicPr>
          <p:cNvPr id="3" name="object 3">
            <a:extLst>
              <a:ext uri="{FF2B5EF4-FFF2-40B4-BE49-F238E27FC236}">
                <a16:creationId xmlns:a16="http://schemas.microsoft.com/office/drawing/2014/main" id="{7775BF17-EA12-C9CE-997E-C6F19A247AE1}"/>
              </a:ext>
            </a:extLst>
          </p:cNvPr>
          <p:cNvPicPr/>
          <p:nvPr/>
        </p:nvPicPr>
        <p:blipFill>
          <a:blip r:embed="rId2" cstate="print"/>
          <a:stretch>
            <a:fillRect/>
          </a:stretch>
        </p:blipFill>
        <p:spPr>
          <a:xfrm>
            <a:off x="10261092" y="0"/>
            <a:ext cx="1930907" cy="1901952"/>
          </a:xfrm>
          <a:prstGeom prst="rect">
            <a:avLst/>
          </a:prstGeom>
        </p:spPr>
      </p:pic>
      <p:sp>
        <p:nvSpPr>
          <p:cNvPr id="6" name="Rectangle 1">
            <a:extLst>
              <a:ext uri="{FF2B5EF4-FFF2-40B4-BE49-F238E27FC236}">
                <a16:creationId xmlns:a16="http://schemas.microsoft.com/office/drawing/2014/main" id="{C1146972-6324-F104-1B99-B12D889AED79}"/>
              </a:ext>
            </a:extLst>
          </p:cNvPr>
          <p:cNvSpPr>
            <a:spLocks noChangeArrowheads="1"/>
          </p:cNvSpPr>
          <p:nvPr/>
        </p:nvSpPr>
        <p:spPr bwMode="auto">
          <a:xfrm>
            <a:off x="1493838" y="2886681"/>
            <a:ext cx="184731" cy="55399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200" b="1" i="0" u="none" strike="noStrike" cap="none" normalizeH="0" baseline="0">
              <a:ln>
                <a:noFill/>
              </a:ln>
              <a:solidFill>
                <a:schemeClr val="tx1"/>
              </a:solidFill>
              <a:effectLst/>
              <a:latin typeface="+mj-lt"/>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a:ln>
                <a:noFill/>
              </a:ln>
              <a:solidFill>
                <a:schemeClr val="tx1"/>
              </a:solidFill>
              <a:effectLst/>
              <a:latin typeface="+mj-lt"/>
            </a:endParaRPr>
          </a:p>
        </p:txBody>
      </p:sp>
      <p:sp>
        <p:nvSpPr>
          <p:cNvPr id="7" name="Rectangle 1">
            <a:extLst>
              <a:ext uri="{FF2B5EF4-FFF2-40B4-BE49-F238E27FC236}">
                <a16:creationId xmlns:a16="http://schemas.microsoft.com/office/drawing/2014/main" id="{A4BDDBEC-7910-4C90-053C-60C0BD9C75CB}"/>
              </a:ext>
            </a:extLst>
          </p:cNvPr>
          <p:cNvSpPr>
            <a:spLocks noChangeArrowheads="1"/>
          </p:cNvSpPr>
          <p:nvPr/>
        </p:nvSpPr>
        <p:spPr bwMode="auto">
          <a:xfrm>
            <a:off x="304800" y="1544363"/>
            <a:ext cx="5892960" cy="131818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457200" marR="0" lvl="0" indent="-457200" algn="l"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2800" b="1" i="0" u="none" strike="noStrike" cap="none" normalizeH="0" baseline="0" dirty="0">
                <a:ln>
                  <a:noFill/>
                </a:ln>
                <a:solidFill>
                  <a:schemeClr val="tx1"/>
                </a:solidFill>
                <a:effectLst/>
                <a:latin typeface="+mj-lt"/>
              </a:rPr>
              <a:t>In order to update your python:</a:t>
            </a:r>
          </a:p>
          <a:p>
            <a:pPr marL="457200" marR="0" lvl="0" indent="-457200" algn="l"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lang="en-US" altLang="en-US" sz="2800" b="1" dirty="0">
                <a:solidFill>
                  <a:schemeClr val="tx1"/>
                </a:solidFill>
                <a:highlight>
                  <a:srgbClr val="FFFF00"/>
                </a:highlight>
                <a:latin typeface="+mj-lt"/>
              </a:rPr>
              <a:t>Python –m pip install --upgrade pip</a:t>
            </a:r>
            <a:endParaRPr kumimoji="0" lang="en-US" altLang="en-US" sz="2800" b="0" i="0" u="none" strike="noStrike" cap="none" normalizeH="0" baseline="0" dirty="0">
              <a:ln>
                <a:noFill/>
              </a:ln>
              <a:solidFill>
                <a:schemeClr val="tx1"/>
              </a:solidFill>
              <a:effectLst/>
              <a:highlight>
                <a:srgbClr val="FFFF00"/>
              </a:highlight>
              <a:latin typeface="+mj-lt"/>
            </a:endParaRPr>
          </a:p>
        </p:txBody>
      </p:sp>
      <p:pic>
        <p:nvPicPr>
          <p:cNvPr id="8" name="Picture 7">
            <a:extLst>
              <a:ext uri="{FF2B5EF4-FFF2-40B4-BE49-F238E27FC236}">
                <a16:creationId xmlns:a16="http://schemas.microsoft.com/office/drawing/2014/main" id="{09A58D95-8B30-5374-B6FF-808322F5D2DA}"/>
              </a:ext>
            </a:extLst>
          </p:cNvPr>
          <p:cNvPicPr>
            <a:picLocks noChangeAspect="1"/>
          </p:cNvPicPr>
          <p:nvPr/>
        </p:nvPicPr>
        <p:blipFill>
          <a:blip r:embed="rId3"/>
          <a:srcRect l="9597" t="70000" r="60328" b="26210"/>
          <a:stretch>
            <a:fillRect/>
          </a:stretch>
        </p:blipFill>
        <p:spPr>
          <a:xfrm>
            <a:off x="94676" y="3195712"/>
            <a:ext cx="12002648" cy="850706"/>
          </a:xfrm>
          <a:prstGeom prst="rect">
            <a:avLst/>
          </a:prstGeom>
        </p:spPr>
      </p:pic>
    </p:spTree>
    <p:extLst>
      <p:ext uri="{BB962C8B-B14F-4D97-AF65-F5344CB8AC3E}">
        <p14:creationId xmlns:p14="http://schemas.microsoft.com/office/powerpoint/2010/main" val="382830117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826CE3A6-16BF-7668-471E-BB01BDFF4BD7}"/>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61778354-24B4-4EBA-92BB-BFC6668C83CD}"/>
              </a:ext>
            </a:extLst>
          </p:cNvPr>
          <p:cNvSpPr txBox="1"/>
          <p:nvPr/>
        </p:nvSpPr>
        <p:spPr>
          <a:xfrm>
            <a:off x="191211" y="213486"/>
            <a:ext cx="10401300" cy="997709"/>
          </a:xfrm>
          <a:prstGeom prst="rect">
            <a:avLst/>
          </a:prstGeom>
        </p:spPr>
        <p:txBody>
          <a:bodyPr vert="horz" wrap="square" lIns="0" tIns="12700" rIns="0" bIns="0" rtlCol="0">
            <a:spAutoFit/>
          </a:bodyPr>
          <a:lstStyle/>
          <a:p>
            <a:r>
              <a:rPr lang="en-US" sz="3200" b="1" dirty="0"/>
              <a:t>Getting Started with Python Scripts in Azure Machine Learning</a:t>
            </a:r>
          </a:p>
        </p:txBody>
      </p:sp>
      <p:pic>
        <p:nvPicPr>
          <p:cNvPr id="3" name="object 3">
            <a:extLst>
              <a:ext uri="{FF2B5EF4-FFF2-40B4-BE49-F238E27FC236}">
                <a16:creationId xmlns:a16="http://schemas.microsoft.com/office/drawing/2014/main" id="{DB28C335-FF1B-52C8-7646-80A036A159BF}"/>
              </a:ext>
            </a:extLst>
          </p:cNvPr>
          <p:cNvPicPr/>
          <p:nvPr/>
        </p:nvPicPr>
        <p:blipFill>
          <a:blip r:embed="rId2" cstate="print"/>
          <a:stretch>
            <a:fillRect/>
          </a:stretch>
        </p:blipFill>
        <p:spPr>
          <a:xfrm>
            <a:off x="10261092" y="0"/>
            <a:ext cx="1930907" cy="1901952"/>
          </a:xfrm>
          <a:prstGeom prst="rect">
            <a:avLst/>
          </a:prstGeom>
        </p:spPr>
      </p:pic>
      <p:sp>
        <p:nvSpPr>
          <p:cNvPr id="6" name="Rectangle 1">
            <a:extLst>
              <a:ext uri="{FF2B5EF4-FFF2-40B4-BE49-F238E27FC236}">
                <a16:creationId xmlns:a16="http://schemas.microsoft.com/office/drawing/2014/main" id="{8027CAC6-2CA2-AA2E-D42B-3C9D707F0A8D}"/>
              </a:ext>
            </a:extLst>
          </p:cNvPr>
          <p:cNvSpPr>
            <a:spLocks noChangeArrowheads="1"/>
          </p:cNvSpPr>
          <p:nvPr/>
        </p:nvSpPr>
        <p:spPr bwMode="auto">
          <a:xfrm>
            <a:off x="1493838" y="2886681"/>
            <a:ext cx="184731" cy="55399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200" b="1" i="0" u="none" strike="noStrike" cap="none" normalizeH="0" baseline="0">
              <a:ln>
                <a:noFill/>
              </a:ln>
              <a:solidFill>
                <a:schemeClr val="tx1"/>
              </a:solidFill>
              <a:effectLst/>
              <a:latin typeface="+mj-lt"/>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a:ln>
                <a:noFill/>
              </a:ln>
              <a:solidFill>
                <a:schemeClr val="tx1"/>
              </a:solidFill>
              <a:effectLst/>
              <a:latin typeface="+mj-lt"/>
            </a:endParaRPr>
          </a:p>
        </p:txBody>
      </p:sp>
      <p:pic>
        <p:nvPicPr>
          <p:cNvPr id="5" name="Picture 4">
            <a:extLst>
              <a:ext uri="{FF2B5EF4-FFF2-40B4-BE49-F238E27FC236}">
                <a16:creationId xmlns:a16="http://schemas.microsoft.com/office/drawing/2014/main" id="{2CF43E2E-BCF9-07E8-96B3-6ED83C8C853F}"/>
              </a:ext>
            </a:extLst>
          </p:cNvPr>
          <p:cNvPicPr>
            <a:picLocks noChangeAspect="1"/>
          </p:cNvPicPr>
          <p:nvPr/>
        </p:nvPicPr>
        <p:blipFill>
          <a:blip r:embed="rId3"/>
          <a:srcRect r="27500" b="55556"/>
          <a:stretch>
            <a:fillRect/>
          </a:stretch>
        </p:blipFill>
        <p:spPr>
          <a:xfrm>
            <a:off x="-1" y="2025360"/>
            <a:ext cx="12192000" cy="4204138"/>
          </a:xfrm>
          <a:prstGeom prst="rect">
            <a:avLst/>
          </a:prstGeom>
        </p:spPr>
      </p:pic>
      <p:sp>
        <p:nvSpPr>
          <p:cNvPr id="10" name="TextBox 9">
            <a:extLst>
              <a:ext uri="{FF2B5EF4-FFF2-40B4-BE49-F238E27FC236}">
                <a16:creationId xmlns:a16="http://schemas.microsoft.com/office/drawing/2014/main" id="{7AC104EB-B993-481E-5B01-E85400314754}"/>
              </a:ext>
            </a:extLst>
          </p:cNvPr>
          <p:cNvSpPr txBox="1"/>
          <p:nvPr/>
        </p:nvSpPr>
        <p:spPr>
          <a:xfrm>
            <a:off x="0" y="1502140"/>
            <a:ext cx="10401300" cy="523220"/>
          </a:xfrm>
          <a:prstGeom prst="rect">
            <a:avLst/>
          </a:prstGeom>
          <a:noFill/>
        </p:spPr>
        <p:txBody>
          <a:bodyPr wrap="square">
            <a:spAutoFit/>
          </a:bodyPr>
          <a:lstStyle/>
          <a:p>
            <a:r>
              <a:rPr lang="en-US" sz="2800" dirty="0">
                <a:latin typeface="+mj-lt"/>
              </a:rPr>
              <a:t>Check if Azure ML v2 SDK is installed and working</a:t>
            </a:r>
            <a:endParaRPr lang="en-AU" sz="2800" dirty="0">
              <a:latin typeface="+mj-lt"/>
            </a:endParaRPr>
          </a:p>
        </p:txBody>
      </p:sp>
      <p:sp>
        <p:nvSpPr>
          <p:cNvPr id="12" name="TextBox 11">
            <a:extLst>
              <a:ext uri="{FF2B5EF4-FFF2-40B4-BE49-F238E27FC236}">
                <a16:creationId xmlns:a16="http://schemas.microsoft.com/office/drawing/2014/main" id="{F7DDE31C-5834-01E1-CFD3-744177B4625A}"/>
              </a:ext>
            </a:extLst>
          </p:cNvPr>
          <p:cNvSpPr txBox="1"/>
          <p:nvPr/>
        </p:nvSpPr>
        <p:spPr>
          <a:xfrm>
            <a:off x="-1" y="6257804"/>
            <a:ext cx="12192000" cy="1964512"/>
          </a:xfrm>
          <a:prstGeom prst="rect">
            <a:avLst/>
          </a:prstGeom>
          <a:noFill/>
        </p:spPr>
        <p:txBody>
          <a:bodyPr wrap="square">
            <a:spAutoFit/>
          </a:bodyPr>
          <a:lstStyle/>
          <a:p>
            <a:pPr marL="457200" indent="-457200">
              <a:lnSpc>
                <a:spcPct val="150000"/>
              </a:lnSpc>
              <a:buFont typeface="Arial" panose="020B0604020202020204" pitchFamily="34" charset="0"/>
              <a:buChar char="•"/>
            </a:pPr>
            <a:r>
              <a:rPr lang="en-US" sz="2800" dirty="0">
                <a:latin typeface="+mj-lt"/>
              </a:rPr>
              <a:t>The first part checks the installed </a:t>
            </a:r>
            <a:r>
              <a:rPr lang="en-US" sz="2800" b="1" dirty="0">
                <a:latin typeface="+mj-lt"/>
              </a:rPr>
              <a:t>version</a:t>
            </a:r>
            <a:r>
              <a:rPr lang="en-US" sz="2800" dirty="0">
                <a:latin typeface="+mj-lt"/>
              </a:rPr>
              <a:t> of the Azure ML v2 SDK and prints it.</a:t>
            </a:r>
          </a:p>
          <a:p>
            <a:pPr marL="457200" indent="-457200">
              <a:lnSpc>
                <a:spcPct val="150000"/>
              </a:lnSpc>
              <a:buFont typeface="Arial" panose="020B0604020202020204" pitchFamily="34" charset="0"/>
              <a:buChar char="•"/>
            </a:pPr>
            <a:r>
              <a:rPr lang="en-US" sz="2800" dirty="0">
                <a:latin typeface="+mj-lt"/>
              </a:rPr>
              <a:t>The second part simply prints a </a:t>
            </a:r>
            <a:r>
              <a:rPr lang="en-US" sz="2800" b="1" dirty="0">
                <a:latin typeface="+mj-lt"/>
              </a:rPr>
              <a:t>welcome message</a:t>
            </a:r>
            <a:r>
              <a:rPr lang="en-US" sz="2800" dirty="0">
                <a:latin typeface="+mj-lt"/>
              </a:rPr>
              <a:t> so you know the Python file is running successfully.</a:t>
            </a:r>
          </a:p>
        </p:txBody>
      </p:sp>
    </p:spTree>
    <p:extLst>
      <p:ext uri="{BB962C8B-B14F-4D97-AF65-F5344CB8AC3E}">
        <p14:creationId xmlns:p14="http://schemas.microsoft.com/office/powerpoint/2010/main" val="266050554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D4DFBD98-6613-48A8-E67A-0632302740FF}"/>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E2D64F0D-CD56-7626-9033-185E414D4326}"/>
              </a:ext>
            </a:extLst>
          </p:cNvPr>
          <p:cNvSpPr txBox="1"/>
          <p:nvPr/>
        </p:nvSpPr>
        <p:spPr>
          <a:xfrm>
            <a:off x="191211" y="213486"/>
            <a:ext cx="10401300" cy="997709"/>
          </a:xfrm>
          <a:prstGeom prst="rect">
            <a:avLst/>
          </a:prstGeom>
        </p:spPr>
        <p:txBody>
          <a:bodyPr vert="horz" wrap="square" lIns="0" tIns="12700" rIns="0" bIns="0" rtlCol="0">
            <a:spAutoFit/>
          </a:bodyPr>
          <a:lstStyle/>
          <a:p>
            <a:r>
              <a:rPr lang="en-US" sz="3200" b="1" dirty="0"/>
              <a:t>Getting Started with Python Scripts in Azure Machine Learning</a:t>
            </a:r>
          </a:p>
        </p:txBody>
      </p:sp>
      <p:pic>
        <p:nvPicPr>
          <p:cNvPr id="3" name="object 3">
            <a:extLst>
              <a:ext uri="{FF2B5EF4-FFF2-40B4-BE49-F238E27FC236}">
                <a16:creationId xmlns:a16="http://schemas.microsoft.com/office/drawing/2014/main" id="{874F2F46-CF39-28D2-2B94-247CAE2D3F60}"/>
              </a:ext>
            </a:extLst>
          </p:cNvPr>
          <p:cNvPicPr/>
          <p:nvPr/>
        </p:nvPicPr>
        <p:blipFill>
          <a:blip r:embed="rId2" cstate="print"/>
          <a:stretch>
            <a:fillRect/>
          </a:stretch>
        </p:blipFill>
        <p:spPr>
          <a:xfrm>
            <a:off x="10261092" y="0"/>
            <a:ext cx="1930907" cy="1901952"/>
          </a:xfrm>
          <a:prstGeom prst="rect">
            <a:avLst/>
          </a:prstGeom>
        </p:spPr>
      </p:pic>
      <p:sp>
        <p:nvSpPr>
          <p:cNvPr id="6" name="Rectangle 1">
            <a:extLst>
              <a:ext uri="{FF2B5EF4-FFF2-40B4-BE49-F238E27FC236}">
                <a16:creationId xmlns:a16="http://schemas.microsoft.com/office/drawing/2014/main" id="{2696A50A-58EC-9CE4-1388-22C9549CDC17}"/>
              </a:ext>
            </a:extLst>
          </p:cNvPr>
          <p:cNvSpPr>
            <a:spLocks noChangeArrowheads="1"/>
          </p:cNvSpPr>
          <p:nvPr/>
        </p:nvSpPr>
        <p:spPr bwMode="auto">
          <a:xfrm>
            <a:off x="1493838" y="2886681"/>
            <a:ext cx="184731" cy="55399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200" b="1" i="0" u="none" strike="noStrike" cap="none" normalizeH="0" baseline="0">
              <a:ln>
                <a:noFill/>
              </a:ln>
              <a:solidFill>
                <a:schemeClr val="tx1"/>
              </a:solidFill>
              <a:effectLst/>
              <a:latin typeface="+mj-lt"/>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a:ln>
                <a:noFill/>
              </a:ln>
              <a:solidFill>
                <a:schemeClr val="tx1"/>
              </a:solidFill>
              <a:effectLst/>
              <a:latin typeface="+mj-lt"/>
            </a:endParaRPr>
          </a:p>
        </p:txBody>
      </p:sp>
      <p:pic>
        <p:nvPicPr>
          <p:cNvPr id="5" name="Picture 4">
            <a:extLst>
              <a:ext uri="{FF2B5EF4-FFF2-40B4-BE49-F238E27FC236}">
                <a16:creationId xmlns:a16="http://schemas.microsoft.com/office/drawing/2014/main" id="{E9AC6189-6309-FA7E-AE89-9D5B7D448D5E}"/>
              </a:ext>
            </a:extLst>
          </p:cNvPr>
          <p:cNvPicPr>
            <a:picLocks noChangeAspect="1"/>
          </p:cNvPicPr>
          <p:nvPr/>
        </p:nvPicPr>
        <p:blipFill>
          <a:blip r:embed="rId3"/>
          <a:srcRect r="27500" b="55556"/>
          <a:stretch>
            <a:fillRect/>
          </a:stretch>
        </p:blipFill>
        <p:spPr>
          <a:xfrm>
            <a:off x="-1" y="2025360"/>
            <a:ext cx="12192000" cy="4204138"/>
          </a:xfrm>
          <a:prstGeom prst="rect">
            <a:avLst/>
          </a:prstGeom>
        </p:spPr>
      </p:pic>
      <p:sp>
        <p:nvSpPr>
          <p:cNvPr id="10" name="TextBox 9">
            <a:extLst>
              <a:ext uri="{FF2B5EF4-FFF2-40B4-BE49-F238E27FC236}">
                <a16:creationId xmlns:a16="http://schemas.microsoft.com/office/drawing/2014/main" id="{7BBF19E5-46E6-12CA-B081-62EA9E638155}"/>
              </a:ext>
            </a:extLst>
          </p:cNvPr>
          <p:cNvSpPr txBox="1"/>
          <p:nvPr/>
        </p:nvSpPr>
        <p:spPr>
          <a:xfrm>
            <a:off x="0" y="1502140"/>
            <a:ext cx="10401300" cy="523220"/>
          </a:xfrm>
          <a:prstGeom prst="rect">
            <a:avLst/>
          </a:prstGeom>
          <a:noFill/>
        </p:spPr>
        <p:txBody>
          <a:bodyPr wrap="square">
            <a:spAutoFit/>
          </a:bodyPr>
          <a:lstStyle/>
          <a:p>
            <a:r>
              <a:rPr lang="en-US" sz="2800" dirty="0">
                <a:latin typeface="+mj-lt"/>
              </a:rPr>
              <a:t>Check if Azure ML v2 SDK is installed and working</a:t>
            </a:r>
            <a:endParaRPr lang="en-AU" sz="2800" dirty="0">
              <a:latin typeface="+mj-lt"/>
            </a:endParaRPr>
          </a:p>
        </p:txBody>
      </p:sp>
      <p:sp>
        <p:nvSpPr>
          <p:cNvPr id="12" name="TextBox 11">
            <a:extLst>
              <a:ext uri="{FF2B5EF4-FFF2-40B4-BE49-F238E27FC236}">
                <a16:creationId xmlns:a16="http://schemas.microsoft.com/office/drawing/2014/main" id="{596BC616-04B0-205D-A74A-04C0A110B4DB}"/>
              </a:ext>
            </a:extLst>
          </p:cNvPr>
          <p:cNvSpPr txBox="1"/>
          <p:nvPr/>
        </p:nvSpPr>
        <p:spPr>
          <a:xfrm>
            <a:off x="-1" y="6257804"/>
            <a:ext cx="12192000" cy="1964512"/>
          </a:xfrm>
          <a:prstGeom prst="rect">
            <a:avLst/>
          </a:prstGeom>
          <a:noFill/>
        </p:spPr>
        <p:txBody>
          <a:bodyPr wrap="square">
            <a:spAutoFit/>
          </a:bodyPr>
          <a:lstStyle/>
          <a:p>
            <a:pPr>
              <a:lnSpc>
                <a:spcPct val="150000"/>
              </a:lnSpc>
            </a:pPr>
            <a:r>
              <a:rPr lang="en-US" sz="2800" dirty="0">
                <a:latin typeface="+mj-lt"/>
              </a:rPr>
              <a:t>It confirms both:</a:t>
            </a:r>
          </a:p>
          <a:p>
            <a:pPr marL="715963" indent="-457200">
              <a:lnSpc>
                <a:spcPct val="150000"/>
              </a:lnSpc>
              <a:buFont typeface="Arial" panose="020B0604020202020204" pitchFamily="34" charset="0"/>
              <a:buChar char="•"/>
            </a:pPr>
            <a:r>
              <a:rPr lang="en-US" sz="2800" dirty="0">
                <a:latin typeface="+mj-lt"/>
              </a:rPr>
              <a:t>The SDK is installed.</a:t>
            </a:r>
          </a:p>
          <a:p>
            <a:pPr marL="715963" indent="-457200">
              <a:lnSpc>
                <a:spcPct val="150000"/>
              </a:lnSpc>
              <a:buFont typeface="Arial" panose="020B0604020202020204" pitchFamily="34" charset="0"/>
              <a:buChar char="•"/>
            </a:pPr>
            <a:r>
              <a:rPr lang="en-US" sz="2800" dirty="0">
                <a:latin typeface="+mj-lt"/>
              </a:rPr>
              <a:t>Python can execute code with no errors.</a:t>
            </a:r>
          </a:p>
        </p:txBody>
      </p:sp>
    </p:spTree>
    <p:extLst>
      <p:ext uri="{BB962C8B-B14F-4D97-AF65-F5344CB8AC3E}">
        <p14:creationId xmlns:p14="http://schemas.microsoft.com/office/powerpoint/2010/main" val="45142554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B95D8E4A-981B-6B25-4BD7-EC11A5354598}"/>
            </a:ext>
          </a:extLst>
        </p:cNvPr>
        <p:cNvGrpSpPr/>
        <p:nvPr/>
      </p:nvGrpSpPr>
      <p:grpSpPr>
        <a:xfrm>
          <a:off x="0" y="0"/>
          <a:ext cx="0" cy="0"/>
          <a:chOff x="0" y="0"/>
          <a:chExt cx="0" cy="0"/>
        </a:xfrm>
      </p:grpSpPr>
      <p:pic>
        <p:nvPicPr>
          <p:cNvPr id="3" name="object 3">
            <a:extLst>
              <a:ext uri="{FF2B5EF4-FFF2-40B4-BE49-F238E27FC236}">
                <a16:creationId xmlns:a16="http://schemas.microsoft.com/office/drawing/2014/main" id="{35E89CBA-0600-4AAB-1FB0-4C4D448D9CCE}"/>
              </a:ext>
            </a:extLst>
          </p:cNvPr>
          <p:cNvPicPr/>
          <p:nvPr/>
        </p:nvPicPr>
        <p:blipFill>
          <a:blip r:embed="rId2" cstate="print"/>
          <a:stretch>
            <a:fillRect/>
          </a:stretch>
        </p:blipFill>
        <p:spPr>
          <a:xfrm>
            <a:off x="10261092" y="0"/>
            <a:ext cx="1930907" cy="1901952"/>
          </a:xfrm>
          <a:prstGeom prst="rect">
            <a:avLst/>
          </a:prstGeom>
        </p:spPr>
      </p:pic>
      <p:sp>
        <p:nvSpPr>
          <p:cNvPr id="6" name="Rectangle 1">
            <a:extLst>
              <a:ext uri="{FF2B5EF4-FFF2-40B4-BE49-F238E27FC236}">
                <a16:creationId xmlns:a16="http://schemas.microsoft.com/office/drawing/2014/main" id="{247FB2F3-5E4F-EA85-3465-83E1C869A08A}"/>
              </a:ext>
            </a:extLst>
          </p:cNvPr>
          <p:cNvSpPr>
            <a:spLocks noChangeArrowheads="1"/>
          </p:cNvSpPr>
          <p:nvPr/>
        </p:nvSpPr>
        <p:spPr bwMode="auto">
          <a:xfrm>
            <a:off x="1493838" y="2886681"/>
            <a:ext cx="184731" cy="55399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200" b="1" i="0" u="none" strike="noStrike" cap="none" normalizeH="0" baseline="0">
              <a:ln>
                <a:noFill/>
              </a:ln>
              <a:solidFill>
                <a:schemeClr val="tx1"/>
              </a:solidFill>
              <a:effectLst/>
              <a:latin typeface="+mj-lt"/>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a:ln>
                <a:noFill/>
              </a:ln>
              <a:solidFill>
                <a:schemeClr val="tx1"/>
              </a:solidFill>
              <a:effectLst/>
              <a:latin typeface="+mj-lt"/>
            </a:endParaRPr>
          </a:p>
        </p:txBody>
      </p:sp>
      <p:sp>
        <p:nvSpPr>
          <p:cNvPr id="9" name="TextBox 8">
            <a:extLst>
              <a:ext uri="{FF2B5EF4-FFF2-40B4-BE49-F238E27FC236}">
                <a16:creationId xmlns:a16="http://schemas.microsoft.com/office/drawing/2014/main" id="{B32A0E4E-9EAF-B9F3-9258-07B6B60F9006}"/>
              </a:ext>
            </a:extLst>
          </p:cNvPr>
          <p:cNvSpPr txBox="1"/>
          <p:nvPr/>
        </p:nvSpPr>
        <p:spPr>
          <a:xfrm>
            <a:off x="228600" y="181719"/>
            <a:ext cx="6122018" cy="523220"/>
          </a:xfrm>
          <a:prstGeom prst="rect">
            <a:avLst/>
          </a:prstGeom>
          <a:noFill/>
        </p:spPr>
        <p:txBody>
          <a:bodyPr wrap="square">
            <a:spAutoFit/>
          </a:bodyPr>
          <a:lstStyle/>
          <a:p>
            <a:r>
              <a:rPr lang="en-US" sz="2800" dirty="0" err="1">
                <a:latin typeface="+mj-lt"/>
              </a:rPr>
              <a:t>connect_workspace_safe</a:t>
            </a:r>
            <a:r>
              <a:rPr lang="en-US" sz="2800" dirty="0">
                <a:latin typeface="+mj-lt"/>
              </a:rPr>
              <a:t> python code</a:t>
            </a:r>
            <a:endParaRPr lang="en-AU" sz="2800" dirty="0">
              <a:latin typeface="+mj-lt"/>
            </a:endParaRPr>
          </a:p>
        </p:txBody>
      </p:sp>
      <p:pic>
        <p:nvPicPr>
          <p:cNvPr id="13" name="Picture 12">
            <a:extLst>
              <a:ext uri="{FF2B5EF4-FFF2-40B4-BE49-F238E27FC236}">
                <a16:creationId xmlns:a16="http://schemas.microsoft.com/office/drawing/2014/main" id="{3A8BDAC3-2745-FB7F-86FB-349779EFF659}"/>
              </a:ext>
            </a:extLst>
          </p:cNvPr>
          <p:cNvPicPr>
            <a:picLocks noChangeAspect="1"/>
          </p:cNvPicPr>
          <p:nvPr/>
        </p:nvPicPr>
        <p:blipFill>
          <a:blip r:embed="rId3"/>
          <a:srcRect l="19939" t="9665" r="21250" b="15556"/>
          <a:stretch>
            <a:fillRect/>
          </a:stretch>
        </p:blipFill>
        <p:spPr>
          <a:xfrm>
            <a:off x="228599" y="1219199"/>
            <a:ext cx="11963399" cy="8556715"/>
          </a:xfrm>
          <a:prstGeom prst="rect">
            <a:avLst/>
          </a:prstGeom>
        </p:spPr>
      </p:pic>
      <p:sp>
        <p:nvSpPr>
          <p:cNvPr id="15" name="TextBox 14">
            <a:extLst>
              <a:ext uri="{FF2B5EF4-FFF2-40B4-BE49-F238E27FC236}">
                <a16:creationId xmlns:a16="http://schemas.microsoft.com/office/drawing/2014/main" id="{31B396B7-A04D-0E1E-359F-9F27961FC95D}"/>
              </a:ext>
            </a:extLst>
          </p:cNvPr>
          <p:cNvSpPr txBox="1"/>
          <p:nvPr/>
        </p:nvSpPr>
        <p:spPr>
          <a:xfrm>
            <a:off x="5181600" y="2684542"/>
            <a:ext cx="7094218" cy="2071208"/>
          </a:xfrm>
          <a:prstGeom prst="rect">
            <a:avLst/>
          </a:prstGeom>
          <a:solidFill>
            <a:schemeClr val="bg1"/>
          </a:solidFill>
        </p:spPr>
        <p:txBody>
          <a:bodyPr wrap="square">
            <a:spAutoFit/>
          </a:bodyPr>
          <a:lstStyle/>
          <a:p>
            <a:pPr>
              <a:lnSpc>
                <a:spcPct val="150000"/>
              </a:lnSpc>
              <a:buNone/>
            </a:pPr>
            <a:r>
              <a:rPr lang="en-US" sz="2200" dirty="0">
                <a:latin typeface="+mj-lt"/>
              </a:rPr>
              <a:t>This code:</a:t>
            </a:r>
          </a:p>
          <a:p>
            <a:pPr marL="457200" indent="-457200">
              <a:lnSpc>
                <a:spcPct val="150000"/>
              </a:lnSpc>
              <a:buFont typeface="+mj-lt"/>
              <a:buAutoNum type="arabicPeriod"/>
            </a:pPr>
            <a:r>
              <a:rPr lang="en-US" sz="2200" b="1" dirty="0">
                <a:latin typeface="+mj-lt"/>
              </a:rPr>
              <a:t>Tries to connect</a:t>
            </a:r>
            <a:r>
              <a:rPr lang="en-US" sz="2200" dirty="0">
                <a:latin typeface="+mj-lt"/>
              </a:rPr>
              <a:t> to an Azure Machine Learning workspace using your subscription, resource group, and workspace name.</a:t>
            </a:r>
          </a:p>
        </p:txBody>
      </p:sp>
    </p:spTree>
    <p:extLst>
      <p:ext uri="{BB962C8B-B14F-4D97-AF65-F5344CB8AC3E}">
        <p14:creationId xmlns:p14="http://schemas.microsoft.com/office/powerpoint/2010/main" val="19555346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C76F85F3-6F89-E72D-2BAC-C30855743DF7}"/>
            </a:ext>
          </a:extLst>
        </p:cNvPr>
        <p:cNvGrpSpPr/>
        <p:nvPr/>
      </p:nvGrpSpPr>
      <p:grpSpPr>
        <a:xfrm>
          <a:off x="0" y="0"/>
          <a:ext cx="0" cy="0"/>
          <a:chOff x="0" y="0"/>
          <a:chExt cx="0" cy="0"/>
        </a:xfrm>
      </p:grpSpPr>
      <p:pic>
        <p:nvPicPr>
          <p:cNvPr id="3" name="object 3">
            <a:extLst>
              <a:ext uri="{FF2B5EF4-FFF2-40B4-BE49-F238E27FC236}">
                <a16:creationId xmlns:a16="http://schemas.microsoft.com/office/drawing/2014/main" id="{653F6E64-BD1A-53DB-EE09-C80A073C3B5F}"/>
              </a:ext>
            </a:extLst>
          </p:cNvPr>
          <p:cNvPicPr/>
          <p:nvPr/>
        </p:nvPicPr>
        <p:blipFill>
          <a:blip r:embed="rId2" cstate="print"/>
          <a:stretch>
            <a:fillRect/>
          </a:stretch>
        </p:blipFill>
        <p:spPr>
          <a:xfrm>
            <a:off x="10261092" y="0"/>
            <a:ext cx="1930907" cy="1901952"/>
          </a:xfrm>
          <a:prstGeom prst="rect">
            <a:avLst/>
          </a:prstGeom>
        </p:spPr>
      </p:pic>
      <p:sp>
        <p:nvSpPr>
          <p:cNvPr id="6" name="Rectangle 1">
            <a:extLst>
              <a:ext uri="{FF2B5EF4-FFF2-40B4-BE49-F238E27FC236}">
                <a16:creationId xmlns:a16="http://schemas.microsoft.com/office/drawing/2014/main" id="{02FC78ED-5DDA-1838-2AC3-F0EEB02923F7}"/>
              </a:ext>
            </a:extLst>
          </p:cNvPr>
          <p:cNvSpPr>
            <a:spLocks noChangeArrowheads="1"/>
          </p:cNvSpPr>
          <p:nvPr/>
        </p:nvSpPr>
        <p:spPr bwMode="auto">
          <a:xfrm>
            <a:off x="1493838" y="2886681"/>
            <a:ext cx="184731" cy="55399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200" b="1" i="0" u="none" strike="noStrike" cap="none" normalizeH="0" baseline="0">
              <a:ln>
                <a:noFill/>
              </a:ln>
              <a:solidFill>
                <a:schemeClr val="tx1"/>
              </a:solidFill>
              <a:effectLst/>
              <a:latin typeface="+mj-lt"/>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a:ln>
                <a:noFill/>
              </a:ln>
              <a:solidFill>
                <a:schemeClr val="tx1"/>
              </a:solidFill>
              <a:effectLst/>
              <a:latin typeface="+mj-lt"/>
            </a:endParaRPr>
          </a:p>
        </p:txBody>
      </p:sp>
      <p:sp>
        <p:nvSpPr>
          <p:cNvPr id="9" name="TextBox 8">
            <a:extLst>
              <a:ext uri="{FF2B5EF4-FFF2-40B4-BE49-F238E27FC236}">
                <a16:creationId xmlns:a16="http://schemas.microsoft.com/office/drawing/2014/main" id="{5BC8D74E-E2C0-C345-443F-79870ECCF9E0}"/>
              </a:ext>
            </a:extLst>
          </p:cNvPr>
          <p:cNvSpPr txBox="1"/>
          <p:nvPr/>
        </p:nvSpPr>
        <p:spPr>
          <a:xfrm>
            <a:off x="228600" y="181719"/>
            <a:ext cx="6122018" cy="523220"/>
          </a:xfrm>
          <a:prstGeom prst="rect">
            <a:avLst/>
          </a:prstGeom>
          <a:noFill/>
        </p:spPr>
        <p:txBody>
          <a:bodyPr wrap="square">
            <a:spAutoFit/>
          </a:bodyPr>
          <a:lstStyle/>
          <a:p>
            <a:r>
              <a:rPr lang="en-US" sz="2800" dirty="0" err="1">
                <a:latin typeface="+mj-lt"/>
              </a:rPr>
              <a:t>connect_workspace_safe</a:t>
            </a:r>
            <a:r>
              <a:rPr lang="en-US" sz="2800" dirty="0">
                <a:latin typeface="+mj-lt"/>
              </a:rPr>
              <a:t> python code</a:t>
            </a:r>
            <a:endParaRPr lang="en-AU" sz="2800" dirty="0">
              <a:latin typeface="+mj-lt"/>
            </a:endParaRPr>
          </a:p>
        </p:txBody>
      </p:sp>
      <p:pic>
        <p:nvPicPr>
          <p:cNvPr id="13" name="Picture 12">
            <a:extLst>
              <a:ext uri="{FF2B5EF4-FFF2-40B4-BE49-F238E27FC236}">
                <a16:creationId xmlns:a16="http://schemas.microsoft.com/office/drawing/2014/main" id="{62D164CE-F4A3-EF84-7A9C-864AF315F80A}"/>
              </a:ext>
            </a:extLst>
          </p:cNvPr>
          <p:cNvPicPr>
            <a:picLocks noChangeAspect="1"/>
          </p:cNvPicPr>
          <p:nvPr/>
        </p:nvPicPr>
        <p:blipFill>
          <a:blip r:embed="rId3"/>
          <a:srcRect l="19939" t="9665" r="21250" b="15556"/>
          <a:stretch>
            <a:fillRect/>
          </a:stretch>
        </p:blipFill>
        <p:spPr>
          <a:xfrm>
            <a:off x="228599" y="1219199"/>
            <a:ext cx="11963399" cy="8556715"/>
          </a:xfrm>
          <a:prstGeom prst="rect">
            <a:avLst/>
          </a:prstGeom>
        </p:spPr>
      </p:pic>
      <p:sp>
        <p:nvSpPr>
          <p:cNvPr id="15" name="TextBox 14">
            <a:extLst>
              <a:ext uri="{FF2B5EF4-FFF2-40B4-BE49-F238E27FC236}">
                <a16:creationId xmlns:a16="http://schemas.microsoft.com/office/drawing/2014/main" id="{9E4DCA26-D3F5-B3A6-CE0F-AF535AE62C4D}"/>
              </a:ext>
            </a:extLst>
          </p:cNvPr>
          <p:cNvSpPr txBox="1"/>
          <p:nvPr/>
        </p:nvSpPr>
        <p:spPr>
          <a:xfrm>
            <a:off x="5257800" y="2684542"/>
            <a:ext cx="7018018" cy="1045223"/>
          </a:xfrm>
          <a:prstGeom prst="rect">
            <a:avLst/>
          </a:prstGeom>
          <a:solidFill>
            <a:schemeClr val="bg1"/>
          </a:solidFill>
        </p:spPr>
        <p:txBody>
          <a:bodyPr wrap="square">
            <a:spAutoFit/>
          </a:bodyPr>
          <a:lstStyle/>
          <a:p>
            <a:pPr marL="457200" indent="-457200">
              <a:lnSpc>
                <a:spcPct val="150000"/>
              </a:lnSpc>
              <a:buFont typeface="+mj-lt"/>
              <a:buAutoNum type="arabicPeriod" startAt="2"/>
            </a:pPr>
            <a:r>
              <a:rPr lang="en-US" sz="2200" b="1" dirty="0"/>
              <a:t>If connection works:</a:t>
            </a:r>
            <a:r>
              <a:rPr lang="en-US" sz="2200" dirty="0"/>
              <a:t> it prints the workspace name and lists available compute resources.</a:t>
            </a:r>
          </a:p>
        </p:txBody>
      </p:sp>
    </p:spTree>
    <p:extLst>
      <p:ext uri="{BB962C8B-B14F-4D97-AF65-F5344CB8AC3E}">
        <p14:creationId xmlns:p14="http://schemas.microsoft.com/office/powerpoint/2010/main" val="48299693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A10DCD74-D996-F5C7-8753-4640352D33D9}"/>
            </a:ext>
          </a:extLst>
        </p:cNvPr>
        <p:cNvGrpSpPr/>
        <p:nvPr/>
      </p:nvGrpSpPr>
      <p:grpSpPr>
        <a:xfrm>
          <a:off x="0" y="0"/>
          <a:ext cx="0" cy="0"/>
          <a:chOff x="0" y="0"/>
          <a:chExt cx="0" cy="0"/>
        </a:xfrm>
      </p:grpSpPr>
      <p:pic>
        <p:nvPicPr>
          <p:cNvPr id="3" name="object 3">
            <a:extLst>
              <a:ext uri="{FF2B5EF4-FFF2-40B4-BE49-F238E27FC236}">
                <a16:creationId xmlns:a16="http://schemas.microsoft.com/office/drawing/2014/main" id="{EF0ACA6D-0041-A4E7-CEEE-A39F37D3D491}"/>
              </a:ext>
            </a:extLst>
          </p:cNvPr>
          <p:cNvPicPr/>
          <p:nvPr/>
        </p:nvPicPr>
        <p:blipFill>
          <a:blip r:embed="rId2" cstate="print"/>
          <a:stretch>
            <a:fillRect/>
          </a:stretch>
        </p:blipFill>
        <p:spPr>
          <a:xfrm>
            <a:off x="10261092" y="0"/>
            <a:ext cx="1930907" cy="1901952"/>
          </a:xfrm>
          <a:prstGeom prst="rect">
            <a:avLst/>
          </a:prstGeom>
        </p:spPr>
      </p:pic>
      <p:sp>
        <p:nvSpPr>
          <p:cNvPr id="6" name="Rectangle 1">
            <a:extLst>
              <a:ext uri="{FF2B5EF4-FFF2-40B4-BE49-F238E27FC236}">
                <a16:creationId xmlns:a16="http://schemas.microsoft.com/office/drawing/2014/main" id="{E954E7EB-222F-F242-E10E-762F47005DFF}"/>
              </a:ext>
            </a:extLst>
          </p:cNvPr>
          <p:cNvSpPr>
            <a:spLocks noChangeArrowheads="1"/>
          </p:cNvSpPr>
          <p:nvPr/>
        </p:nvSpPr>
        <p:spPr bwMode="auto">
          <a:xfrm>
            <a:off x="1493838" y="2886681"/>
            <a:ext cx="184731" cy="55399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200" b="1" i="0" u="none" strike="noStrike" cap="none" normalizeH="0" baseline="0">
              <a:ln>
                <a:noFill/>
              </a:ln>
              <a:solidFill>
                <a:schemeClr val="tx1"/>
              </a:solidFill>
              <a:effectLst/>
              <a:latin typeface="+mj-lt"/>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a:ln>
                <a:noFill/>
              </a:ln>
              <a:solidFill>
                <a:schemeClr val="tx1"/>
              </a:solidFill>
              <a:effectLst/>
              <a:latin typeface="+mj-lt"/>
            </a:endParaRPr>
          </a:p>
        </p:txBody>
      </p:sp>
      <p:sp>
        <p:nvSpPr>
          <p:cNvPr id="9" name="TextBox 8">
            <a:extLst>
              <a:ext uri="{FF2B5EF4-FFF2-40B4-BE49-F238E27FC236}">
                <a16:creationId xmlns:a16="http://schemas.microsoft.com/office/drawing/2014/main" id="{C8609305-2F46-704A-11AB-FF8FE87C5173}"/>
              </a:ext>
            </a:extLst>
          </p:cNvPr>
          <p:cNvSpPr txBox="1"/>
          <p:nvPr/>
        </p:nvSpPr>
        <p:spPr>
          <a:xfrm>
            <a:off x="228600" y="181719"/>
            <a:ext cx="6122018" cy="523220"/>
          </a:xfrm>
          <a:prstGeom prst="rect">
            <a:avLst/>
          </a:prstGeom>
          <a:noFill/>
        </p:spPr>
        <p:txBody>
          <a:bodyPr wrap="square">
            <a:spAutoFit/>
          </a:bodyPr>
          <a:lstStyle/>
          <a:p>
            <a:r>
              <a:rPr lang="en-US" sz="2800" dirty="0" err="1">
                <a:latin typeface="+mj-lt"/>
              </a:rPr>
              <a:t>connect_workspace_safe</a:t>
            </a:r>
            <a:r>
              <a:rPr lang="en-US" sz="2800" dirty="0">
                <a:latin typeface="+mj-lt"/>
              </a:rPr>
              <a:t> python code</a:t>
            </a:r>
            <a:endParaRPr lang="en-AU" sz="2800" dirty="0">
              <a:latin typeface="+mj-lt"/>
            </a:endParaRPr>
          </a:p>
        </p:txBody>
      </p:sp>
      <p:pic>
        <p:nvPicPr>
          <p:cNvPr id="13" name="Picture 12">
            <a:extLst>
              <a:ext uri="{FF2B5EF4-FFF2-40B4-BE49-F238E27FC236}">
                <a16:creationId xmlns:a16="http://schemas.microsoft.com/office/drawing/2014/main" id="{699633EC-61A4-364F-CF28-39BDA220B7A3}"/>
              </a:ext>
            </a:extLst>
          </p:cNvPr>
          <p:cNvPicPr>
            <a:picLocks noChangeAspect="1"/>
          </p:cNvPicPr>
          <p:nvPr/>
        </p:nvPicPr>
        <p:blipFill>
          <a:blip r:embed="rId3"/>
          <a:srcRect l="19939" t="9665" r="21250" b="15556"/>
          <a:stretch>
            <a:fillRect/>
          </a:stretch>
        </p:blipFill>
        <p:spPr>
          <a:xfrm>
            <a:off x="228599" y="1219199"/>
            <a:ext cx="11963399" cy="8556715"/>
          </a:xfrm>
          <a:prstGeom prst="rect">
            <a:avLst/>
          </a:prstGeom>
        </p:spPr>
      </p:pic>
      <p:sp>
        <p:nvSpPr>
          <p:cNvPr id="15" name="TextBox 14">
            <a:extLst>
              <a:ext uri="{FF2B5EF4-FFF2-40B4-BE49-F238E27FC236}">
                <a16:creationId xmlns:a16="http://schemas.microsoft.com/office/drawing/2014/main" id="{E7FF27B0-6C53-4E2C-85E4-2209115F40E6}"/>
              </a:ext>
            </a:extLst>
          </p:cNvPr>
          <p:cNvSpPr txBox="1"/>
          <p:nvPr/>
        </p:nvSpPr>
        <p:spPr>
          <a:xfrm>
            <a:off x="5105400" y="2684542"/>
            <a:ext cx="7170418" cy="2568717"/>
          </a:xfrm>
          <a:prstGeom prst="rect">
            <a:avLst/>
          </a:prstGeom>
          <a:solidFill>
            <a:schemeClr val="bg1"/>
          </a:solidFill>
        </p:spPr>
        <p:txBody>
          <a:bodyPr wrap="square">
            <a:spAutoFit/>
          </a:bodyPr>
          <a:lstStyle/>
          <a:p>
            <a:pPr marL="457200" indent="-457200">
              <a:lnSpc>
                <a:spcPct val="150000"/>
              </a:lnSpc>
              <a:buFont typeface="+mj-lt"/>
              <a:buAutoNum type="arabicPeriod" startAt="3"/>
            </a:pPr>
            <a:r>
              <a:rPr lang="en-US" sz="2200" b="1" dirty="0"/>
              <a:t>If connection fails:</a:t>
            </a:r>
            <a:r>
              <a:rPr lang="en-US" sz="2200" dirty="0"/>
              <a:t> it shows a friendly error message instead of crashing.</a:t>
            </a:r>
          </a:p>
          <a:p>
            <a:pPr marL="457200" indent="-457200">
              <a:lnSpc>
                <a:spcPct val="150000"/>
              </a:lnSpc>
              <a:buFont typeface="+mj-lt"/>
              <a:buAutoNum type="arabicPeriod" startAt="4"/>
            </a:pPr>
            <a:r>
              <a:rPr lang="en-US" sz="2200" dirty="0"/>
              <a:t>Works fine </a:t>
            </a:r>
            <a:r>
              <a:rPr lang="en-US" sz="2200" b="1" dirty="0"/>
              <a:t>offline</a:t>
            </a:r>
            <a:r>
              <a:rPr lang="en-US" sz="2200" dirty="0"/>
              <a:t> — so students without Azure accounts can still run it and see the “safe fail” message.</a:t>
            </a:r>
          </a:p>
        </p:txBody>
      </p:sp>
    </p:spTree>
    <p:extLst>
      <p:ext uri="{BB962C8B-B14F-4D97-AF65-F5344CB8AC3E}">
        <p14:creationId xmlns:p14="http://schemas.microsoft.com/office/powerpoint/2010/main" val="321832248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3CD9A5C0-9473-8310-BCFB-C577BC6BCE00}"/>
            </a:ext>
          </a:extLst>
        </p:cNvPr>
        <p:cNvGrpSpPr/>
        <p:nvPr/>
      </p:nvGrpSpPr>
      <p:grpSpPr>
        <a:xfrm>
          <a:off x="0" y="0"/>
          <a:ext cx="0" cy="0"/>
          <a:chOff x="0" y="0"/>
          <a:chExt cx="0" cy="0"/>
        </a:xfrm>
      </p:grpSpPr>
      <p:pic>
        <p:nvPicPr>
          <p:cNvPr id="3" name="object 3">
            <a:extLst>
              <a:ext uri="{FF2B5EF4-FFF2-40B4-BE49-F238E27FC236}">
                <a16:creationId xmlns:a16="http://schemas.microsoft.com/office/drawing/2014/main" id="{1789687F-3B50-65F0-B405-797A352CB861}"/>
              </a:ext>
            </a:extLst>
          </p:cNvPr>
          <p:cNvPicPr/>
          <p:nvPr/>
        </p:nvPicPr>
        <p:blipFill>
          <a:blip r:embed="rId2" cstate="print"/>
          <a:stretch>
            <a:fillRect/>
          </a:stretch>
        </p:blipFill>
        <p:spPr>
          <a:xfrm>
            <a:off x="10261092" y="0"/>
            <a:ext cx="1930907" cy="1901952"/>
          </a:xfrm>
          <a:prstGeom prst="rect">
            <a:avLst/>
          </a:prstGeom>
        </p:spPr>
      </p:pic>
      <p:sp>
        <p:nvSpPr>
          <p:cNvPr id="6" name="Rectangle 1">
            <a:extLst>
              <a:ext uri="{FF2B5EF4-FFF2-40B4-BE49-F238E27FC236}">
                <a16:creationId xmlns:a16="http://schemas.microsoft.com/office/drawing/2014/main" id="{BE135199-FA16-3E79-9DDD-DEA9399219BA}"/>
              </a:ext>
            </a:extLst>
          </p:cNvPr>
          <p:cNvSpPr>
            <a:spLocks noChangeArrowheads="1"/>
          </p:cNvSpPr>
          <p:nvPr/>
        </p:nvSpPr>
        <p:spPr bwMode="auto">
          <a:xfrm>
            <a:off x="1493838" y="2886681"/>
            <a:ext cx="184731" cy="55399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200" b="1" i="0" u="none" strike="noStrike" cap="none" normalizeH="0" baseline="0">
              <a:ln>
                <a:noFill/>
              </a:ln>
              <a:solidFill>
                <a:schemeClr val="tx1"/>
              </a:solidFill>
              <a:effectLst/>
              <a:latin typeface="+mj-lt"/>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a:ln>
                <a:noFill/>
              </a:ln>
              <a:solidFill>
                <a:schemeClr val="tx1"/>
              </a:solidFill>
              <a:effectLst/>
              <a:latin typeface="+mj-lt"/>
            </a:endParaRPr>
          </a:p>
        </p:txBody>
      </p:sp>
      <p:sp>
        <p:nvSpPr>
          <p:cNvPr id="9" name="TextBox 8">
            <a:extLst>
              <a:ext uri="{FF2B5EF4-FFF2-40B4-BE49-F238E27FC236}">
                <a16:creationId xmlns:a16="http://schemas.microsoft.com/office/drawing/2014/main" id="{15DD822F-29A0-E902-6A16-E3D40BF6BD13}"/>
              </a:ext>
            </a:extLst>
          </p:cNvPr>
          <p:cNvSpPr txBox="1"/>
          <p:nvPr/>
        </p:nvSpPr>
        <p:spPr>
          <a:xfrm>
            <a:off x="228600" y="181719"/>
            <a:ext cx="6122018" cy="523220"/>
          </a:xfrm>
          <a:prstGeom prst="rect">
            <a:avLst/>
          </a:prstGeom>
          <a:noFill/>
        </p:spPr>
        <p:txBody>
          <a:bodyPr wrap="square">
            <a:spAutoFit/>
          </a:bodyPr>
          <a:lstStyle/>
          <a:p>
            <a:r>
              <a:rPr lang="en-US" sz="2800" dirty="0" err="1">
                <a:latin typeface="+mj-lt"/>
              </a:rPr>
              <a:t>connect_workspace_safe</a:t>
            </a:r>
            <a:r>
              <a:rPr lang="en-US" sz="2800" dirty="0">
                <a:latin typeface="+mj-lt"/>
              </a:rPr>
              <a:t> python code</a:t>
            </a:r>
            <a:endParaRPr lang="en-AU" sz="2800" dirty="0">
              <a:latin typeface="+mj-lt"/>
            </a:endParaRPr>
          </a:p>
        </p:txBody>
      </p:sp>
      <p:pic>
        <p:nvPicPr>
          <p:cNvPr id="13" name="Picture 12">
            <a:extLst>
              <a:ext uri="{FF2B5EF4-FFF2-40B4-BE49-F238E27FC236}">
                <a16:creationId xmlns:a16="http://schemas.microsoft.com/office/drawing/2014/main" id="{B901D124-FBEF-0DEB-0C75-DFC96BEF9BDF}"/>
              </a:ext>
            </a:extLst>
          </p:cNvPr>
          <p:cNvPicPr>
            <a:picLocks noChangeAspect="1"/>
          </p:cNvPicPr>
          <p:nvPr/>
        </p:nvPicPr>
        <p:blipFill>
          <a:blip r:embed="rId3"/>
          <a:srcRect l="19939" t="9665" r="21250" b="15556"/>
          <a:stretch>
            <a:fillRect/>
          </a:stretch>
        </p:blipFill>
        <p:spPr>
          <a:xfrm>
            <a:off x="228599" y="1219199"/>
            <a:ext cx="11963399" cy="8556715"/>
          </a:xfrm>
          <a:prstGeom prst="rect">
            <a:avLst/>
          </a:prstGeom>
        </p:spPr>
      </p:pic>
      <p:sp>
        <p:nvSpPr>
          <p:cNvPr id="15" name="TextBox 14">
            <a:extLst>
              <a:ext uri="{FF2B5EF4-FFF2-40B4-BE49-F238E27FC236}">
                <a16:creationId xmlns:a16="http://schemas.microsoft.com/office/drawing/2014/main" id="{DD9C627D-E665-263E-DCC6-FAA5A0DD7C95}"/>
              </a:ext>
            </a:extLst>
          </p:cNvPr>
          <p:cNvSpPr txBox="1"/>
          <p:nvPr/>
        </p:nvSpPr>
        <p:spPr>
          <a:xfrm>
            <a:off x="5105400" y="2684542"/>
            <a:ext cx="7170418" cy="1964512"/>
          </a:xfrm>
          <a:prstGeom prst="rect">
            <a:avLst/>
          </a:prstGeom>
          <a:solidFill>
            <a:schemeClr val="bg1"/>
          </a:solidFill>
        </p:spPr>
        <p:txBody>
          <a:bodyPr wrap="square">
            <a:spAutoFit/>
          </a:bodyPr>
          <a:lstStyle/>
          <a:p>
            <a:pPr>
              <a:lnSpc>
                <a:spcPct val="150000"/>
              </a:lnSpc>
            </a:pPr>
            <a:r>
              <a:rPr lang="en-US" sz="2800" dirty="0">
                <a:latin typeface="+mj-lt"/>
              </a:rPr>
              <a:t>It’s a safe test script to check if our Python environment can talk to Azure ML — without breaking if you’re not logged in yet.</a:t>
            </a:r>
          </a:p>
        </p:txBody>
      </p:sp>
    </p:spTree>
    <p:extLst>
      <p:ext uri="{BB962C8B-B14F-4D97-AF65-F5344CB8AC3E}">
        <p14:creationId xmlns:p14="http://schemas.microsoft.com/office/powerpoint/2010/main" val="158820726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2FFBD62D-A518-D15F-FD7B-1CF9D7337C3F}"/>
            </a:ext>
          </a:extLst>
        </p:cNvPr>
        <p:cNvGrpSpPr/>
        <p:nvPr/>
      </p:nvGrpSpPr>
      <p:grpSpPr>
        <a:xfrm>
          <a:off x="0" y="0"/>
          <a:ext cx="0" cy="0"/>
          <a:chOff x="0" y="0"/>
          <a:chExt cx="0" cy="0"/>
        </a:xfrm>
      </p:grpSpPr>
      <p:pic>
        <p:nvPicPr>
          <p:cNvPr id="3" name="object 3">
            <a:extLst>
              <a:ext uri="{FF2B5EF4-FFF2-40B4-BE49-F238E27FC236}">
                <a16:creationId xmlns:a16="http://schemas.microsoft.com/office/drawing/2014/main" id="{5DB7D320-3F16-A904-36D8-878647B8B42E}"/>
              </a:ext>
            </a:extLst>
          </p:cNvPr>
          <p:cNvPicPr/>
          <p:nvPr/>
        </p:nvPicPr>
        <p:blipFill>
          <a:blip r:embed="rId2" cstate="print"/>
          <a:stretch>
            <a:fillRect/>
          </a:stretch>
        </p:blipFill>
        <p:spPr>
          <a:xfrm>
            <a:off x="10261092" y="0"/>
            <a:ext cx="1930907" cy="1901952"/>
          </a:xfrm>
          <a:prstGeom prst="rect">
            <a:avLst/>
          </a:prstGeom>
        </p:spPr>
      </p:pic>
      <p:sp>
        <p:nvSpPr>
          <p:cNvPr id="6" name="Rectangle 1">
            <a:extLst>
              <a:ext uri="{FF2B5EF4-FFF2-40B4-BE49-F238E27FC236}">
                <a16:creationId xmlns:a16="http://schemas.microsoft.com/office/drawing/2014/main" id="{BE419374-0644-9B2B-25E8-4ECF440385FB}"/>
              </a:ext>
            </a:extLst>
          </p:cNvPr>
          <p:cNvSpPr>
            <a:spLocks noChangeArrowheads="1"/>
          </p:cNvSpPr>
          <p:nvPr/>
        </p:nvSpPr>
        <p:spPr bwMode="auto">
          <a:xfrm>
            <a:off x="1493838" y="2886681"/>
            <a:ext cx="184731" cy="55399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200" b="1" i="0" u="none" strike="noStrike" cap="none" normalizeH="0" baseline="0">
              <a:ln>
                <a:noFill/>
              </a:ln>
              <a:solidFill>
                <a:schemeClr val="tx1"/>
              </a:solidFill>
              <a:effectLst/>
              <a:latin typeface="+mj-lt"/>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a:ln>
                <a:noFill/>
              </a:ln>
              <a:solidFill>
                <a:schemeClr val="tx1"/>
              </a:solidFill>
              <a:effectLst/>
              <a:latin typeface="+mj-lt"/>
            </a:endParaRPr>
          </a:p>
        </p:txBody>
      </p:sp>
      <p:sp>
        <p:nvSpPr>
          <p:cNvPr id="9" name="TextBox 8">
            <a:extLst>
              <a:ext uri="{FF2B5EF4-FFF2-40B4-BE49-F238E27FC236}">
                <a16:creationId xmlns:a16="http://schemas.microsoft.com/office/drawing/2014/main" id="{2195C62E-AAB8-BAA9-1BE3-00E56B1A431A}"/>
              </a:ext>
            </a:extLst>
          </p:cNvPr>
          <p:cNvSpPr txBox="1"/>
          <p:nvPr/>
        </p:nvSpPr>
        <p:spPr>
          <a:xfrm>
            <a:off x="228600" y="181719"/>
            <a:ext cx="6122018" cy="523220"/>
          </a:xfrm>
          <a:prstGeom prst="rect">
            <a:avLst/>
          </a:prstGeom>
          <a:noFill/>
        </p:spPr>
        <p:txBody>
          <a:bodyPr wrap="square">
            <a:spAutoFit/>
          </a:bodyPr>
          <a:lstStyle/>
          <a:p>
            <a:r>
              <a:rPr lang="en-US" sz="2800" dirty="0" err="1">
                <a:latin typeface="+mj-lt"/>
              </a:rPr>
              <a:t>connect_workspace_safe</a:t>
            </a:r>
            <a:r>
              <a:rPr lang="en-US" sz="2800" dirty="0">
                <a:latin typeface="+mj-lt"/>
              </a:rPr>
              <a:t> python code</a:t>
            </a:r>
            <a:endParaRPr lang="en-AU" sz="2800" dirty="0">
              <a:latin typeface="+mj-lt"/>
            </a:endParaRPr>
          </a:p>
        </p:txBody>
      </p:sp>
      <p:pic>
        <p:nvPicPr>
          <p:cNvPr id="13" name="Picture 12">
            <a:extLst>
              <a:ext uri="{FF2B5EF4-FFF2-40B4-BE49-F238E27FC236}">
                <a16:creationId xmlns:a16="http://schemas.microsoft.com/office/drawing/2014/main" id="{102EE436-7DA4-155D-5419-569837B979B2}"/>
              </a:ext>
            </a:extLst>
          </p:cNvPr>
          <p:cNvPicPr>
            <a:picLocks noChangeAspect="1"/>
          </p:cNvPicPr>
          <p:nvPr/>
        </p:nvPicPr>
        <p:blipFill>
          <a:blip r:embed="rId3"/>
          <a:srcRect l="19939" t="9665" r="21250" b="15556"/>
          <a:stretch>
            <a:fillRect/>
          </a:stretch>
        </p:blipFill>
        <p:spPr>
          <a:xfrm>
            <a:off x="228599" y="1219199"/>
            <a:ext cx="11963399" cy="8556715"/>
          </a:xfrm>
          <a:prstGeom prst="rect">
            <a:avLst/>
          </a:prstGeom>
        </p:spPr>
      </p:pic>
      <p:pic>
        <p:nvPicPr>
          <p:cNvPr id="4" name="Picture 3">
            <a:extLst>
              <a:ext uri="{FF2B5EF4-FFF2-40B4-BE49-F238E27FC236}">
                <a16:creationId xmlns:a16="http://schemas.microsoft.com/office/drawing/2014/main" id="{11E6897B-FDFD-C8A0-3D2D-7FCD660ED0AA}"/>
              </a:ext>
            </a:extLst>
          </p:cNvPr>
          <p:cNvPicPr>
            <a:picLocks noChangeAspect="1"/>
          </p:cNvPicPr>
          <p:nvPr/>
        </p:nvPicPr>
        <p:blipFill>
          <a:blip r:embed="rId4"/>
          <a:srcRect l="52088" t="28889" b="45555"/>
          <a:stretch>
            <a:fillRect/>
          </a:stretch>
        </p:blipFill>
        <p:spPr>
          <a:xfrm>
            <a:off x="5181600" y="2941097"/>
            <a:ext cx="7010400" cy="2103343"/>
          </a:xfrm>
          <a:prstGeom prst="rect">
            <a:avLst/>
          </a:prstGeom>
          <a:ln w="38100">
            <a:solidFill>
              <a:srgbClr val="FF0000"/>
            </a:solidFill>
          </a:ln>
        </p:spPr>
      </p:pic>
    </p:spTree>
    <p:extLst>
      <p:ext uri="{BB962C8B-B14F-4D97-AF65-F5344CB8AC3E}">
        <p14:creationId xmlns:p14="http://schemas.microsoft.com/office/powerpoint/2010/main" val="199599093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2DD08BD3-7D07-2108-AB78-DBCF705B37C0}"/>
            </a:ext>
          </a:extLst>
        </p:cNvPr>
        <p:cNvGrpSpPr/>
        <p:nvPr/>
      </p:nvGrpSpPr>
      <p:grpSpPr>
        <a:xfrm>
          <a:off x="0" y="0"/>
          <a:ext cx="0" cy="0"/>
          <a:chOff x="0" y="0"/>
          <a:chExt cx="0" cy="0"/>
        </a:xfrm>
      </p:grpSpPr>
      <p:pic>
        <p:nvPicPr>
          <p:cNvPr id="3" name="object 3">
            <a:extLst>
              <a:ext uri="{FF2B5EF4-FFF2-40B4-BE49-F238E27FC236}">
                <a16:creationId xmlns:a16="http://schemas.microsoft.com/office/drawing/2014/main" id="{85B62B38-D3DE-4380-4E0E-A10DB6D4FC70}"/>
              </a:ext>
            </a:extLst>
          </p:cNvPr>
          <p:cNvPicPr/>
          <p:nvPr/>
        </p:nvPicPr>
        <p:blipFill>
          <a:blip r:embed="rId2" cstate="print"/>
          <a:stretch>
            <a:fillRect/>
          </a:stretch>
        </p:blipFill>
        <p:spPr>
          <a:xfrm>
            <a:off x="10261092" y="0"/>
            <a:ext cx="1930907" cy="1901952"/>
          </a:xfrm>
          <a:prstGeom prst="rect">
            <a:avLst/>
          </a:prstGeom>
        </p:spPr>
      </p:pic>
      <p:sp>
        <p:nvSpPr>
          <p:cNvPr id="6" name="Rectangle 1">
            <a:extLst>
              <a:ext uri="{FF2B5EF4-FFF2-40B4-BE49-F238E27FC236}">
                <a16:creationId xmlns:a16="http://schemas.microsoft.com/office/drawing/2014/main" id="{7F216B57-317E-31E8-3F85-04D4F6C7DF04}"/>
              </a:ext>
            </a:extLst>
          </p:cNvPr>
          <p:cNvSpPr>
            <a:spLocks noChangeArrowheads="1"/>
          </p:cNvSpPr>
          <p:nvPr/>
        </p:nvSpPr>
        <p:spPr bwMode="auto">
          <a:xfrm>
            <a:off x="1493838" y="2886681"/>
            <a:ext cx="184731" cy="55399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200" b="1" i="0" u="none" strike="noStrike" cap="none" normalizeH="0" baseline="0">
              <a:ln>
                <a:noFill/>
              </a:ln>
              <a:solidFill>
                <a:schemeClr val="tx1"/>
              </a:solidFill>
              <a:effectLst/>
              <a:latin typeface="+mj-lt"/>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a:ln>
                <a:noFill/>
              </a:ln>
              <a:solidFill>
                <a:schemeClr val="tx1"/>
              </a:solidFill>
              <a:effectLst/>
              <a:latin typeface="+mj-lt"/>
            </a:endParaRPr>
          </a:p>
        </p:txBody>
      </p:sp>
      <p:sp>
        <p:nvSpPr>
          <p:cNvPr id="9" name="TextBox 8">
            <a:extLst>
              <a:ext uri="{FF2B5EF4-FFF2-40B4-BE49-F238E27FC236}">
                <a16:creationId xmlns:a16="http://schemas.microsoft.com/office/drawing/2014/main" id="{ACD35FAC-709C-5D70-9AE1-E37770FD8144}"/>
              </a:ext>
            </a:extLst>
          </p:cNvPr>
          <p:cNvSpPr txBox="1"/>
          <p:nvPr/>
        </p:nvSpPr>
        <p:spPr>
          <a:xfrm>
            <a:off x="228600" y="181719"/>
            <a:ext cx="8458200" cy="523220"/>
          </a:xfrm>
          <a:prstGeom prst="rect">
            <a:avLst/>
          </a:prstGeom>
          <a:noFill/>
        </p:spPr>
        <p:txBody>
          <a:bodyPr wrap="square">
            <a:spAutoFit/>
          </a:bodyPr>
          <a:lstStyle/>
          <a:p>
            <a:r>
              <a:rPr lang="en-US" sz="2800" dirty="0">
                <a:latin typeface="+mj-lt"/>
              </a:rPr>
              <a:t>Data Description: </a:t>
            </a:r>
            <a:r>
              <a:rPr lang="en-US" sz="2800" dirty="0" err="1">
                <a:latin typeface="+mj-lt"/>
              </a:rPr>
              <a:t>Iris_data_summary</a:t>
            </a:r>
            <a:r>
              <a:rPr lang="en-US" sz="2800" dirty="0">
                <a:latin typeface="+mj-lt"/>
              </a:rPr>
              <a:t> python code</a:t>
            </a:r>
            <a:endParaRPr lang="en-AU" sz="2800" dirty="0">
              <a:latin typeface="+mj-lt"/>
            </a:endParaRPr>
          </a:p>
        </p:txBody>
      </p:sp>
      <p:pic>
        <p:nvPicPr>
          <p:cNvPr id="8" name="Picture 7">
            <a:extLst>
              <a:ext uri="{FF2B5EF4-FFF2-40B4-BE49-F238E27FC236}">
                <a16:creationId xmlns:a16="http://schemas.microsoft.com/office/drawing/2014/main" id="{5DEA8A54-ECB4-6A9C-F2BB-AD74673A6970}"/>
              </a:ext>
            </a:extLst>
          </p:cNvPr>
          <p:cNvPicPr>
            <a:picLocks noChangeAspect="1"/>
          </p:cNvPicPr>
          <p:nvPr/>
        </p:nvPicPr>
        <p:blipFill>
          <a:blip r:embed="rId3"/>
          <a:srcRect l="21251" t="15556" r="21874" b="44444"/>
          <a:stretch>
            <a:fillRect/>
          </a:stretch>
        </p:blipFill>
        <p:spPr>
          <a:xfrm>
            <a:off x="86783" y="1801593"/>
            <a:ext cx="12105216" cy="4788876"/>
          </a:xfrm>
          <a:prstGeom prst="rect">
            <a:avLst/>
          </a:prstGeom>
        </p:spPr>
      </p:pic>
    </p:spTree>
    <p:extLst>
      <p:ext uri="{BB962C8B-B14F-4D97-AF65-F5344CB8AC3E}">
        <p14:creationId xmlns:p14="http://schemas.microsoft.com/office/powerpoint/2010/main" val="217981487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43462AB3-FDF1-8556-4B8F-A62715932F85}"/>
            </a:ext>
          </a:extLst>
        </p:cNvPr>
        <p:cNvGrpSpPr/>
        <p:nvPr/>
      </p:nvGrpSpPr>
      <p:grpSpPr>
        <a:xfrm>
          <a:off x="0" y="0"/>
          <a:ext cx="0" cy="0"/>
          <a:chOff x="0" y="0"/>
          <a:chExt cx="0" cy="0"/>
        </a:xfrm>
      </p:grpSpPr>
      <p:pic>
        <p:nvPicPr>
          <p:cNvPr id="3" name="object 3">
            <a:extLst>
              <a:ext uri="{FF2B5EF4-FFF2-40B4-BE49-F238E27FC236}">
                <a16:creationId xmlns:a16="http://schemas.microsoft.com/office/drawing/2014/main" id="{63467B0B-5A23-1B27-D8C0-43D3E4CDE931}"/>
              </a:ext>
            </a:extLst>
          </p:cNvPr>
          <p:cNvPicPr/>
          <p:nvPr/>
        </p:nvPicPr>
        <p:blipFill>
          <a:blip r:embed="rId2" cstate="print"/>
          <a:stretch>
            <a:fillRect/>
          </a:stretch>
        </p:blipFill>
        <p:spPr>
          <a:xfrm>
            <a:off x="10261092" y="0"/>
            <a:ext cx="1930907" cy="1901952"/>
          </a:xfrm>
          <a:prstGeom prst="rect">
            <a:avLst/>
          </a:prstGeom>
        </p:spPr>
      </p:pic>
      <p:sp>
        <p:nvSpPr>
          <p:cNvPr id="6" name="Rectangle 1">
            <a:extLst>
              <a:ext uri="{FF2B5EF4-FFF2-40B4-BE49-F238E27FC236}">
                <a16:creationId xmlns:a16="http://schemas.microsoft.com/office/drawing/2014/main" id="{B4A6918E-E5BA-E7A1-EFDD-CE31A6B824C1}"/>
              </a:ext>
            </a:extLst>
          </p:cNvPr>
          <p:cNvSpPr>
            <a:spLocks noChangeArrowheads="1"/>
          </p:cNvSpPr>
          <p:nvPr/>
        </p:nvSpPr>
        <p:spPr bwMode="auto">
          <a:xfrm>
            <a:off x="1493838" y="2886681"/>
            <a:ext cx="184731" cy="55399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200" b="1" i="0" u="none" strike="noStrike" cap="none" normalizeH="0" baseline="0">
              <a:ln>
                <a:noFill/>
              </a:ln>
              <a:solidFill>
                <a:schemeClr val="tx1"/>
              </a:solidFill>
              <a:effectLst/>
              <a:latin typeface="+mj-lt"/>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a:ln>
                <a:noFill/>
              </a:ln>
              <a:solidFill>
                <a:schemeClr val="tx1"/>
              </a:solidFill>
              <a:effectLst/>
              <a:latin typeface="+mj-lt"/>
            </a:endParaRPr>
          </a:p>
        </p:txBody>
      </p:sp>
      <p:sp>
        <p:nvSpPr>
          <p:cNvPr id="7" name="TextBox 6">
            <a:extLst>
              <a:ext uri="{FF2B5EF4-FFF2-40B4-BE49-F238E27FC236}">
                <a16:creationId xmlns:a16="http://schemas.microsoft.com/office/drawing/2014/main" id="{B5A4B789-2B5E-62B3-F8BD-D7CFCA77B99D}"/>
              </a:ext>
            </a:extLst>
          </p:cNvPr>
          <p:cNvSpPr txBox="1"/>
          <p:nvPr/>
        </p:nvSpPr>
        <p:spPr>
          <a:xfrm>
            <a:off x="2" y="1828903"/>
            <a:ext cx="12191998" cy="8229497"/>
          </a:xfrm>
          <a:prstGeom prst="rect">
            <a:avLst/>
          </a:prstGeom>
          <a:solidFill>
            <a:schemeClr val="bg1"/>
          </a:solidFill>
        </p:spPr>
        <p:txBody>
          <a:bodyPr wrap="square">
            <a:spAutoFit/>
          </a:bodyPr>
          <a:lstStyle/>
          <a:p>
            <a:pPr>
              <a:lnSpc>
                <a:spcPct val="115000"/>
              </a:lnSpc>
              <a:spcAft>
                <a:spcPts val="800"/>
              </a:spcAft>
              <a:buNone/>
            </a:pPr>
            <a:r>
              <a:rPr lang="en-US" sz="2200" kern="0" dirty="0">
                <a:solidFill>
                  <a:srgbClr val="000000"/>
                </a:solidFill>
                <a:effectLst/>
                <a:latin typeface="Consolas" panose="020B0609020204030204" pitchFamily="49" charset="0"/>
                <a:ea typeface="Times New Roman" panose="02020603050405020304" pitchFamily="18" charset="0"/>
                <a:cs typeface="Times New Roman" panose="02020603050405020304" pitchFamily="18" charset="0"/>
              </a:rPr>
              <a:t>Dataset shape: (150, 5)</a:t>
            </a:r>
            <a:endParaRPr lang="en-US" sz="2200" kern="100" dirty="0">
              <a:effectLst/>
              <a:latin typeface="Aptos" panose="020B0004020202020204" pitchFamily="34" charset="0"/>
              <a:ea typeface="Aptos" panose="020B0004020202020204" pitchFamily="34" charset="0"/>
              <a:cs typeface="Arial" panose="020B0604020202020204" pitchFamily="34" charset="0"/>
            </a:endParaRPr>
          </a:p>
          <a:p>
            <a:pPr>
              <a:lnSpc>
                <a:spcPct val="115000"/>
              </a:lnSpc>
              <a:spcAft>
                <a:spcPts val="800"/>
              </a:spcAft>
              <a:buNone/>
            </a:pPr>
            <a:r>
              <a:rPr lang="en-US" sz="2200" kern="0" dirty="0">
                <a:solidFill>
                  <a:srgbClr val="000000"/>
                </a:solidFill>
                <a:effectLst/>
                <a:latin typeface="Consolas" panose="020B0609020204030204" pitchFamily="49" charset="0"/>
                <a:ea typeface="Times New Roman" panose="02020603050405020304" pitchFamily="18" charset="0"/>
                <a:cs typeface="Times New Roman" panose="02020603050405020304" pitchFamily="18" charset="0"/>
              </a:rPr>
              <a:t>First 5 rows:</a:t>
            </a:r>
            <a:endParaRPr lang="en-US" sz="2200" kern="100" dirty="0">
              <a:effectLst/>
              <a:latin typeface="Aptos" panose="020B0004020202020204" pitchFamily="34" charset="0"/>
              <a:ea typeface="Aptos" panose="020B0004020202020204" pitchFamily="34" charset="0"/>
              <a:cs typeface="Arial" panose="020B0604020202020204" pitchFamily="34" charset="0"/>
            </a:endParaRPr>
          </a:p>
          <a:p>
            <a:pPr>
              <a:lnSpc>
                <a:spcPct val="115000"/>
              </a:lnSpc>
              <a:spcAft>
                <a:spcPts val="800"/>
              </a:spcAft>
              <a:buNone/>
            </a:pPr>
            <a:r>
              <a:rPr lang="en-US" sz="2200" kern="0" dirty="0">
                <a:solidFill>
                  <a:srgbClr val="000000"/>
                </a:solidFill>
                <a:effectLst/>
                <a:latin typeface="Consolas" panose="020B0609020204030204" pitchFamily="49" charset="0"/>
                <a:ea typeface="Times New Roman" panose="02020603050405020304" pitchFamily="18" charset="0"/>
                <a:cs typeface="Times New Roman" panose="02020603050405020304" pitchFamily="18" charset="0"/>
              </a:rPr>
              <a:t>    sepal length (cm)  sepal width (cm)  petal length (cm)  petal width (cm)  \</a:t>
            </a:r>
            <a:endParaRPr lang="en-US" sz="2200" kern="100" dirty="0">
              <a:effectLst/>
              <a:latin typeface="Aptos" panose="020B0004020202020204" pitchFamily="34" charset="0"/>
              <a:ea typeface="Aptos" panose="020B0004020202020204" pitchFamily="34" charset="0"/>
              <a:cs typeface="Arial" panose="020B0604020202020204" pitchFamily="34" charset="0"/>
            </a:endParaRPr>
          </a:p>
          <a:p>
            <a:pPr>
              <a:lnSpc>
                <a:spcPct val="115000"/>
              </a:lnSpc>
              <a:spcAft>
                <a:spcPts val="800"/>
              </a:spcAft>
              <a:buNone/>
            </a:pPr>
            <a:r>
              <a:rPr lang="en-US" sz="2200" kern="0" dirty="0">
                <a:solidFill>
                  <a:srgbClr val="000000"/>
                </a:solidFill>
                <a:effectLst/>
                <a:latin typeface="Consolas" panose="020B0609020204030204" pitchFamily="49" charset="0"/>
                <a:ea typeface="Times New Roman" panose="02020603050405020304" pitchFamily="18" charset="0"/>
                <a:cs typeface="Times New Roman" panose="02020603050405020304" pitchFamily="18" charset="0"/>
              </a:rPr>
              <a:t>0                5.1               3.5                1.4               0.2   </a:t>
            </a:r>
            <a:endParaRPr lang="en-US" sz="2200" kern="100" dirty="0">
              <a:effectLst/>
              <a:latin typeface="Aptos" panose="020B0004020202020204" pitchFamily="34" charset="0"/>
              <a:ea typeface="Aptos" panose="020B0004020202020204" pitchFamily="34" charset="0"/>
              <a:cs typeface="Arial" panose="020B0604020202020204" pitchFamily="34" charset="0"/>
            </a:endParaRPr>
          </a:p>
          <a:p>
            <a:pPr>
              <a:lnSpc>
                <a:spcPct val="115000"/>
              </a:lnSpc>
              <a:spcAft>
                <a:spcPts val="800"/>
              </a:spcAft>
              <a:buNone/>
            </a:pPr>
            <a:r>
              <a:rPr lang="en-US" sz="2200" kern="0" dirty="0">
                <a:solidFill>
                  <a:srgbClr val="000000"/>
                </a:solidFill>
                <a:effectLst/>
                <a:latin typeface="Consolas" panose="020B0609020204030204" pitchFamily="49" charset="0"/>
                <a:ea typeface="Times New Roman" panose="02020603050405020304" pitchFamily="18" charset="0"/>
                <a:cs typeface="Times New Roman" panose="02020603050405020304" pitchFamily="18" charset="0"/>
              </a:rPr>
              <a:t>1                4.9               3.0                1.4               0.2   </a:t>
            </a:r>
            <a:endParaRPr lang="en-US" sz="2200" kern="100" dirty="0">
              <a:effectLst/>
              <a:latin typeface="Aptos" panose="020B0004020202020204" pitchFamily="34" charset="0"/>
              <a:ea typeface="Aptos" panose="020B0004020202020204" pitchFamily="34" charset="0"/>
              <a:cs typeface="Arial" panose="020B0604020202020204" pitchFamily="34" charset="0"/>
            </a:endParaRPr>
          </a:p>
          <a:p>
            <a:pPr>
              <a:lnSpc>
                <a:spcPct val="115000"/>
              </a:lnSpc>
              <a:spcAft>
                <a:spcPts val="800"/>
              </a:spcAft>
              <a:buNone/>
            </a:pPr>
            <a:r>
              <a:rPr lang="en-US" sz="2200" kern="0" dirty="0">
                <a:solidFill>
                  <a:srgbClr val="000000"/>
                </a:solidFill>
                <a:effectLst/>
                <a:latin typeface="Consolas" panose="020B0609020204030204" pitchFamily="49" charset="0"/>
                <a:ea typeface="Times New Roman" panose="02020603050405020304" pitchFamily="18" charset="0"/>
                <a:cs typeface="Times New Roman" panose="02020603050405020304" pitchFamily="18" charset="0"/>
              </a:rPr>
              <a:t>2                4.7               3.2                1.3               0.2   </a:t>
            </a:r>
            <a:endParaRPr lang="en-US" sz="2200" kern="100" dirty="0">
              <a:effectLst/>
              <a:latin typeface="Aptos" panose="020B0004020202020204" pitchFamily="34" charset="0"/>
              <a:ea typeface="Aptos" panose="020B0004020202020204" pitchFamily="34" charset="0"/>
              <a:cs typeface="Arial" panose="020B0604020202020204" pitchFamily="34" charset="0"/>
            </a:endParaRPr>
          </a:p>
          <a:p>
            <a:pPr>
              <a:lnSpc>
                <a:spcPct val="115000"/>
              </a:lnSpc>
              <a:spcAft>
                <a:spcPts val="800"/>
              </a:spcAft>
              <a:buNone/>
            </a:pPr>
            <a:r>
              <a:rPr lang="en-US" sz="2200" kern="0" dirty="0">
                <a:solidFill>
                  <a:srgbClr val="000000"/>
                </a:solidFill>
                <a:effectLst/>
                <a:latin typeface="Consolas" panose="020B0609020204030204" pitchFamily="49" charset="0"/>
                <a:ea typeface="Times New Roman" panose="02020603050405020304" pitchFamily="18" charset="0"/>
                <a:cs typeface="Times New Roman" panose="02020603050405020304" pitchFamily="18" charset="0"/>
              </a:rPr>
              <a:t>3                4.6               3.1                1.5               0.2   </a:t>
            </a:r>
            <a:endParaRPr lang="en-US" sz="2200" kern="100" dirty="0">
              <a:effectLst/>
              <a:latin typeface="Aptos" panose="020B0004020202020204" pitchFamily="34" charset="0"/>
              <a:ea typeface="Aptos" panose="020B0004020202020204" pitchFamily="34" charset="0"/>
              <a:cs typeface="Arial" panose="020B0604020202020204" pitchFamily="34" charset="0"/>
            </a:endParaRPr>
          </a:p>
          <a:p>
            <a:pPr>
              <a:lnSpc>
                <a:spcPct val="115000"/>
              </a:lnSpc>
              <a:spcAft>
                <a:spcPts val="800"/>
              </a:spcAft>
              <a:buNone/>
            </a:pPr>
            <a:r>
              <a:rPr lang="en-US" sz="2200" kern="0" dirty="0">
                <a:solidFill>
                  <a:srgbClr val="000000"/>
                </a:solidFill>
                <a:effectLst/>
                <a:latin typeface="Consolas" panose="020B0609020204030204" pitchFamily="49" charset="0"/>
                <a:ea typeface="Times New Roman" panose="02020603050405020304" pitchFamily="18" charset="0"/>
                <a:cs typeface="Times New Roman" panose="02020603050405020304" pitchFamily="18" charset="0"/>
              </a:rPr>
              <a:t>4                5.0               3.6                1.4               0.2   </a:t>
            </a:r>
            <a:endParaRPr lang="en-US" sz="2200" kern="100" dirty="0">
              <a:effectLst/>
              <a:latin typeface="Aptos" panose="020B0004020202020204" pitchFamily="34" charset="0"/>
              <a:ea typeface="Aptos" panose="020B0004020202020204" pitchFamily="34" charset="0"/>
              <a:cs typeface="Arial" panose="020B0604020202020204" pitchFamily="34" charset="0"/>
            </a:endParaRPr>
          </a:p>
          <a:p>
            <a:pPr>
              <a:lnSpc>
                <a:spcPct val="115000"/>
              </a:lnSpc>
              <a:spcAft>
                <a:spcPts val="800"/>
              </a:spcAft>
              <a:buNone/>
            </a:pPr>
            <a:r>
              <a:rPr lang="en-US" sz="2200" kern="0" dirty="0">
                <a:solidFill>
                  <a:srgbClr val="000000"/>
                </a:solidFill>
                <a:effectLst/>
                <a:latin typeface="Consolas" panose="020B0609020204030204" pitchFamily="49" charset="0"/>
                <a:ea typeface="Times New Roman" panose="02020603050405020304" pitchFamily="18" charset="0"/>
                <a:cs typeface="Times New Roman" panose="02020603050405020304" pitchFamily="18" charset="0"/>
              </a:rPr>
              <a:t> </a:t>
            </a:r>
            <a:endParaRPr lang="en-US" sz="2200" kern="100" dirty="0">
              <a:effectLst/>
              <a:latin typeface="Aptos" panose="020B0004020202020204" pitchFamily="34" charset="0"/>
              <a:ea typeface="Aptos" panose="020B0004020202020204" pitchFamily="34" charset="0"/>
              <a:cs typeface="Arial" panose="020B0604020202020204" pitchFamily="34" charset="0"/>
            </a:endParaRPr>
          </a:p>
          <a:p>
            <a:pPr>
              <a:lnSpc>
                <a:spcPct val="115000"/>
              </a:lnSpc>
              <a:spcAft>
                <a:spcPts val="800"/>
              </a:spcAft>
              <a:buNone/>
            </a:pPr>
            <a:r>
              <a:rPr lang="en-US" sz="2200" kern="0" dirty="0">
                <a:solidFill>
                  <a:srgbClr val="000000"/>
                </a:solidFill>
                <a:effectLst/>
                <a:latin typeface="Consolas" panose="020B0609020204030204" pitchFamily="49" charset="0"/>
                <a:ea typeface="Times New Roman" panose="02020603050405020304" pitchFamily="18" charset="0"/>
                <a:cs typeface="Times New Roman" panose="02020603050405020304" pitchFamily="18" charset="0"/>
              </a:rPr>
              <a:t>   target  </a:t>
            </a:r>
            <a:endParaRPr lang="en-US" sz="2200" kern="100" dirty="0">
              <a:effectLst/>
              <a:latin typeface="Aptos" panose="020B0004020202020204" pitchFamily="34" charset="0"/>
              <a:ea typeface="Aptos" panose="020B0004020202020204" pitchFamily="34" charset="0"/>
              <a:cs typeface="Arial" panose="020B0604020202020204" pitchFamily="34" charset="0"/>
            </a:endParaRPr>
          </a:p>
          <a:p>
            <a:pPr>
              <a:lnSpc>
                <a:spcPct val="115000"/>
              </a:lnSpc>
              <a:spcAft>
                <a:spcPts val="800"/>
              </a:spcAft>
              <a:buNone/>
            </a:pPr>
            <a:r>
              <a:rPr lang="en-US" sz="2200" kern="0" dirty="0">
                <a:solidFill>
                  <a:srgbClr val="000000"/>
                </a:solidFill>
                <a:effectLst/>
                <a:latin typeface="Consolas" panose="020B0609020204030204" pitchFamily="49" charset="0"/>
                <a:ea typeface="Times New Roman" panose="02020603050405020304" pitchFamily="18" charset="0"/>
                <a:cs typeface="Times New Roman" panose="02020603050405020304" pitchFamily="18" charset="0"/>
              </a:rPr>
              <a:t>0       0  </a:t>
            </a:r>
            <a:endParaRPr lang="en-US" sz="2200" kern="100" dirty="0">
              <a:effectLst/>
              <a:latin typeface="Aptos" panose="020B0004020202020204" pitchFamily="34" charset="0"/>
              <a:ea typeface="Aptos" panose="020B0004020202020204" pitchFamily="34" charset="0"/>
              <a:cs typeface="Arial" panose="020B0604020202020204" pitchFamily="34" charset="0"/>
            </a:endParaRPr>
          </a:p>
          <a:p>
            <a:pPr>
              <a:lnSpc>
                <a:spcPct val="115000"/>
              </a:lnSpc>
              <a:spcAft>
                <a:spcPts val="800"/>
              </a:spcAft>
              <a:buNone/>
            </a:pPr>
            <a:r>
              <a:rPr lang="en-US" sz="2200" kern="0" dirty="0">
                <a:solidFill>
                  <a:srgbClr val="000000"/>
                </a:solidFill>
                <a:effectLst/>
                <a:latin typeface="Consolas" panose="020B0609020204030204" pitchFamily="49" charset="0"/>
                <a:ea typeface="Times New Roman" panose="02020603050405020304" pitchFamily="18" charset="0"/>
                <a:cs typeface="Times New Roman" panose="02020603050405020304" pitchFamily="18" charset="0"/>
              </a:rPr>
              <a:t>1       0  </a:t>
            </a:r>
            <a:endParaRPr lang="en-US" sz="2200" kern="100" dirty="0">
              <a:effectLst/>
              <a:latin typeface="Aptos" panose="020B0004020202020204" pitchFamily="34" charset="0"/>
              <a:ea typeface="Aptos" panose="020B0004020202020204" pitchFamily="34" charset="0"/>
              <a:cs typeface="Arial" panose="020B0604020202020204" pitchFamily="34" charset="0"/>
            </a:endParaRPr>
          </a:p>
          <a:p>
            <a:pPr>
              <a:lnSpc>
                <a:spcPct val="115000"/>
              </a:lnSpc>
              <a:spcAft>
                <a:spcPts val="800"/>
              </a:spcAft>
              <a:buNone/>
            </a:pPr>
            <a:r>
              <a:rPr lang="en-US" sz="2200" kern="0" dirty="0">
                <a:solidFill>
                  <a:srgbClr val="000000"/>
                </a:solidFill>
                <a:effectLst/>
                <a:latin typeface="Consolas" panose="020B0609020204030204" pitchFamily="49" charset="0"/>
                <a:ea typeface="Times New Roman" panose="02020603050405020304" pitchFamily="18" charset="0"/>
                <a:cs typeface="Times New Roman" panose="02020603050405020304" pitchFamily="18" charset="0"/>
              </a:rPr>
              <a:t>2       0  </a:t>
            </a:r>
            <a:endParaRPr lang="en-US" sz="2200" kern="100" dirty="0">
              <a:effectLst/>
              <a:latin typeface="Aptos" panose="020B0004020202020204" pitchFamily="34" charset="0"/>
              <a:ea typeface="Aptos" panose="020B0004020202020204" pitchFamily="34" charset="0"/>
              <a:cs typeface="Arial" panose="020B0604020202020204" pitchFamily="34" charset="0"/>
            </a:endParaRPr>
          </a:p>
          <a:p>
            <a:pPr>
              <a:lnSpc>
                <a:spcPct val="115000"/>
              </a:lnSpc>
              <a:spcAft>
                <a:spcPts val="800"/>
              </a:spcAft>
              <a:buNone/>
            </a:pPr>
            <a:r>
              <a:rPr lang="en-US" sz="2200" kern="0" dirty="0">
                <a:solidFill>
                  <a:srgbClr val="000000"/>
                </a:solidFill>
                <a:effectLst/>
                <a:latin typeface="Consolas" panose="020B0609020204030204" pitchFamily="49" charset="0"/>
                <a:ea typeface="Times New Roman" panose="02020603050405020304" pitchFamily="18" charset="0"/>
                <a:cs typeface="Times New Roman" panose="02020603050405020304" pitchFamily="18" charset="0"/>
              </a:rPr>
              <a:t>3       0  </a:t>
            </a:r>
            <a:endParaRPr lang="en-US" sz="2200" kern="100" dirty="0">
              <a:effectLst/>
              <a:latin typeface="Aptos" panose="020B0004020202020204" pitchFamily="34" charset="0"/>
              <a:ea typeface="Aptos" panose="020B0004020202020204" pitchFamily="34" charset="0"/>
              <a:cs typeface="Arial" panose="020B0604020202020204" pitchFamily="34" charset="0"/>
            </a:endParaRPr>
          </a:p>
          <a:p>
            <a:pPr>
              <a:lnSpc>
                <a:spcPct val="115000"/>
              </a:lnSpc>
              <a:spcAft>
                <a:spcPts val="800"/>
              </a:spcAft>
              <a:buNone/>
            </a:pPr>
            <a:r>
              <a:rPr lang="en-US" sz="2200" kern="0" dirty="0">
                <a:solidFill>
                  <a:srgbClr val="000000"/>
                </a:solidFill>
                <a:effectLst/>
                <a:latin typeface="Consolas" panose="020B0609020204030204" pitchFamily="49" charset="0"/>
                <a:ea typeface="Times New Roman" panose="02020603050405020304" pitchFamily="18" charset="0"/>
                <a:cs typeface="Times New Roman" panose="02020603050405020304" pitchFamily="18" charset="0"/>
              </a:rPr>
              <a:t>4       0  </a:t>
            </a:r>
            <a:endParaRPr lang="en-US" sz="2200" kern="100" dirty="0">
              <a:effectLst/>
              <a:latin typeface="Aptos" panose="020B0004020202020204" pitchFamily="34" charset="0"/>
              <a:ea typeface="Aptos" panose="020B0004020202020204" pitchFamily="34" charset="0"/>
              <a:cs typeface="Arial" panose="020B0604020202020204" pitchFamily="34" charset="0"/>
            </a:endParaRPr>
          </a:p>
          <a:p>
            <a:pPr>
              <a:lnSpc>
                <a:spcPct val="115000"/>
              </a:lnSpc>
              <a:spcAft>
                <a:spcPts val="800"/>
              </a:spcAft>
              <a:buNone/>
            </a:pPr>
            <a:r>
              <a:rPr lang="en-US" sz="2200" kern="0" dirty="0">
                <a:solidFill>
                  <a:srgbClr val="000000"/>
                </a:solidFill>
                <a:effectLst/>
                <a:latin typeface="Consolas" panose="020B0609020204030204" pitchFamily="49" charset="0"/>
                <a:ea typeface="Times New Roman" panose="02020603050405020304" pitchFamily="18" charset="0"/>
                <a:cs typeface="Times New Roman" panose="02020603050405020304" pitchFamily="18" charset="0"/>
              </a:rPr>
              <a:t> </a:t>
            </a:r>
            <a:endParaRPr lang="en-US" sz="2200" kern="100" dirty="0">
              <a:effectLst/>
              <a:latin typeface="Aptos" panose="020B0004020202020204" pitchFamily="34" charset="0"/>
              <a:ea typeface="Aptos" panose="020B0004020202020204" pitchFamily="34" charset="0"/>
              <a:cs typeface="Arial" panose="020B0604020202020204" pitchFamily="34" charset="0"/>
            </a:endParaRPr>
          </a:p>
        </p:txBody>
      </p:sp>
      <p:sp>
        <p:nvSpPr>
          <p:cNvPr id="10" name="Rectangle 1">
            <a:extLst>
              <a:ext uri="{FF2B5EF4-FFF2-40B4-BE49-F238E27FC236}">
                <a16:creationId xmlns:a16="http://schemas.microsoft.com/office/drawing/2014/main" id="{DABB17E8-9A65-4027-FA21-2DEF1BED615E}"/>
              </a:ext>
            </a:extLst>
          </p:cNvPr>
          <p:cNvSpPr>
            <a:spLocks noChangeArrowheads="1"/>
          </p:cNvSpPr>
          <p:nvPr/>
        </p:nvSpPr>
        <p:spPr bwMode="auto">
          <a:xfrm>
            <a:off x="2623129" y="6154896"/>
            <a:ext cx="9568869" cy="39035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457200" marR="0" lvl="0" indent="-457200" algn="l"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2800" b="0" i="0" u="none" strike="noStrike" cap="none" normalizeH="0" baseline="0" dirty="0">
                <a:ln>
                  <a:noFill/>
                </a:ln>
                <a:solidFill>
                  <a:schemeClr val="tx1"/>
                </a:solidFill>
                <a:effectLst/>
                <a:latin typeface="+mj-lt"/>
              </a:rPr>
              <a:t>The </a:t>
            </a:r>
            <a:r>
              <a:rPr kumimoji="0" lang="en-US" altLang="en-US" sz="2800" b="1" i="0" u="none" strike="noStrike" cap="none" normalizeH="0" baseline="0" dirty="0">
                <a:ln>
                  <a:noFill/>
                </a:ln>
                <a:solidFill>
                  <a:schemeClr val="tx1"/>
                </a:solidFill>
                <a:effectLst/>
                <a:latin typeface="+mj-lt"/>
              </a:rPr>
              <a:t>dataset shape</a:t>
            </a:r>
            <a:r>
              <a:rPr kumimoji="0" lang="en-US" altLang="en-US" sz="2800" b="0" i="0" u="none" strike="noStrike" cap="none" normalizeH="0" baseline="0" dirty="0">
                <a:ln>
                  <a:noFill/>
                </a:ln>
                <a:solidFill>
                  <a:schemeClr val="tx1"/>
                </a:solidFill>
                <a:effectLst/>
                <a:latin typeface="+mj-lt"/>
              </a:rPr>
              <a:t> (150, 5) means there are 150 rows (samples) and 5 columns (4 features + 1 target label).</a:t>
            </a:r>
          </a:p>
          <a:p>
            <a:pPr marL="457200" marR="0" lvl="0" indent="-457200" algn="l"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2800" b="0" i="0" u="none" strike="noStrike" cap="none" normalizeH="0" baseline="0" dirty="0">
                <a:ln>
                  <a:noFill/>
                </a:ln>
                <a:solidFill>
                  <a:schemeClr val="tx1"/>
                </a:solidFill>
                <a:effectLst/>
                <a:latin typeface="+mj-lt"/>
              </a:rPr>
              <a:t>The </a:t>
            </a:r>
            <a:r>
              <a:rPr kumimoji="0" lang="en-US" altLang="en-US" sz="2800" b="1" i="0" u="none" strike="noStrike" cap="none" normalizeH="0" baseline="0" dirty="0">
                <a:ln>
                  <a:noFill/>
                </a:ln>
                <a:solidFill>
                  <a:schemeClr val="tx1"/>
                </a:solidFill>
                <a:effectLst/>
                <a:latin typeface="+mj-lt"/>
              </a:rPr>
              <a:t>statistics table</a:t>
            </a:r>
            <a:r>
              <a:rPr kumimoji="0" lang="en-US" altLang="en-US" sz="2800" b="0" i="0" u="none" strike="noStrike" cap="none" normalizeH="0" baseline="0" dirty="0">
                <a:ln>
                  <a:noFill/>
                </a:ln>
                <a:solidFill>
                  <a:schemeClr val="tx1"/>
                </a:solidFill>
                <a:effectLst/>
                <a:latin typeface="+mj-lt"/>
              </a:rPr>
              <a:t> shows basic descriptive measures (count, mean, standard deviation, min, quartiles, max) for each numeric column, </a:t>
            </a:r>
            <a:r>
              <a:rPr kumimoji="0" lang="en-US" altLang="en-US" sz="2800" b="0" i="0" u="none" strike="noStrike" cap="none" normalizeH="0" baseline="0" dirty="0" err="1">
                <a:ln>
                  <a:noFill/>
                </a:ln>
                <a:solidFill>
                  <a:schemeClr val="tx1"/>
                </a:solidFill>
                <a:effectLst/>
                <a:latin typeface="+mj-lt"/>
              </a:rPr>
              <a:t>summarising</a:t>
            </a:r>
            <a:r>
              <a:rPr kumimoji="0" lang="en-US" altLang="en-US" sz="2800" b="0" i="0" u="none" strike="noStrike" cap="none" normalizeH="0" baseline="0" dirty="0">
                <a:ln>
                  <a:noFill/>
                </a:ln>
                <a:solidFill>
                  <a:schemeClr val="tx1"/>
                </a:solidFill>
                <a:effectLst/>
                <a:latin typeface="+mj-lt"/>
              </a:rPr>
              <a:t> the distribution of feature values.</a:t>
            </a:r>
          </a:p>
        </p:txBody>
      </p:sp>
      <p:sp>
        <p:nvSpPr>
          <p:cNvPr id="11" name="TextBox 10">
            <a:extLst>
              <a:ext uri="{FF2B5EF4-FFF2-40B4-BE49-F238E27FC236}">
                <a16:creationId xmlns:a16="http://schemas.microsoft.com/office/drawing/2014/main" id="{5FF278A2-AA62-1EFA-C1D5-B3A63A574B4B}"/>
              </a:ext>
            </a:extLst>
          </p:cNvPr>
          <p:cNvSpPr txBox="1"/>
          <p:nvPr/>
        </p:nvSpPr>
        <p:spPr>
          <a:xfrm>
            <a:off x="228600" y="181719"/>
            <a:ext cx="8458200" cy="523220"/>
          </a:xfrm>
          <a:prstGeom prst="rect">
            <a:avLst/>
          </a:prstGeom>
          <a:noFill/>
        </p:spPr>
        <p:txBody>
          <a:bodyPr wrap="square">
            <a:spAutoFit/>
          </a:bodyPr>
          <a:lstStyle/>
          <a:p>
            <a:r>
              <a:rPr lang="en-US" sz="2800" dirty="0">
                <a:latin typeface="+mj-lt"/>
              </a:rPr>
              <a:t>1. Data Description: </a:t>
            </a:r>
            <a:r>
              <a:rPr lang="en-US" sz="2800" dirty="0" err="1">
                <a:latin typeface="+mj-lt"/>
              </a:rPr>
              <a:t>Iris_data_summary</a:t>
            </a:r>
            <a:r>
              <a:rPr lang="en-US" sz="2800" dirty="0">
                <a:latin typeface="+mj-lt"/>
              </a:rPr>
              <a:t> python code</a:t>
            </a:r>
            <a:endParaRPr lang="en-AU" sz="2800" dirty="0">
              <a:latin typeface="+mj-lt"/>
            </a:endParaRPr>
          </a:p>
        </p:txBody>
      </p:sp>
    </p:spTree>
    <p:extLst>
      <p:ext uri="{BB962C8B-B14F-4D97-AF65-F5344CB8AC3E}">
        <p14:creationId xmlns:p14="http://schemas.microsoft.com/office/powerpoint/2010/main" val="286877607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8C9BED12-DFB2-8FFD-52B8-4C2C96B27624}"/>
            </a:ext>
          </a:extLst>
        </p:cNvPr>
        <p:cNvGrpSpPr/>
        <p:nvPr/>
      </p:nvGrpSpPr>
      <p:grpSpPr>
        <a:xfrm>
          <a:off x="0" y="0"/>
          <a:ext cx="0" cy="0"/>
          <a:chOff x="0" y="0"/>
          <a:chExt cx="0" cy="0"/>
        </a:xfrm>
      </p:grpSpPr>
      <p:pic>
        <p:nvPicPr>
          <p:cNvPr id="3" name="object 3">
            <a:extLst>
              <a:ext uri="{FF2B5EF4-FFF2-40B4-BE49-F238E27FC236}">
                <a16:creationId xmlns:a16="http://schemas.microsoft.com/office/drawing/2014/main" id="{3303A996-C051-E7ED-61A7-3A80AC83B41B}"/>
              </a:ext>
            </a:extLst>
          </p:cNvPr>
          <p:cNvPicPr/>
          <p:nvPr/>
        </p:nvPicPr>
        <p:blipFill>
          <a:blip r:embed="rId2" cstate="print"/>
          <a:stretch>
            <a:fillRect/>
          </a:stretch>
        </p:blipFill>
        <p:spPr>
          <a:xfrm>
            <a:off x="10261092" y="0"/>
            <a:ext cx="1930907" cy="1901952"/>
          </a:xfrm>
          <a:prstGeom prst="rect">
            <a:avLst/>
          </a:prstGeom>
        </p:spPr>
      </p:pic>
      <p:sp>
        <p:nvSpPr>
          <p:cNvPr id="6" name="Rectangle 1">
            <a:extLst>
              <a:ext uri="{FF2B5EF4-FFF2-40B4-BE49-F238E27FC236}">
                <a16:creationId xmlns:a16="http://schemas.microsoft.com/office/drawing/2014/main" id="{7D285328-07B4-59B3-5403-96D1D929272B}"/>
              </a:ext>
            </a:extLst>
          </p:cNvPr>
          <p:cNvSpPr>
            <a:spLocks noChangeArrowheads="1"/>
          </p:cNvSpPr>
          <p:nvPr/>
        </p:nvSpPr>
        <p:spPr bwMode="auto">
          <a:xfrm>
            <a:off x="1493838" y="2886681"/>
            <a:ext cx="184731" cy="55399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200" b="1" i="0" u="none" strike="noStrike" cap="none" normalizeH="0" baseline="0">
              <a:ln>
                <a:noFill/>
              </a:ln>
              <a:solidFill>
                <a:schemeClr val="tx1"/>
              </a:solidFill>
              <a:effectLst/>
              <a:latin typeface="+mj-lt"/>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a:ln>
                <a:noFill/>
              </a:ln>
              <a:solidFill>
                <a:schemeClr val="tx1"/>
              </a:solidFill>
              <a:effectLst/>
              <a:latin typeface="+mj-lt"/>
            </a:endParaRPr>
          </a:p>
        </p:txBody>
      </p:sp>
      <p:sp>
        <p:nvSpPr>
          <p:cNvPr id="7" name="TextBox 6">
            <a:extLst>
              <a:ext uri="{FF2B5EF4-FFF2-40B4-BE49-F238E27FC236}">
                <a16:creationId xmlns:a16="http://schemas.microsoft.com/office/drawing/2014/main" id="{610FB4D4-5C93-0F90-FAE7-81F555A55A8C}"/>
              </a:ext>
            </a:extLst>
          </p:cNvPr>
          <p:cNvSpPr txBox="1"/>
          <p:nvPr/>
        </p:nvSpPr>
        <p:spPr>
          <a:xfrm>
            <a:off x="-15240" y="1847014"/>
            <a:ext cx="12191998" cy="6364371"/>
          </a:xfrm>
          <a:prstGeom prst="rect">
            <a:avLst/>
          </a:prstGeom>
          <a:solidFill>
            <a:schemeClr val="bg1"/>
          </a:solidFill>
        </p:spPr>
        <p:txBody>
          <a:bodyPr wrap="square">
            <a:spAutoFit/>
          </a:bodyPr>
          <a:lstStyle/>
          <a:p>
            <a:pPr>
              <a:lnSpc>
                <a:spcPct val="115000"/>
              </a:lnSpc>
              <a:spcAft>
                <a:spcPts val="800"/>
              </a:spcAft>
              <a:buNone/>
            </a:pPr>
            <a:r>
              <a:rPr lang="en-US" sz="2200" kern="0" dirty="0">
                <a:solidFill>
                  <a:srgbClr val="000000"/>
                </a:solidFill>
                <a:effectLst/>
                <a:latin typeface="Consolas" panose="020B0609020204030204" pitchFamily="49" charset="0"/>
                <a:ea typeface="Times New Roman" panose="02020603050405020304" pitchFamily="18" charset="0"/>
                <a:cs typeface="Times New Roman" panose="02020603050405020304" pitchFamily="18" charset="0"/>
              </a:rPr>
              <a:t>Basic statistics:</a:t>
            </a:r>
            <a:endParaRPr lang="en-US" sz="2200" kern="100" dirty="0">
              <a:effectLst/>
              <a:latin typeface="Aptos" panose="020B0004020202020204" pitchFamily="34" charset="0"/>
              <a:ea typeface="Aptos" panose="020B0004020202020204" pitchFamily="34" charset="0"/>
              <a:cs typeface="Arial" panose="020B0604020202020204" pitchFamily="34" charset="0"/>
            </a:endParaRPr>
          </a:p>
          <a:p>
            <a:pPr>
              <a:lnSpc>
                <a:spcPct val="115000"/>
              </a:lnSpc>
              <a:spcAft>
                <a:spcPts val="800"/>
              </a:spcAft>
              <a:buNone/>
            </a:pPr>
            <a:r>
              <a:rPr lang="en-US" sz="2200" kern="0" dirty="0">
                <a:solidFill>
                  <a:srgbClr val="000000"/>
                </a:solidFill>
                <a:effectLst/>
                <a:latin typeface="Consolas" panose="020B0609020204030204" pitchFamily="49" charset="0"/>
                <a:ea typeface="Times New Roman" panose="02020603050405020304" pitchFamily="18" charset="0"/>
                <a:cs typeface="Times New Roman" panose="02020603050405020304" pitchFamily="18" charset="0"/>
              </a:rPr>
              <a:t>        sepal length (cm)  sepal width (cm)  petal length (cm)  \</a:t>
            </a:r>
            <a:endParaRPr lang="en-US" sz="2200" kern="100" dirty="0">
              <a:effectLst/>
              <a:latin typeface="Aptos" panose="020B0004020202020204" pitchFamily="34" charset="0"/>
              <a:ea typeface="Aptos" panose="020B0004020202020204" pitchFamily="34" charset="0"/>
              <a:cs typeface="Arial" panose="020B0604020202020204" pitchFamily="34" charset="0"/>
            </a:endParaRPr>
          </a:p>
          <a:p>
            <a:pPr>
              <a:lnSpc>
                <a:spcPct val="115000"/>
              </a:lnSpc>
              <a:spcAft>
                <a:spcPts val="800"/>
              </a:spcAft>
              <a:buNone/>
            </a:pPr>
            <a:r>
              <a:rPr lang="en-US" sz="2200" kern="0" dirty="0">
                <a:solidFill>
                  <a:srgbClr val="000000"/>
                </a:solidFill>
                <a:effectLst/>
                <a:latin typeface="Consolas" panose="020B0609020204030204" pitchFamily="49" charset="0"/>
                <a:ea typeface="Times New Roman" panose="02020603050405020304" pitchFamily="18" charset="0"/>
                <a:cs typeface="Times New Roman" panose="02020603050405020304" pitchFamily="18" charset="0"/>
              </a:rPr>
              <a:t>count         150.000000        150.000000         150.000000   </a:t>
            </a:r>
            <a:endParaRPr lang="en-US" sz="2200" kern="100" dirty="0">
              <a:effectLst/>
              <a:latin typeface="Aptos" panose="020B0004020202020204" pitchFamily="34" charset="0"/>
              <a:ea typeface="Aptos" panose="020B0004020202020204" pitchFamily="34" charset="0"/>
              <a:cs typeface="Arial" panose="020B0604020202020204" pitchFamily="34" charset="0"/>
            </a:endParaRPr>
          </a:p>
          <a:p>
            <a:pPr>
              <a:lnSpc>
                <a:spcPct val="115000"/>
              </a:lnSpc>
              <a:spcAft>
                <a:spcPts val="800"/>
              </a:spcAft>
              <a:buNone/>
            </a:pPr>
            <a:r>
              <a:rPr lang="en-US" sz="2200" kern="0" dirty="0">
                <a:solidFill>
                  <a:srgbClr val="000000"/>
                </a:solidFill>
                <a:effectLst/>
                <a:latin typeface="Consolas" panose="020B0609020204030204" pitchFamily="49" charset="0"/>
                <a:ea typeface="Times New Roman" panose="02020603050405020304" pitchFamily="18" charset="0"/>
                <a:cs typeface="Times New Roman" panose="02020603050405020304" pitchFamily="18" charset="0"/>
              </a:rPr>
              <a:t>mean            5.843333          3.057333           3.758000   </a:t>
            </a:r>
            <a:endParaRPr lang="en-US" sz="2200" kern="100" dirty="0">
              <a:effectLst/>
              <a:latin typeface="Aptos" panose="020B0004020202020204" pitchFamily="34" charset="0"/>
              <a:ea typeface="Aptos" panose="020B0004020202020204" pitchFamily="34" charset="0"/>
              <a:cs typeface="Arial" panose="020B0604020202020204" pitchFamily="34" charset="0"/>
            </a:endParaRPr>
          </a:p>
          <a:p>
            <a:pPr>
              <a:lnSpc>
                <a:spcPct val="115000"/>
              </a:lnSpc>
              <a:spcAft>
                <a:spcPts val="800"/>
              </a:spcAft>
              <a:buNone/>
            </a:pPr>
            <a:r>
              <a:rPr lang="en-US" sz="2200" kern="0" dirty="0">
                <a:solidFill>
                  <a:srgbClr val="000000"/>
                </a:solidFill>
                <a:effectLst/>
                <a:latin typeface="Consolas" panose="020B0609020204030204" pitchFamily="49" charset="0"/>
                <a:ea typeface="Times New Roman" panose="02020603050405020304" pitchFamily="18" charset="0"/>
                <a:cs typeface="Times New Roman" panose="02020603050405020304" pitchFamily="18" charset="0"/>
              </a:rPr>
              <a:t>std             0.828066          0.435866           1.765298   </a:t>
            </a:r>
            <a:endParaRPr lang="en-US" sz="2200" kern="100" dirty="0">
              <a:effectLst/>
              <a:latin typeface="Aptos" panose="020B0004020202020204" pitchFamily="34" charset="0"/>
              <a:ea typeface="Aptos" panose="020B0004020202020204" pitchFamily="34" charset="0"/>
              <a:cs typeface="Arial" panose="020B0604020202020204" pitchFamily="34" charset="0"/>
            </a:endParaRPr>
          </a:p>
          <a:p>
            <a:pPr>
              <a:lnSpc>
                <a:spcPct val="115000"/>
              </a:lnSpc>
              <a:spcAft>
                <a:spcPts val="800"/>
              </a:spcAft>
              <a:buNone/>
            </a:pPr>
            <a:r>
              <a:rPr lang="en-US" sz="2200" kern="0" dirty="0">
                <a:solidFill>
                  <a:srgbClr val="000000"/>
                </a:solidFill>
                <a:effectLst/>
                <a:latin typeface="Consolas" panose="020B0609020204030204" pitchFamily="49" charset="0"/>
                <a:ea typeface="Times New Roman" panose="02020603050405020304" pitchFamily="18" charset="0"/>
                <a:cs typeface="Times New Roman" panose="02020603050405020304" pitchFamily="18" charset="0"/>
              </a:rPr>
              <a:t>min             4.300000          2.000000           1.000000   </a:t>
            </a:r>
            <a:endParaRPr lang="en-US" sz="2200" kern="100" dirty="0">
              <a:effectLst/>
              <a:latin typeface="Aptos" panose="020B0004020202020204" pitchFamily="34" charset="0"/>
              <a:ea typeface="Aptos" panose="020B0004020202020204" pitchFamily="34" charset="0"/>
              <a:cs typeface="Arial" panose="020B0604020202020204" pitchFamily="34" charset="0"/>
            </a:endParaRPr>
          </a:p>
          <a:p>
            <a:pPr>
              <a:lnSpc>
                <a:spcPct val="115000"/>
              </a:lnSpc>
              <a:spcAft>
                <a:spcPts val="800"/>
              </a:spcAft>
              <a:buNone/>
            </a:pPr>
            <a:r>
              <a:rPr lang="en-US" sz="2200" kern="0" dirty="0">
                <a:solidFill>
                  <a:srgbClr val="000000"/>
                </a:solidFill>
                <a:effectLst/>
                <a:latin typeface="Consolas" panose="020B0609020204030204" pitchFamily="49" charset="0"/>
                <a:ea typeface="Times New Roman" panose="02020603050405020304" pitchFamily="18" charset="0"/>
                <a:cs typeface="Times New Roman" panose="02020603050405020304" pitchFamily="18" charset="0"/>
              </a:rPr>
              <a:t>25%             5.100000          2.800000           1.600000   </a:t>
            </a:r>
            <a:endParaRPr lang="en-US" sz="2200" kern="100" dirty="0">
              <a:effectLst/>
              <a:latin typeface="Aptos" panose="020B0004020202020204" pitchFamily="34" charset="0"/>
              <a:ea typeface="Aptos" panose="020B0004020202020204" pitchFamily="34" charset="0"/>
              <a:cs typeface="Arial" panose="020B0604020202020204" pitchFamily="34" charset="0"/>
            </a:endParaRPr>
          </a:p>
          <a:p>
            <a:pPr>
              <a:lnSpc>
                <a:spcPct val="115000"/>
              </a:lnSpc>
              <a:spcAft>
                <a:spcPts val="800"/>
              </a:spcAft>
              <a:buNone/>
            </a:pPr>
            <a:r>
              <a:rPr lang="en-US" sz="2200" kern="0" dirty="0">
                <a:solidFill>
                  <a:srgbClr val="000000"/>
                </a:solidFill>
                <a:effectLst/>
                <a:latin typeface="Consolas" panose="020B0609020204030204" pitchFamily="49" charset="0"/>
                <a:ea typeface="Times New Roman" panose="02020603050405020304" pitchFamily="18" charset="0"/>
                <a:cs typeface="Times New Roman" panose="02020603050405020304" pitchFamily="18" charset="0"/>
              </a:rPr>
              <a:t>50%             5.800000          3.000000           4.350000   </a:t>
            </a:r>
            <a:endParaRPr lang="en-US" sz="2200" kern="100" dirty="0">
              <a:effectLst/>
              <a:latin typeface="Aptos" panose="020B0004020202020204" pitchFamily="34" charset="0"/>
              <a:ea typeface="Aptos" panose="020B0004020202020204" pitchFamily="34" charset="0"/>
              <a:cs typeface="Arial" panose="020B0604020202020204" pitchFamily="34" charset="0"/>
            </a:endParaRPr>
          </a:p>
          <a:p>
            <a:pPr>
              <a:lnSpc>
                <a:spcPct val="115000"/>
              </a:lnSpc>
              <a:spcAft>
                <a:spcPts val="800"/>
              </a:spcAft>
              <a:buNone/>
            </a:pPr>
            <a:r>
              <a:rPr lang="en-US" sz="2200" kern="0" dirty="0">
                <a:solidFill>
                  <a:srgbClr val="000000"/>
                </a:solidFill>
                <a:effectLst/>
                <a:latin typeface="Consolas" panose="020B0609020204030204" pitchFamily="49" charset="0"/>
                <a:ea typeface="Times New Roman" panose="02020603050405020304" pitchFamily="18" charset="0"/>
                <a:cs typeface="Times New Roman" panose="02020603050405020304" pitchFamily="18" charset="0"/>
              </a:rPr>
              <a:t>...</a:t>
            </a:r>
            <a:endParaRPr lang="en-US" sz="2200" kern="100" dirty="0">
              <a:effectLst/>
              <a:latin typeface="Aptos" panose="020B0004020202020204" pitchFamily="34" charset="0"/>
              <a:ea typeface="Aptos" panose="020B0004020202020204" pitchFamily="34" charset="0"/>
              <a:cs typeface="Arial" panose="020B0604020202020204" pitchFamily="34" charset="0"/>
            </a:endParaRPr>
          </a:p>
          <a:p>
            <a:pPr>
              <a:lnSpc>
                <a:spcPct val="115000"/>
              </a:lnSpc>
              <a:spcAft>
                <a:spcPts val="800"/>
              </a:spcAft>
              <a:buNone/>
            </a:pPr>
            <a:r>
              <a:rPr lang="en-US" sz="2200" kern="0" dirty="0">
                <a:solidFill>
                  <a:srgbClr val="000000"/>
                </a:solidFill>
                <a:effectLst/>
                <a:latin typeface="Consolas" panose="020B0609020204030204" pitchFamily="49" charset="0"/>
                <a:ea typeface="Times New Roman" panose="02020603050405020304" pitchFamily="18" charset="0"/>
                <a:cs typeface="Times New Roman" panose="02020603050405020304" pitchFamily="18" charset="0"/>
              </a:rPr>
              <a:t>25%            0.300000    0.000000  </a:t>
            </a:r>
            <a:endParaRPr lang="en-US" sz="2200" kern="100" dirty="0">
              <a:effectLst/>
              <a:latin typeface="Aptos" panose="020B0004020202020204" pitchFamily="34" charset="0"/>
              <a:ea typeface="Aptos" panose="020B0004020202020204" pitchFamily="34" charset="0"/>
              <a:cs typeface="Arial" panose="020B0604020202020204" pitchFamily="34" charset="0"/>
            </a:endParaRPr>
          </a:p>
          <a:p>
            <a:pPr>
              <a:lnSpc>
                <a:spcPct val="115000"/>
              </a:lnSpc>
              <a:spcAft>
                <a:spcPts val="800"/>
              </a:spcAft>
              <a:buNone/>
            </a:pPr>
            <a:r>
              <a:rPr lang="en-US" sz="2200" kern="0" dirty="0">
                <a:solidFill>
                  <a:srgbClr val="000000"/>
                </a:solidFill>
                <a:effectLst/>
                <a:latin typeface="Consolas" panose="020B0609020204030204" pitchFamily="49" charset="0"/>
                <a:ea typeface="Times New Roman" panose="02020603050405020304" pitchFamily="18" charset="0"/>
                <a:cs typeface="Times New Roman" panose="02020603050405020304" pitchFamily="18" charset="0"/>
              </a:rPr>
              <a:t>50%            1.300000    1.000000  </a:t>
            </a:r>
            <a:endParaRPr lang="en-US" sz="2200" kern="100" dirty="0">
              <a:effectLst/>
              <a:latin typeface="Aptos" panose="020B0004020202020204" pitchFamily="34" charset="0"/>
              <a:ea typeface="Aptos" panose="020B0004020202020204" pitchFamily="34" charset="0"/>
              <a:cs typeface="Arial" panose="020B0604020202020204" pitchFamily="34" charset="0"/>
            </a:endParaRPr>
          </a:p>
          <a:p>
            <a:pPr>
              <a:lnSpc>
                <a:spcPct val="115000"/>
              </a:lnSpc>
              <a:spcAft>
                <a:spcPts val="800"/>
              </a:spcAft>
              <a:buNone/>
            </a:pPr>
            <a:r>
              <a:rPr lang="en-US" sz="2200" kern="0" dirty="0">
                <a:solidFill>
                  <a:srgbClr val="000000"/>
                </a:solidFill>
                <a:effectLst/>
                <a:latin typeface="Consolas" panose="020B0609020204030204" pitchFamily="49" charset="0"/>
                <a:ea typeface="Times New Roman" panose="02020603050405020304" pitchFamily="18" charset="0"/>
                <a:cs typeface="Times New Roman" panose="02020603050405020304" pitchFamily="18" charset="0"/>
              </a:rPr>
              <a:t>75%            1.800000    2.000000  </a:t>
            </a:r>
            <a:endParaRPr lang="en-US" sz="2200" kern="100" dirty="0">
              <a:effectLst/>
              <a:latin typeface="Aptos" panose="020B0004020202020204" pitchFamily="34" charset="0"/>
              <a:ea typeface="Aptos" panose="020B0004020202020204" pitchFamily="34" charset="0"/>
              <a:cs typeface="Arial" panose="020B0604020202020204" pitchFamily="34" charset="0"/>
            </a:endParaRPr>
          </a:p>
          <a:p>
            <a:pPr>
              <a:lnSpc>
                <a:spcPct val="115000"/>
              </a:lnSpc>
              <a:spcAft>
                <a:spcPts val="800"/>
              </a:spcAft>
              <a:buNone/>
            </a:pPr>
            <a:r>
              <a:rPr lang="en-US" sz="2200" kern="0" dirty="0">
                <a:solidFill>
                  <a:srgbClr val="000000"/>
                </a:solidFill>
                <a:effectLst/>
                <a:latin typeface="Consolas" panose="020B0609020204030204" pitchFamily="49" charset="0"/>
                <a:ea typeface="Times New Roman" panose="02020603050405020304" pitchFamily="18" charset="0"/>
                <a:cs typeface="Times New Roman" panose="02020603050405020304" pitchFamily="18" charset="0"/>
              </a:rPr>
              <a:t>max            2.500000    2.000000  </a:t>
            </a:r>
            <a:endParaRPr lang="en-US" sz="2200" kern="100" dirty="0">
              <a:effectLst/>
              <a:latin typeface="Aptos" panose="020B0004020202020204" pitchFamily="34" charset="0"/>
              <a:ea typeface="Aptos" panose="020B0004020202020204" pitchFamily="34" charset="0"/>
              <a:cs typeface="Arial" panose="020B0604020202020204" pitchFamily="34" charset="0"/>
            </a:endParaRPr>
          </a:p>
        </p:txBody>
      </p:sp>
      <p:sp>
        <p:nvSpPr>
          <p:cNvPr id="2" name="TextBox 1">
            <a:extLst>
              <a:ext uri="{FF2B5EF4-FFF2-40B4-BE49-F238E27FC236}">
                <a16:creationId xmlns:a16="http://schemas.microsoft.com/office/drawing/2014/main" id="{431A6BF6-14DF-759C-5644-8C1F56EA8AD7}"/>
              </a:ext>
            </a:extLst>
          </p:cNvPr>
          <p:cNvSpPr txBox="1"/>
          <p:nvPr/>
        </p:nvSpPr>
        <p:spPr>
          <a:xfrm>
            <a:off x="228600" y="181719"/>
            <a:ext cx="8458200" cy="523220"/>
          </a:xfrm>
          <a:prstGeom prst="rect">
            <a:avLst/>
          </a:prstGeom>
          <a:noFill/>
        </p:spPr>
        <p:txBody>
          <a:bodyPr wrap="square">
            <a:spAutoFit/>
          </a:bodyPr>
          <a:lstStyle/>
          <a:p>
            <a:r>
              <a:rPr lang="en-US" sz="2800" dirty="0">
                <a:latin typeface="+mj-lt"/>
              </a:rPr>
              <a:t>1. Data Description: </a:t>
            </a:r>
            <a:r>
              <a:rPr lang="en-US" sz="2800" dirty="0" err="1">
                <a:latin typeface="+mj-lt"/>
              </a:rPr>
              <a:t>Iris_data_summary</a:t>
            </a:r>
            <a:r>
              <a:rPr lang="en-US" sz="2800" dirty="0">
                <a:latin typeface="+mj-lt"/>
              </a:rPr>
              <a:t> python code</a:t>
            </a:r>
            <a:endParaRPr lang="en-AU" sz="2800" dirty="0">
              <a:latin typeface="+mj-lt"/>
            </a:endParaRPr>
          </a:p>
        </p:txBody>
      </p:sp>
    </p:spTree>
    <p:extLst>
      <p:ext uri="{BB962C8B-B14F-4D97-AF65-F5344CB8AC3E}">
        <p14:creationId xmlns:p14="http://schemas.microsoft.com/office/powerpoint/2010/main" val="173306719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FF34A62E-4FD0-1CFA-7816-4BAB410AE773}"/>
            </a:ext>
          </a:extLst>
        </p:cNvPr>
        <p:cNvGrpSpPr/>
        <p:nvPr/>
      </p:nvGrpSpPr>
      <p:grpSpPr>
        <a:xfrm>
          <a:off x="0" y="0"/>
          <a:ext cx="0" cy="0"/>
          <a:chOff x="0" y="0"/>
          <a:chExt cx="0" cy="0"/>
        </a:xfrm>
      </p:grpSpPr>
      <p:sp>
        <p:nvSpPr>
          <p:cNvPr id="10" name="Rectangle 1">
            <a:extLst>
              <a:ext uri="{FF2B5EF4-FFF2-40B4-BE49-F238E27FC236}">
                <a16:creationId xmlns:a16="http://schemas.microsoft.com/office/drawing/2014/main" id="{30E43D8B-4B62-CCC4-BBD3-FE8755A851D8}"/>
              </a:ext>
            </a:extLst>
          </p:cNvPr>
          <p:cNvSpPr>
            <a:spLocks noChangeArrowheads="1"/>
          </p:cNvSpPr>
          <p:nvPr/>
        </p:nvSpPr>
        <p:spPr bwMode="auto">
          <a:xfrm>
            <a:off x="0" y="7048921"/>
            <a:ext cx="12192000" cy="3257174"/>
          </a:xfrm>
          <a:prstGeom prst="rect">
            <a:avLst/>
          </a:prstGeom>
          <a:solidFill>
            <a:schemeClr val="bg1"/>
          </a:solidFill>
          <a:ln>
            <a:noFill/>
          </a:ln>
          <a:effec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50000"/>
              </a:lnSpc>
              <a:spcBef>
                <a:spcPct val="0"/>
              </a:spcBef>
              <a:spcAft>
                <a:spcPct val="0"/>
              </a:spcAft>
              <a:buClrTx/>
              <a:buSzTx/>
              <a:buFontTx/>
              <a:buNone/>
              <a:tabLst/>
            </a:pPr>
            <a:r>
              <a:rPr kumimoji="0" lang="en-US" altLang="en-US" sz="2800" b="0" i="0" u="none" strike="noStrike" cap="none" normalizeH="0" baseline="0" dirty="0">
                <a:ln>
                  <a:noFill/>
                </a:ln>
                <a:solidFill>
                  <a:schemeClr val="tx1"/>
                </a:solidFill>
                <a:effectLst/>
                <a:latin typeface="+mj-lt"/>
              </a:rPr>
              <a:t>This script loads the Iris dataset, splits it into training and test sets, and trains a logistic regression model.</a:t>
            </a:r>
            <a:br>
              <a:rPr kumimoji="0" lang="en-US" altLang="en-US" sz="2800" b="0" i="0" u="none" strike="noStrike" cap="none" normalizeH="0" baseline="0" dirty="0">
                <a:ln>
                  <a:noFill/>
                </a:ln>
                <a:solidFill>
                  <a:schemeClr val="tx1"/>
                </a:solidFill>
                <a:effectLst/>
                <a:latin typeface="+mj-lt"/>
              </a:rPr>
            </a:br>
            <a:r>
              <a:rPr kumimoji="0" lang="en-US" altLang="en-US" sz="2800" b="0" i="0" u="none" strike="noStrike" cap="none" normalizeH="0" baseline="0" dirty="0">
                <a:ln>
                  <a:noFill/>
                </a:ln>
                <a:solidFill>
                  <a:schemeClr val="tx1"/>
                </a:solidFill>
                <a:effectLst/>
                <a:latin typeface="+mj-lt"/>
              </a:rPr>
              <a:t>It then saves the trained model as a .</a:t>
            </a:r>
            <a:r>
              <a:rPr kumimoji="0" lang="en-US" altLang="en-US" sz="2800" b="0" i="0" u="none" strike="noStrike" cap="none" normalizeH="0" baseline="0" dirty="0" err="1">
                <a:ln>
                  <a:noFill/>
                </a:ln>
                <a:solidFill>
                  <a:schemeClr val="tx1"/>
                </a:solidFill>
                <a:effectLst/>
                <a:latin typeface="+mj-lt"/>
              </a:rPr>
              <a:t>pkl</a:t>
            </a:r>
            <a:r>
              <a:rPr kumimoji="0" lang="en-US" altLang="en-US" sz="2800" b="0" i="0" u="none" strike="noStrike" cap="none" normalizeH="0" baseline="0" dirty="0">
                <a:ln>
                  <a:noFill/>
                </a:ln>
                <a:solidFill>
                  <a:schemeClr val="tx1"/>
                </a:solidFill>
                <a:effectLst/>
                <a:latin typeface="+mj-lt"/>
              </a:rPr>
              <a:t> file in the outputs folder (Azure ML format).</a:t>
            </a:r>
            <a:br>
              <a:rPr kumimoji="0" lang="en-US" altLang="en-US" sz="2800" b="0" i="0" u="none" strike="noStrike" cap="none" normalizeH="0" baseline="0" dirty="0">
                <a:ln>
                  <a:noFill/>
                </a:ln>
                <a:solidFill>
                  <a:schemeClr val="tx1"/>
                </a:solidFill>
                <a:effectLst/>
                <a:latin typeface="+mj-lt"/>
              </a:rPr>
            </a:br>
            <a:r>
              <a:rPr kumimoji="0" lang="en-US" altLang="en-US" sz="2800" b="0" i="0" u="none" strike="noStrike" cap="none" normalizeH="0" baseline="0" dirty="0">
                <a:ln>
                  <a:noFill/>
                </a:ln>
                <a:solidFill>
                  <a:schemeClr val="tx1"/>
                </a:solidFill>
                <a:effectLst/>
                <a:latin typeface="+mj-lt"/>
              </a:rPr>
              <a:t>Finally, it prints a message confirming the model has been trained and saved. </a:t>
            </a:r>
          </a:p>
        </p:txBody>
      </p:sp>
      <p:pic>
        <p:nvPicPr>
          <p:cNvPr id="3" name="object 3">
            <a:extLst>
              <a:ext uri="{FF2B5EF4-FFF2-40B4-BE49-F238E27FC236}">
                <a16:creationId xmlns:a16="http://schemas.microsoft.com/office/drawing/2014/main" id="{E941BE2A-56DF-F794-4A96-E6EB78E53FBA}"/>
              </a:ext>
            </a:extLst>
          </p:cNvPr>
          <p:cNvPicPr/>
          <p:nvPr/>
        </p:nvPicPr>
        <p:blipFill>
          <a:blip r:embed="rId2" cstate="print"/>
          <a:stretch>
            <a:fillRect/>
          </a:stretch>
        </p:blipFill>
        <p:spPr>
          <a:xfrm>
            <a:off x="10261092" y="0"/>
            <a:ext cx="1930907" cy="1901952"/>
          </a:xfrm>
          <a:prstGeom prst="rect">
            <a:avLst/>
          </a:prstGeom>
        </p:spPr>
      </p:pic>
      <p:sp>
        <p:nvSpPr>
          <p:cNvPr id="6" name="Rectangle 1">
            <a:extLst>
              <a:ext uri="{FF2B5EF4-FFF2-40B4-BE49-F238E27FC236}">
                <a16:creationId xmlns:a16="http://schemas.microsoft.com/office/drawing/2014/main" id="{51C4D199-3DEF-FA8D-5201-3B4A9BBAAF69}"/>
              </a:ext>
            </a:extLst>
          </p:cNvPr>
          <p:cNvSpPr>
            <a:spLocks noChangeArrowheads="1"/>
          </p:cNvSpPr>
          <p:nvPr/>
        </p:nvSpPr>
        <p:spPr bwMode="auto">
          <a:xfrm>
            <a:off x="1493838" y="2886681"/>
            <a:ext cx="184731" cy="55399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200" b="1" i="0" u="none" strike="noStrike" cap="none" normalizeH="0" baseline="0">
              <a:ln>
                <a:noFill/>
              </a:ln>
              <a:solidFill>
                <a:schemeClr val="tx1"/>
              </a:solidFill>
              <a:effectLst/>
              <a:latin typeface="+mj-lt"/>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a:ln>
                <a:noFill/>
              </a:ln>
              <a:solidFill>
                <a:schemeClr val="tx1"/>
              </a:solidFill>
              <a:effectLst/>
              <a:latin typeface="+mj-lt"/>
            </a:endParaRPr>
          </a:p>
        </p:txBody>
      </p:sp>
      <p:sp>
        <p:nvSpPr>
          <p:cNvPr id="2" name="TextBox 1">
            <a:extLst>
              <a:ext uri="{FF2B5EF4-FFF2-40B4-BE49-F238E27FC236}">
                <a16:creationId xmlns:a16="http://schemas.microsoft.com/office/drawing/2014/main" id="{3ABD232C-AB1C-19E2-B848-91C7B2D8833E}"/>
              </a:ext>
            </a:extLst>
          </p:cNvPr>
          <p:cNvSpPr txBox="1"/>
          <p:nvPr/>
        </p:nvSpPr>
        <p:spPr>
          <a:xfrm>
            <a:off x="228600" y="181718"/>
            <a:ext cx="2285999" cy="954107"/>
          </a:xfrm>
          <a:prstGeom prst="rect">
            <a:avLst/>
          </a:prstGeom>
          <a:noFill/>
        </p:spPr>
        <p:txBody>
          <a:bodyPr wrap="square">
            <a:spAutoFit/>
          </a:bodyPr>
          <a:lstStyle/>
          <a:p>
            <a:r>
              <a:rPr lang="fr-FR" sz="2800" dirty="0">
                <a:latin typeface="+mj-lt"/>
              </a:rPr>
              <a:t>2. Train &amp; Save a Model</a:t>
            </a:r>
            <a:endParaRPr lang="en-AU" sz="2800" dirty="0">
              <a:latin typeface="+mj-lt"/>
            </a:endParaRPr>
          </a:p>
        </p:txBody>
      </p:sp>
      <p:pic>
        <p:nvPicPr>
          <p:cNvPr id="9" name="Picture 8">
            <a:extLst>
              <a:ext uri="{FF2B5EF4-FFF2-40B4-BE49-F238E27FC236}">
                <a16:creationId xmlns:a16="http://schemas.microsoft.com/office/drawing/2014/main" id="{A96D6B8E-BE39-C596-26AD-F736792B501A}"/>
              </a:ext>
            </a:extLst>
          </p:cNvPr>
          <p:cNvPicPr>
            <a:picLocks noChangeAspect="1"/>
          </p:cNvPicPr>
          <p:nvPr/>
        </p:nvPicPr>
        <p:blipFill>
          <a:blip r:embed="rId3"/>
          <a:srcRect l="21250" t="14444" r="30000" b="20000"/>
          <a:stretch>
            <a:fillRect/>
          </a:stretch>
        </p:blipFill>
        <p:spPr>
          <a:xfrm>
            <a:off x="2514599" y="28406"/>
            <a:ext cx="9736311" cy="7364645"/>
          </a:xfrm>
          <a:prstGeom prst="rect">
            <a:avLst/>
          </a:prstGeom>
        </p:spPr>
      </p:pic>
    </p:spTree>
    <p:extLst>
      <p:ext uri="{BB962C8B-B14F-4D97-AF65-F5344CB8AC3E}">
        <p14:creationId xmlns:p14="http://schemas.microsoft.com/office/powerpoint/2010/main" val="351613084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62E4F10F-A245-A20B-F7AD-EFCCDD295852}"/>
            </a:ext>
          </a:extLst>
        </p:cNvPr>
        <p:cNvGrpSpPr/>
        <p:nvPr/>
      </p:nvGrpSpPr>
      <p:grpSpPr>
        <a:xfrm>
          <a:off x="0" y="0"/>
          <a:ext cx="0" cy="0"/>
          <a:chOff x="0" y="0"/>
          <a:chExt cx="0" cy="0"/>
        </a:xfrm>
      </p:grpSpPr>
      <p:pic>
        <p:nvPicPr>
          <p:cNvPr id="3" name="object 3">
            <a:extLst>
              <a:ext uri="{FF2B5EF4-FFF2-40B4-BE49-F238E27FC236}">
                <a16:creationId xmlns:a16="http://schemas.microsoft.com/office/drawing/2014/main" id="{82B3A228-245A-5295-2F71-1B2D5F2EFC04}"/>
              </a:ext>
            </a:extLst>
          </p:cNvPr>
          <p:cNvPicPr/>
          <p:nvPr/>
        </p:nvPicPr>
        <p:blipFill>
          <a:blip r:embed="rId2" cstate="print"/>
          <a:stretch>
            <a:fillRect/>
          </a:stretch>
        </p:blipFill>
        <p:spPr>
          <a:xfrm>
            <a:off x="10261092" y="0"/>
            <a:ext cx="1930907" cy="1901952"/>
          </a:xfrm>
          <a:prstGeom prst="rect">
            <a:avLst/>
          </a:prstGeom>
        </p:spPr>
      </p:pic>
      <p:sp>
        <p:nvSpPr>
          <p:cNvPr id="6" name="Rectangle 1">
            <a:extLst>
              <a:ext uri="{FF2B5EF4-FFF2-40B4-BE49-F238E27FC236}">
                <a16:creationId xmlns:a16="http://schemas.microsoft.com/office/drawing/2014/main" id="{F8B1FDC8-8605-0AFC-8C5A-3F1FEA4EA650}"/>
              </a:ext>
            </a:extLst>
          </p:cNvPr>
          <p:cNvSpPr>
            <a:spLocks noChangeArrowheads="1"/>
          </p:cNvSpPr>
          <p:nvPr/>
        </p:nvSpPr>
        <p:spPr bwMode="auto">
          <a:xfrm>
            <a:off x="1493838" y="2886681"/>
            <a:ext cx="184731" cy="55399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200" b="1" i="0" u="none" strike="noStrike" cap="none" normalizeH="0" baseline="0">
              <a:ln>
                <a:noFill/>
              </a:ln>
              <a:solidFill>
                <a:schemeClr val="tx1"/>
              </a:solidFill>
              <a:effectLst/>
              <a:latin typeface="+mj-lt"/>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a:ln>
                <a:noFill/>
              </a:ln>
              <a:solidFill>
                <a:schemeClr val="tx1"/>
              </a:solidFill>
              <a:effectLst/>
              <a:latin typeface="+mj-lt"/>
            </a:endParaRPr>
          </a:p>
        </p:txBody>
      </p:sp>
      <p:sp>
        <p:nvSpPr>
          <p:cNvPr id="2" name="TextBox 1">
            <a:extLst>
              <a:ext uri="{FF2B5EF4-FFF2-40B4-BE49-F238E27FC236}">
                <a16:creationId xmlns:a16="http://schemas.microsoft.com/office/drawing/2014/main" id="{5E04DF6B-8500-CD4C-6765-99AC962B3A34}"/>
              </a:ext>
            </a:extLst>
          </p:cNvPr>
          <p:cNvSpPr txBox="1"/>
          <p:nvPr/>
        </p:nvSpPr>
        <p:spPr>
          <a:xfrm>
            <a:off x="228600" y="181718"/>
            <a:ext cx="2285999" cy="954107"/>
          </a:xfrm>
          <a:prstGeom prst="rect">
            <a:avLst/>
          </a:prstGeom>
          <a:noFill/>
        </p:spPr>
        <p:txBody>
          <a:bodyPr wrap="square">
            <a:spAutoFit/>
          </a:bodyPr>
          <a:lstStyle/>
          <a:p>
            <a:r>
              <a:rPr lang="fr-FR" sz="2800" dirty="0">
                <a:latin typeface="+mj-lt"/>
              </a:rPr>
              <a:t>2. Train &amp; Save a Model</a:t>
            </a:r>
            <a:endParaRPr lang="en-AU" sz="2800" dirty="0">
              <a:latin typeface="+mj-lt"/>
            </a:endParaRPr>
          </a:p>
        </p:txBody>
      </p:sp>
      <p:pic>
        <p:nvPicPr>
          <p:cNvPr id="5" name="Picture 4">
            <a:extLst>
              <a:ext uri="{FF2B5EF4-FFF2-40B4-BE49-F238E27FC236}">
                <a16:creationId xmlns:a16="http://schemas.microsoft.com/office/drawing/2014/main" id="{3CAD9202-7631-E854-00BC-9E2F6552D119}"/>
              </a:ext>
            </a:extLst>
          </p:cNvPr>
          <p:cNvPicPr>
            <a:picLocks noChangeAspect="1"/>
          </p:cNvPicPr>
          <p:nvPr/>
        </p:nvPicPr>
        <p:blipFill>
          <a:blip r:embed="rId3"/>
          <a:srcRect l="14375" t="13333" r="26875" b="30000"/>
          <a:stretch>
            <a:fillRect/>
          </a:stretch>
        </p:blipFill>
        <p:spPr>
          <a:xfrm>
            <a:off x="381000" y="1295400"/>
            <a:ext cx="8763000" cy="4754394"/>
          </a:xfrm>
          <a:prstGeom prst="rect">
            <a:avLst/>
          </a:prstGeom>
        </p:spPr>
      </p:pic>
      <p:sp>
        <p:nvSpPr>
          <p:cNvPr id="7" name="Rectangle: Rounded Corners 6">
            <a:extLst>
              <a:ext uri="{FF2B5EF4-FFF2-40B4-BE49-F238E27FC236}">
                <a16:creationId xmlns:a16="http://schemas.microsoft.com/office/drawing/2014/main" id="{F80AF518-AF79-2984-1B24-28E461091B6C}"/>
              </a:ext>
            </a:extLst>
          </p:cNvPr>
          <p:cNvSpPr/>
          <p:nvPr/>
        </p:nvSpPr>
        <p:spPr>
          <a:xfrm>
            <a:off x="609600" y="1676400"/>
            <a:ext cx="6934200" cy="225552"/>
          </a:xfrm>
          <a:prstGeom prst="round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8" name="Rectangle 1">
            <a:extLst>
              <a:ext uri="{FF2B5EF4-FFF2-40B4-BE49-F238E27FC236}">
                <a16:creationId xmlns:a16="http://schemas.microsoft.com/office/drawing/2014/main" id="{7D3EFF09-07F5-9313-8396-DFF26CAFC461}"/>
              </a:ext>
            </a:extLst>
          </p:cNvPr>
          <p:cNvSpPr>
            <a:spLocks noChangeArrowheads="1"/>
          </p:cNvSpPr>
          <p:nvPr/>
        </p:nvSpPr>
        <p:spPr bwMode="auto">
          <a:xfrm>
            <a:off x="240890" y="6292126"/>
            <a:ext cx="11951109" cy="131818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50000"/>
              </a:lnSpc>
              <a:spcBef>
                <a:spcPct val="0"/>
              </a:spcBef>
              <a:spcAft>
                <a:spcPct val="0"/>
              </a:spcAft>
              <a:buClrTx/>
              <a:buSzTx/>
              <a:buFontTx/>
              <a:buNone/>
              <a:tabLst/>
            </a:pPr>
            <a:r>
              <a:rPr kumimoji="0" lang="en-US" altLang="en-US" sz="2800" b="0" i="0" u="none" strike="noStrike" cap="none" normalizeH="0" baseline="0" dirty="0">
                <a:ln>
                  <a:noFill/>
                </a:ln>
                <a:solidFill>
                  <a:schemeClr val="tx1"/>
                </a:solidFill>
                <a:effectLst/>
                <a:latin typeface="+mj-lt"/>
              </a:rPr>
              <a:t>If you ran it in </a:t>
            </a:r>
            <a:r>
              <a:rPr kumimoji="0" lang="en-US" altLang="en-US" sz="2800" b="1" i="0" u="none" strike="noStrike" cap="none" normalizeH="0" baseline="0" dirty="0" err="1">
                <a:ln>
                  <a:noFill/>
                </a:ln>
                <a:solidFill>
                  <a:schemeClr val="tx1"/>
                </a:solidFill>
                <a:effectLst/>
                <a:latin typeface="+mj-lt"/>
              </a:rPr>
              <a:t>Jupyter</a:t>
            </a:r>
            <a:r>
              <a:rPr kumimoji="0" lang="en-US" altLang="en-US" sz="2800" b="1" i="0" u="none" strike="noStrike" cap="none" normalizeH="0" baseline="0" dirty="0">
                <a:ln>
                  <a:noFill/>
                </a:ln>
                <a:solidFill>
                  <a:schemeClr val="tx1"/>
                </a:solidFill>
                <a:effectLst/>
                <a:latin typeface="+mj-lt"/>
              </a:rPr>
              <a:t> Notebook</a:t>
            </a:r>
            <a:r>
              <a:rPr kumimoji="0" lang="en-US" altLang="en-US" sz="2800" b="0" i="0" u="none" strike="noStrike" cap="none" normalizeH="0" baseline="0" dirty="0">
                <a:ln>
                  <a:noFill/>
                </a:ln>
                <a:solidFill>
                  <a:schemeClr val="tx1"/>
                </a:solidFill>
                <a:effectLst/>
                <a:latin typeface="+mj-lt"/>
              </a:rPr>
              <a:t> or </a:t>
            </a:r>
            <a:r>
              <a:rPr kumimoji="0" lang="en-US" altLang="en-US" sz="2800" b="1" i="0" u="none" strike="noStrike" cap="none" normalizeH="0" baseline="0" dirty="0">
                <a:ln>
                  <a:noFill/>
                </a:ln>
                <a:solidFill>
                  <a:schemeClr val="tx1"/>
                </a:solidFill>
                <a:effectLst/>
                <a:latin typeface="+mj-lt"/>
              </a:rPr>
              <a:t>Azure ML</a:t>
            </a:r>
            <a:r>
              <a:rPr kumimoji="0" lang="en-US" altLang="en-US" sz="2800" b="0" i="0" u="none" strike="noStrike" cap="none" normalizeH="0" baseline="0" dirty="0">
                <a:ln>
                  <a:noFill/>
                </a:ln>
                <a:solidFill>
                  <a:schemeClr val="tx1"/>
                </a:solidFill>
                <a:effectLst/>
                <a:latin typeface="+mj-lt"/>
              </a:rPr>
              <a:t>, the outputs folder will be relative to that environment’s working directory. </a:t>
            </a:r>
          </a:p>
        </p:txBody>
      </p:sp>
    </p:spTree>
    <p:extLst>
      <p:ext uri="{BB962C8B-B14F-4D97-AF65-F5344CB8AC3E}">
        <p14:creationId xmlns:p14="http://schemas.microsoft.com/office/powerpoint/2010/main" val="317803544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BA77BCB2-A39C-63C7-7BA6-66C2C5A1149E}"/>
            </a:ext>
          </a:extLst>
        </p:cNvPr>
        <p:cNvGrpSpPr/>
        <p:nvPr/>
      </p:nvGrpSpPr>
      <p:grpSpPr>
        <a:xfrm>
          <a:off x="0" y="0"/>
          <a:ext cx="0" cy="0"/>
          <a:chOff x="0" y="0"/>
          <a:chExt cx="0" cy="0"/>
        </a:xfrm>
      </p:grpSpPr>
      <p:pic>
        <p:nvPicPr>
          <p:cNvPr id="3" name="object 3">
            <a:extLst>
              <a:ext uri="{FF2B5EF4-FFF2-40B4-BE49-F238E27FC236}">
                <a16:creationId xmlns:a16="http://schemas.microsoft.com/office/drawing/2014/main" id="{949D7A46-889D-2726-7D52-911EAC64B13A}"/>
              </a:ext>
            </a:extLst>
          </p:cNvPr>
          <p:cNvPicPr/>
          <p:nvPr/>
        </p:nvPicPr>
        <p:blipFill>
          <a:blip r:embed="rId2" cstate="print"/>
          <a:stretch>
            <a:fillRect/>
          </a:stretch>
        </p:blipFill>
        <p:spPr>
          <a:xfrm>
            <a:off x="10261092" y="0"/>
            <a:ext cx="1930907" cy="1901952"/>
          </a:xfrm>
          <a:prstGeom prst="rect">
            <a:avLst/>
          </a:prstGeom>
        </p:spPr>
      </p:pic>
      <p:sp>
        <p:nvSpPr>
          <p:cNvPr id="6" name="Rectangle 1">
            <a:extLst>
              <a:ext uri="{FF2B5EF4-FFF2-40B4-BE49-F238E27FC236}">
                <a16:creationId xmlns:a16="http://schemas.microsoft.com/office/drawing/2014/main" id="{250D84A2-9E43-2F4E-EFF2-D2266EE8A9FB}"/>
              </a:ext>
            </a:extLst>
          </p:cNvPr>
          <p:cNvSpPr>
            <a:spLocks noChangeArrowheads="1"/>
          </p:cNvSpPr>
          <p:nvPr/>
        </p:nvSpPr>
        <p:spPr bwMode="auto">
          <a:xfrm>
            <a:off x="1493838" y="2886681"/>
            <a:ext cx="184731" cy="55399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200" b="1" i="0" u="none" strike="noStrike" cap="none" normalizeH="0" baseline="0">
              <a:ln>
                <a:noFill/>
              </a:ln>
              <a:solidFill>
                <a:schemeClr val="tx1"/>
              </a:solidFill>
              <a:effectLst/>
              <a:latin typeface="+mj-lt"/>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a:ln>
                <a:noFill/>
              </a:ln>
              <a:solidFill>
                <a:schemeClr val="tx1"/>
              </a:solidFill>
              <a:effectLst/>
              <a:latin typeface="+mj-lt"/>
            </a:endParaRPr>
          </a:p>
        </p:txBody>
      </p:sp>
      <p:sp>
        <p:nvSpPr>
          <p:cNvPr id="2" name="TextBox 1">
            <a:extLst>
              <a:ext uri="{FF2B5EF4-FFF2-40B4-BE49-F238E27FC236}">
                <a16:creationId xmlns:a16="http://schemas.microsoft.com/office/drawing/2014/main" id="{32543CEA-7F6D-538E-E261-CF3C4DF50E7C}"/>
              </a:ext>
            </a:extLst>
          </p:cNvPr>
          <p:cNvSpPr txBox="1"/>
          <p:nvPr/>
        </p:nvSpPr>
        <p:spPr>
          <a:xfrm>
            <a:off x="177547" y="-22302"/>
            <a:ext cx="4953000" cy="523220"/>
          </a:xfrm>
          <a:prstGeom prst="rect">
            <a:avLst/>
          </a:prstGeom>
          <a:noFill/>
        </p:spPr>
        <p:txBody>
          <a:bodyPr wrap="square">
            <a:spAutoFit/>
          </a:bodyPr>
          <a:lstStyle/>
          <a:p>
            <a:r>
              <a:rPr lang="fr-FR" sz="2800" dirty="0">
                <a:latin typeface="+mj-lt"/>
              </a:rPr>
              <a:t>3. </a:t>
            </a:r>
            <a:r>
              <a:rPr lang="fr-FR" sz="2800" dirty="0" err="1">
                <a:latin typeface="+mj-lt"/>
              </a:rPr>
              <a:t>Load</a:t>
            </a:r>
            <a:r>
              <a:rPr lang="fr-FR" sz="2800" dirty="0">
                <a:latin typeface="+mj-lt"/>
              </a:rPr>
              <a:t> Model &amp; </a:t>
            </a:r>
            <a:r>
              <a:rPr lang="fr-FR" sz="2800" dirty="0" err="1">
                <a:latin typeface="+mj-lt"/>
              </a:rPr>
              <a:t>Predict</a:t>
            </a:r>
            <a:endParaRPr lang="en-AU" sz="2800" dirty="0">
              <a:latin typeface="+mj-lt"/>
            </a:endParaRPr>
          </a:p>
        </p:txBody>
      </p:sp>
      <p:sp>
        <p:nvSpPr>
          <p:cNvPr id="9" name="TextBox 8">
            <a:extLst>
              <a:ext uri="{FF2B5EF4-FFF2-40B4-BE49-F238E27FC236}">
                <a16:creationId xmlns:a16="http://schemas.microsoft.com/office/drawing/2014/main" id="{A5427511-02CA-2BE4-6BAC-F89D3DD2AE03}"/>
              </a:ext>
            </a:extLst>
          </p:cNvPr>
          <p:cNvSpPr txBox="1"/>
          <p:nvPr/>
        </p:nvSpPr>
        <p:spPr>
          <a:xfrm>
            <a:off x="1" y="515786"/>
            <a:ext cx="12191999" cy="6986528"/>
          </a:xfrm>
          <a:prstGeom prst="rect">
            <a:avLst/>
          </a:prstGeom>
          <a:solidFill>
            <a:schemeClr val="tx1"/>
          </a:solidFill>
        </p:spPr>
        <p:txBody>
          <a:bodyPr wrap="square">
            <a:spAutoFit/>
          </a:bodyPr>
          <a:lstStyle/>
          <a:p>
            <a:pPr>
              <a:buNone/>
            </a:pPr>
            <a:r>
              <a:rPr lang="en-US" sz="2800" b="0" dirty="0">
                <a:solidFill>
                  <a:srgbClr val="6A9955"/>
                </a:solidFill>
                <a:effectLst/>
                <a:latin typeface="Consolas" panose="020B0609020204030204" pitchFamily="49" charset="0"/>
              </a:rPr>
              <a:t># src/predict_model.py</a:t>
            </a:r>
            <a:endParaRPr lang="en-US" sz="2800" b="0" dirty="0">
              <a:solidFill>
                <a:srgbClr val="CCCCCC"/>
              </a:solidFill>
              <a:effectLst/>
              <a:latin typeface="Consolas" panose="020B0609020204030204" pitchFamily="49" charset="0"/>
            </a:endParaRPr>
          </a:p>
          <a:p>
            <a:pPr>
              <a:buNone/>
            </a:pPr>
            <a:r>
              <a:rPr lang="en-US" sz="2800" b="0" dirty="0">
                <a:solidFill>
                  <a:srgbClr val="C586C0"/>
                </a:solidFill>
                <a:effectLst/>
                <a:latin typeface="Consolas" panose="020B0609020204030204" pitchFamily="49" charset="0"/>
              </a:rPr>
              <a:t>import</a:t>
            </a:r>
            <a:r>
              <a:rPr lang="en-US" sz="2800" b="0" dirty="0">
                <a:solidFill>
                  <a:srgbClr val="CCCCCC"/>
                </a:solidFill>
                <a:effectLst/>
                <a:latin typeface="Consolas" panose="020B0609020204030204" pitchFamily="49" charset="0"/>
              </a:rPr>
              <a:t> </a:t>
            </a:r>
            <a:r>
              <a:rPr lang="en-US" sz="2800" b="0" dirty="0" err="1">
                <a:solidFill>
                  <a:srgbClr val="4EC9B0"/>
                </a:solidFill>
                <a:effectLst/>
                <a:latin typeface="Consolas" panose="020B0609020204030204" pitchFamily="49" charset="0"/>
              </a:rPr>
              <a:t>joblib</a:t>
            </a:r>
            <a:endParaRPr lang="en-US" sz="2800" b="0" dirty="0">
              <a:solidFill>
                <a:srgbClr val="CCCCCC"/>
              </a:solidFill>
              <a:effectLst/>
              <a:latin typeface="Consolas" panose="020B0609020204030204" pitchFamily="49" charset="0"/>
            </a:endParaRPr>
          </a:p>
          <a:p>
            <a:pPr>
              <a:buNone/>
            </a:pPr>
            <a:r>
              <a:rPr lang="en-US" sz="2800" b="0" dirty="0">
                <a:solidFill>
                  <a:srgbClr val="C586C0"/>
                </a:solidFill>
                <a:effectLst/>
                <a:latin typeface="Consolas" panose="020B0609020204030204" pitchFamily="49" charset="0"/>
              </a:rPr>
              <a:t>import</a:t>
            </a:r>
            <a:r>
              <a:rPr lang="en-US" sz="2800" b="0" dirty="0">
                <a:solidFill>
                  <a:srgbClr val="CCCCCC"/>
                </a:solidFill>
                <a:effectLst/>
                <a:latin typeface="Consolas" panose="020B0609020204030204" pitchFamily="49" charset="0"/>
              </a:rPr>
              <a:t> </a:t>
            </a:r>
            <a:r>
              <a:rPr lang="en-US" sz="2800" b="0" dirty="0">
                <a:solidFill>
                  <a:srgbClr val="4EC9B0"/>
                </a:solidFill>
                <a:effectLst/>
                <a:latin typeface="Consolas" panose="020B0609020204030204" pitchFamily="49" charset="0"/>
              </a:rPr>
              <a:t>pandas</a:t>
            </a:r>
            <a:r>
              <a:rPr lang="en-US" sz="2800" b="0" dirty="0">
                <a:solidFill>
                  <a:srgbClr val="CCCCCC"/>
                </a:solidFill>
                <a:effectLst/>
                <a:latin typeface="Consolas" panose="020B0609020204030204" pitchFamily="49" charset="0"/>
              </a:rPr>
              <a:t> </a:t>
            </a:r>
            <a:r>
              <a:rPr lang="en-US" sz="2800" b="0" dirty="0">
                <a:solidFill>
                  <a:srgbClr val="C586C0"/>
                </a:solidFill>
                <a:effectLst/>
                <a:latin typeface="Consolas" panose="020B0609020204030204" pitchFamily="49" charset="0"/>
              </a:rPr>
              <a:t>as</a:t>
            </a:r>
            <a:r>
              <a:rPr lang="en-US" sz="2800" b="0" dirty="0">
                <a:solidFill>
                  <a:srgbClr val="CCCCCC"/>
                </a:solidFill>
                <a:effectLst/>
                <a:latin typeface="Consolas" panose="020B0609020204030204" pitchFamily="49" charset="0"/>
              </a:rPr>
              <a:t> </a:t>
            </a:r>
            <a:r>
              <a:rPr lang="en-US" sz="2800" b="0" dirty="0">
                <a:solidFill>
                  <a:srgbClr val="4EC9B0"/>
                </a:solidFill>
                <a:effectLst/>
                <a:latin typeface="Consolas" panose="020B0609020204030204" pitchFamily="49" charset="0"/>
              </a:rPr>
              <a:t>pd</a:t>
            </a:r>
            <a:endParaRPr lang="en-US" sz="2800" b="0" dirty="0">
              <a:solidFill>
                <a:srgbClr val="CCCCCC"/>
              </a:solidFill>
              <a:effectLst/>
              <a:latin typeface="Consolas" panose="020B0609020204030204" pitchFamily="49" charset="0"/>
            </a:endParaRPr>
          </a:p>
          <a:p>
            <a:pPr>
              <a:buNone/>
            </a:pPr>
            <a:r>
              <a:rPr lang="en-US" sz="2800" b="0" dirty="0">
                <a:solidFill>
                  <a:srgbClr val="C586C0"/>
                </a:solidFill>
                <a:effectLst/>
                <a:latin typeface="Consolas" panose="020B0609020204030204" pitchFamily="49" charset="0"/>
              </a:rPr>
              <a:t>from</a:t>
            </a:r>
            <a:r>
              <a:rPr lang="en-US" sz="2800" b="0" dirty="0">
                <a:solidFill>
                  <a:srgbClr val="CCCCCC"/>
                </a:solidFill>
                <a:effectLst/>
                <a:latin typeface="Consolas" panose="020B0609020204030204" pitchFamily="49" charset="0"/>
              </a:rPr>
              <a:t> </a:t>
            </a:r>
            <a:r>
              <a:rPr lang="en-US" sz="2800" b="0" dirty="0" err="1">
                <a:solidFill>
                  <a:srgbClr val="4EC9B0"/>
                </a:solidFill>
                <a:effectLst/>
                <a:latin typeface="Consolas" panose="020B0609020204030204" pitchFamily="49" charset="0"/>
              </a:rPr>
              <a:t>sklearn</a:t>
            </a:r>
            <a:r>
              <a:rPr lang="en-US" sz="2800" b="0" dirty="0" err="1">
                <a:solidFill>
                  <a:srgbClr val="CCCCCC"/>
                </a:solidFill>
                <a:effectLst/>
                <a:latin typeface="Consolas" panose="020B0609020204030204" pitchFamily="49" charset="0"/>
              </a:rPr>
              <a:t>.</a:t>
            </a:r>
            <a:r>
              <a:rPr lang="en-US" sz="2800" b="0" dirty="0" err="1">
                <a:solidFill>
                  <a:srgbClr val="4EC9B0"/>
                </a:solidFill>
                <a:effectLst/>
                <a:latin typeface="Consolas" panose="020B0609020204030204" pitchFamily="49" charset="0"/>
              </a:rPr>
              <a:t>datasets</a:t>
            </a:r>
            <a:r>
              <a:rPr lang="en-US" sz="2800" b="0" dirty="0">
                <a:solidFill>
                  <a:srgbClr val="CCCCCC"/>
                </a:solidFill>
                <a:effectLst/>
                <a:latin typeface="Consolas" panose="020B0609020204030204" pitchFamily="49" charset="0"/>
              </a:rPr>
              <a:t> </a:t>
            </a:r>
            <a:r>
              <a:rPr lang="en-US" sz="2800" b="0" dirty="0">
                <a:solidFill>
                  <a:srgbClr val="C586C0"/>
                </a:solidFill>
                <a:effectLst/>
                <a:latin typeface="Consolas" panose="020B0609020204030204" pitchFamily="49" charset="0"/>
              </a:rPr>
              <a:t>import</a:t>
            </a:r>
            <a:r>
              <a:rPr lang="en-US" sz="2800" b="0" dirty="0">
                <a:solidFill>
                  <a:srgbClr val="CCCCCC"/>
                </a:solidFill>
                <a:effectLst/>
                <a:latin typeface="Consolas" panose="020B0609020204030204" pitchFamily="49" charset="0"/>
              </a:rPr>
              <a:t> </a:t>
            </a:r>
            <a:r>
              <a:rPr lang="en-US" sz="2800" b="0" dirty="0" err="1">
                <a:solidFill>
                  <a:srgbClr val="DCDCAA"/>
                </a:solidFill>
                <a:effectLst/>
                <a:latin typeface="Consolas" panose="020B0609020204030204" pitchFamily="49" charset="0"/>
              </a:rPr>
              <a:t>load_iris</a:t>
            </a:r>
            <a:endParaRPr lang="en-US" sz="2800" b="0" dirty="0">
              <a:solidFill>
                <a:srgbClr val="CCCCCC"/>
              </a:solidFill>
              <a:effectLst/>
              <a:latin typeface="Consolas" panose="020B0609020204030204" pitchFamily="49" charset="0"/>
            </a:endParaRPr>
          </a:p>
          <a:p>
            <a:pPr>
              <a:buNone/>
            </a:pPr>
            <a:br>
              <a:rPr lang="en-US" sz="2800" b="0" dirty="0">
                <a:solidFill>
                  <a:srgbClr val="CCCCCC"/>
                </a:solidFill>
                <a:effectLst/>
                <a:latin typeface="Consolas" panose="020B0609020204030204" pitchFamily="49" charset="0"/>
              </a:rPr>
            </a:br>
            <a:r>
              <a:rPr lang="en-US" sz="2800" b="0" dirty="0">
                <a:solidFill>
                  <a:srgbClr val="6A9955"/>
                </a:solidFill>
                <a:effectLst/>
                <a:latin typeface="Consolas" panose="020B0609020204030204" pitchFamily="49" charset="0"/>
              </a:rPr>
              <a:t># Load model</a:t>
            </a:r>
            <a:endParaRPr lang="en-US" sz="2800" b="0" dirty="0">
              <a:solidFill>
                <a:srgbClr val="CCCCCC"/>
              </a:solidFill>
              <a:effectLst/>
              <a:latin typeface="Consolas" panose="020B0609020204030204" pitchFamily="49" charset="0"/>
            </a:endParaRPr>
          </a:p>
          <a:p>
            <a:pPr>
              <a:buNone/>
            </a:pPr>
            <a:r>
              <a:rPr lang="en-US" sz="2800" b="0" dirty="0">
                <a:solidFill>
                  <a:srgbClr val="9CDCFE"/>
                </a:solidFill>
                <a:effectLst/>
                <a:latin typeface="Consolas" panose="020B0609020204030204" pitchFamily="49" charset="0"/>
              </a:rPr>
              <a:t>model</a:t>
            </a:r>
            <a:r>
              <a:rPr lang="en-US" sz="2800" b="0" dirty="0">
                <a:solidFill>
                  <a:srgbClr val="CCCCCC"/>
                </a:solidFill>
                <a:effectLst/>
                <a:latin typeface="Consolas" panose="020B0609020204030204" pitchFamily="49" charset="0"/>
              </a:rPr>
              <a:t> </a:t>
            </a:r>
            <a:r>
              <a:rPr lang="en-US" sz="2800" b="0" dirty="0">
                <a:solidFill>
                  <a:srgbClr val="D4D4D4"/>
                </a:solidFill>
                <a:effectLst/>
                <a:latin typeface="Consolas" panose="020B0609020204030204" pitchFamily="49" charset="0"/>
              </a:rPr>
              <a:t>=</a:t>
            </a:r>
            <a:r>
              <a:rPr lang="en-US" sz="2800" b="0" dirty="0">
                <a:solidFill>
                  <a:srgbClr val="CCCCCC"/>
                </a:solidFill>
                <a:effectLst/>
                <a:latin typeface="Consolas" panose="020B0609020204030204" pitchFamily="49" charset="0"/>
              </a:rPr>
              <a:t> </a:t>
            </a:r>
            <a:r>
              <a:rPr lang="en-US" sz="2800" b="0" dirty="0" err="1">
                <a:solidFill>
                  <a:srgbClr val="4EC9B0"/>
                </a:solidFill>
                <a:effectLst/>
                <a:latin typeface="Consolas" panose="020B0609020204030204" pitchFamily="49" charset="0"/>
              </a:rPr>
              <a:t>joblib</a:t>
            </a:r>
            <a:r>
              <a:rPr lang="en-US" sz="2800" b="0" dirty="0" err="1">
                <a:solidFill>
                  <a:srgbClr val="CCCCCC"/>
                </a:solidFill>
                <a:effectLst/>
                <a:latin typeface="Consolas" panose="020B0609020204030204" pitchFamily="49" charset="0"/>
              </a:rPr>
              <a:t>.</a:t>
            </a:r>
            <a:r>
              <a:rPr lang="en-US" sz="2800" b="0" dirty="0" err="1">
                <a:solidFill>
                  <a:srgbClr val="DCDCAA"/>
                </a:solidFill>
                <a:effectLst/>
                <a:latin typeface="Consolas" panose="020B0609020204030204" pitchFamily="49" charset="0"/>
              </a:rPr>
              <a:t>load</a:t>
            </a:r>
            <a:r>
              <a:rPr lang="en-US" sz="2800" b="0" dirty="0">
                <a:solidFill>
                  <a:srgbClr val="CCCCCC"/>
                </a:solidFill>
                <a:effectLst/>
                <a:latin typeface="Consolas" panose="020B0609020204030204" pitchFamily="49" charset="0"/>
              </a:rPr>
              <a:t>(</a:t>
            </a:r>
            <a:r>
              <a:rPr lang="en-US" sz="2800" b="0" dirty="0">
                <a:solidFill>
                  <a:srgbClr val="CE9178"/>
                </a:solidFill>
                <a:effectLst/>
                <a:latin typeface="Consolas" panose="020B0609020204030204" pitchFamily="49" charset="0"/>
              </a:rPr>
              <a:t>"outputs/</a:t>
            </a:r>
            <a:r>
              <a:rPr lang="en-US" sz="2800" b="0" dirty="0" err="1">
                <a:solidFill>
                  <a:srgbClr val="CE9178"/>
                </a:solidFill>
                <a:effectLst/>
                <a:latin typeface="Consolas" panose="020B0609020204030204" pitchFamily="49" charset="0"/>
              </a:rPr>
              <a:t>iris_model.pkl</a:t>
            </a:r>
            <a:r>
              <a:rPr lang="en-US" sz="2800" b="0" dirty="0">
                <a:solidFill>
                  <a:srgbClr val="CE9178"/>
                </a:solidFill>
                <a:effectLst/>
                <a:latin typeface="Consolas" panose="020B0609020204030204" pitchFamily="49" charset="0"/>
              </a:rPr>
              <a:t>"</a:t>
            </a:r>
            <a:r>
              <a:rPr lang="en-US" sz="2800" b="0" dirty="0">
                <a:solidFill>
                  <a:srgbClr val="CCCCCC"/>
                </a:solidFill>
                <a:effectLst/>
                <a:latin typeface="Consolas" panose="020B0609020204030204" pitchFamily="49" charset="0"/>
              </a:rPr>
              <a:t>)</a:t>
            </a:r>
          </a:p>
          <a:p>
            <a:pPr>
              <a:buNone/>
            </a:pPr>
            <a:br>
              <a:rPr lang="en-US" sz="2800" b="0" dirty="0">
                <a:solidFill>
                  <a:srgbClr val="CCCCCC"/>
                </a:solidFill>
                <a:effectLst/>
                <a:latin typeface="Consolas" panose="020B0609020204030204" pitchFamily="49" charset="0"/>
              </a:rPr>
            </a:br>
            <a:r>
              <a:rPr lang="en-US" sz="2800" b="0" dirty="0">
                <a:solidFill>
                  <a:srgbClr val="6A9955"/>
                </a:solidFill>
                <a:effectLst/>
                <a:latin typeface="Consolas" panose="020B0609020204030204" pitchFamily="49" charset="0"/>
              </a:rPr>
              <a:t># Sample data (first 5 rows of iris dataset)</a:t>
            </a:r>
            <a:endParaRPr lang="en-US" sz="2800" b="0" dirty="0">
              <a:solidFill>
                <a:srgbClr val="CCCCCC"/>
              </a:solidFill>
              <a:effectLst/>
              <a:latin typeface="Consolas" panose="020B0609020204030204" pitchFamily="49" charset="0"/>
            </a:endParaRPr>
          </a:p>
          <a:p>
            <a:pPr>
              <a:buNone/>
            </a:pPr>
            <a:r>
              <a:rPr lang="en-US" sz="2800" b="0" dirty="0">
                <a:solidFill>
                  <a:srgbClr val="9CDCFE"/>
                </a:solidFill>
                <a:effectLst/>
                <a:latin typeface="Consolas" panose="020B0609020204030204" pitchFamily="49" charset="0"/>
              </a:rPr>
              <a:t>iris</a:t>
            </a:r>
            <a:r>
              <a:rPr lang="en-US" sz="2800" b="0" dirty="0">
                <a:solidFill>
                  <a:srgbClr val="CCCCCC"/>
                </a:solidFill>
                <a:effectLst/>
                <a:latin typeface="Consolas" panose="020B0609020204030204" pitchFamily="49" charset="0"/>
              </a:rPr>
              <a:t> </a:t>
            </a:r>
            <a:r>
              <a:rPr lang="en-US" sz="2800" b="0" dirty="0">
                <a:solidFill>
                  <a:srgbClr val="D4D4D4"/>
                </a:solidFill>
                <a:effectLst/>
                <a:latin typeface="Consolas" panose="020B0609020204030204" pitchFamily="49" charset="0"/>
              </a:rPr>
              <a:t>=</a:t>
            </a:r>
            <a:r>
              <a:rPr lang="en-US" sz="2800" b="0" dirty="0">
                <a:solidFill>
                  <a:srgbClr val="CCCCCC"/>
                </a:solidFill>
                <a:effectLst/>
                <a:latin typeface="Consolas" panose="020B0609020204030204" pitchFamily="49" charset="0"/>
              </a:rPr>
              <a:t> </a:t>
            </a:r>
            <a:r>
              <a:rPr lang="en-US" sz="2800" b="0" dirty="0" err="1">
                <a:solidFill>
                  <a:srgbClr val="DCDCAA"/>
                </a:solidFill>
                <a:effectLst/>
                <a:latin typeface="Consolas" panose="020B0609020204030204" pitchFamily="49" charset="0"/>
              </a:rPr>
              <a:t>load_iris</a:t>
            </a:r>
            <a:r>
              <a:rPr lang="en-US" sz="2800" b="0" dirty="0">
                <a:solidFill>
                  <a:srgbClr val="CCCCCC"/>
                </a:solidFill>
                <a:effectLst/>
                <a:latin typeface="Consolas" panose="020B0609020204030204" pitchFamily="49" charset="0"/>
              </a:rPr>
              <a:t>(</a:t>
            </a:r>
            <a:r>
              <a:rPr lang="en-US" sz="2800" b="0" dirty="0" err="1">
                <a:solidFill>
                  <a:srgbClr val="9CDCFE"/>
                </a:solidFill>
                <a:effectLst/>
                <a:latin typeface="Consolas" panose="020B0609020204030204" pitchFamily="49" charset="0"/>
              </a:rPr>
              <a:t>as_frame</a:t>
            </a:r>
            <a:r>
              <a:rPr lang="en-US" sz="2800" b="0" dirty="0">
                <a:solidFill>
                  <a:srgbClr val="D4D4D4"/>
                </a:solidFill>
                <a:effectLst/>
                <a:latin typeface="Consolas" panose="020B0609020204030204" pitchFamily="49" charset="0"/>
              </a:rPr>
              <a:t>=</a:t>
            </a:r>
            <a:r>
              <a:rPr lang="en-US" sz="2800" b="0" dirty="0">
                <a:solidFill>
                  <a:srgbClr val="4FC1FF"/>
                </a:solidFill>
                <a:effectLst/>
                <a:latin typeface="Consolas" panose="020B0609020204030204" pitchFamily="49" charset="0"/>
              </a:rPr>
              <a:t>True</a:t>
            </a:r>
            <a:r>
              <a:rPr lang="en-US" sz="2800" b="0" dirty="0">
                <a:solidFill>
                  <a:srgbClr val="CCCCCC"/>
                </a:solidFill>
                <a:effectLst/>
                <a:latin typeface="Consolas" panose="020B0609020204030204" pitchFamily="49" charset="0"/>
              </a:rPr>
              <a:t>)</a:t>
            </a:r>
          </a:p>
          <a:p>
            <a:pPr>
              <a:buNone/>
            </a:pPr>
            <a:r>
              <a:rPr lang="en-US" sz="2800" b="0" dirty="0">
                <a:solidFill>
                  <a:srgbClr val="9CDCFE"/>
                </a:solidFill>
                <a:effectLst/>
                <a:latin typeface="Consolas" panose="020B0609020204030204" pitchFamily="49" charset="0"/>
              </a:rPr>
              <a:t>sample</a:t>
            </a:r>
            <a:r>
              <a:rPr lang="en-US" sz="2800" b="0" dirty="0">
                <a:solidFill>
                  <a:srgbClr val="CCCCCC"/>
                </a:solidFill>
                <a:effectLst/>
                <a:latin typeface="Consolas" panose="020B0609020204030204" pitchFamily="49" charset="0"/>
              </a:rPr>
              <a:t> </a:t>
            </a:r>
            <a:r>
              <a:rPr lang="en-US" sz="2800" b="0" dirty="0">
                <a:solidFill>
                  <a:srgbClr val="D4D4D4"/>
                </a:solidFill>
                <a:effectLst/>
                <a:latin typeface="Consolas" panose="020B0609020204030204" pitchFamily="49" charset="0"/>
              </a:rPr>
              <a:t>=</a:t>
            </a:r>
            <a:r>
              <a:rPr lang="en-US" sz="2800" b="0" dirty="0">
                <a:solidFill>
                  <a:srgbClr val="CCCCCC"/>
                </a:solidFill>
                <a:effectLst/>
                <a:latin typeface="Consolas" panose="020B0609020204030204" pitchFamily="49" charset="0"/>
              </a:rPr>
              <a:t> </a:t>
            </a:r>
            <a:r>
              <a:rPr lang="en-US" sz="2800" b="0" dirty="0" err="1">
                <a:solidFill>
                  <a:srgbClr val="9CDCFE"/>
                </a:solidFill>
                <a:effectLst/>
                <a:latin typeface="Consolas" panose="020B0609020204030204" pitchFamily="49" charset="0"/>
              </a:rPr>
              <a:t>iris</a:t>
            </a:r>
            <a:r>
              <a:rPr lang="en-US" sz="2800" b="0" dirty="0" err="1">
                <a:solidFill>
                  <a:srgbClr val="CCCCCC"/>
                </a:solidFill>
                <a:effectLst/>
                <a:latin typeface="Consolas" panose="020B0609020204030204" pitchFamily="49" charset="0"/>
              </a:rPr>
              <a:t>.data.head</a:t>
            </a:r>
            <a:r>
              <a:rPr lang="en-US" sz="2800" b="0" dirty="0">
                <a:solidFill>
                  <a:srgbClr val="CCCCCC"/>
                </a:solidFill>
                <a:effectLst/>
                <a:latin typeface="Consolas" panose="020B0609020204030204" pitchFamily="49" charset="0"/>
              </a:rPr>
              <a:t>()</a:t>
            </a:r>
          </a:p>
          <a:p>
            <a:pPr>
              <a:buNone/>
            </a:pPr>
            <a:br>
              <a:rPr lang="en-US" sz="2800" b="0" dirty="0">
                <a:solidFill>
                  <a:srgbClr val="CCCCCC"/>
                </a:solidFill>
                <a:effectLst/>
                <a:latin typeface="Consolas" panose="020B0609020204030204" pitchFamily="49" charset="0"/>
              </a:rPr>
            </a:br>
            <a:r>
              <a:rPr lang="en-US" sz="2800" b="0" dirty="0">
                <a:solidFill>
                  <a:srgbClr val="6A9955"/>
                </a:solidFill>
                <a:effectLst/>
                <a:latin typeface="Consolas" panose="020B0609020204030204" pitchFamily="49" charset="0"/>
              </a:rPr>
              <a:t># Predict</a:t>
            </a:r>
            <a:endParaRPr lang="en-US" sz="2800" b="0" dirty="0">
              <a:solidFill>
                <a:srgbClr val="CCCCCC"/>
              </a:solidFill>
              <a:effectLst/>
              <a:latin typeface="Consolas" panose="020B0609020204030204" pitchFamily="49" charset="0"/>
            </a:endParaRPr>
          </a:p>
          <a:p>
            <a:pPr>
              <a:buNone/>
            </a:pPr>
            <a:r>
              <a:rPr lang="en-US" sz="2800" b="0" dirty="0">
                <a:solidFill>
                  <a:srgbClr val="9CDCFE"/>
                </a:solidFill>
                <a:effectLst/>
                <a:latin typeface="Consolas" panose="020B0609020204030204" pitchFamily="49" charset="0"/>
              </a:rPr>
              <a:t>preds</a:t>
            </a:r>
            <a:r>
              <a:rPr lang="en-US" sz="2800" b="0" dirty="0">
                <a:solidFill>
                  <a:srgbClr val="CCCCCC"/>
                </a:solidFill>
                <a:effectLst/>
                <a:latin typeface="Consolas" panose="020B0609020204030204" pitchFamily="49" charset="0"/>
              </a:rPr>
              <a:t> </a:t>
            </a:r>
            <a:r>
              <a:rPr lang="en-US" sz="2800" b="0" dirty="0">
                <a:solidFill>
                  <a:srgbClr val="D4D4D4"/>
                </a:solidFill>
                <a:effectLst/>
                <a:latin typeface="Consolas" panose="020B0609020204030204" pitchFamily="49" charset="0"/>
              </a:rPr>
              <a:t>=</a:t>
            </a:r>
            <a:r>
              <a:rPr lang="en-US" sz="2800" b="0" dirty="0">
                <a:solidFill>
                  <a:srgbClr val="CCCCCC"/>
                </a:solidFill>
                <a:effectLst/>
                <a:latin typeface="Consolas" panose="020B0609020204030204" pitchFamily="49" charset="0"/>
              </a:rPr>
              <a:t> </a:t>
            </a:r>
            <a:r>
              <a:rPr lang="en-US" sz="2800" b="0" dirty="0" err="1">
                <a:solidFill>
                  <a:srgbClr val="9CDCFE"/>
                </a:solidFill>
                <a:effectLst/>
                <a:latin typeface="Consolas" panose="020B0609020204030204" pitchFamily="49" charset="0"/>
              </a:rPr>
              <a:t>model</a:t>
            </a:r>
            <a:r>
              <a:rPr lang="en-US" sz="2800" b="0" dirty="0" err="1">
                <a:solidFill>
                  <a:srgbClr val="CCCCCC"/>
                </a:solidFill>
                <a:effectLst/>
                <a:latin typeface="Consolas" panose="020B0609020204030204" pitchFamily="49" charset="0"/>
              </a:rPr>
              <a:t>.predict</a:t>
            </a:r>
            <a:r>
              <a:rPr lang="en-US" sz="2800" b="0" dirty="0">
                <a:solidFill>
                  <a:srgbClr val="CCCCCC"/>
                </a:solidFill>
                <a:effectLst/>
                <a:latin typeface="Consolas" panose="020B0609020204030204" pitchFamily="49" charset="0"/>
              </a:rPr>
              <a:t>(</a:t>
            </a:r>
            <a:r>
              <a:rPr lang="en-US" sz="2800" b="0" dirty="0">
                <a:solidFill>
                  <a:srgbClr val="9CDCFE"/>
                </a:solidFill>
                <a:effectLst/>
                <a:latin typeface="Consolas" panose="020B0609020204030204" pitchFamily="49" charset="0"/>
              </a:rPr>
              <a:t>sample</a:t>
            </a:r>
            <a:r>
              <a:rPr lang="en-US" sz="2800" b="0" dirty="0">
                <a:solidFill>
                  <a:srgbClr val="CCCCCC"/>
                </a:solidFill>
                <a:effectLst/>
                <a:latin typeface="Consolas" panose="020B0609020204030204" pitchFamily="49" charset="0"/>
              </a:rPr>
              <a:t>)</a:t>
            </a:r>
          </a:p>
          <a:p>
            <a:pPr>
              <a:buNone/>
            </a:pPr>
            <a:r>
              <a:rPr lang="en-US" sz="2800" b="0" dirty="0">
                <a:solidFill>
                  <a:srgbClr val="DCDCAA"/>
                </a:solidFill>
                <a:effectLst/>
                <a:latin typeface="Consolas" panose="020B0609020204030204" pitchFamily="49" charset="0"/>
              </a:rPr>
              <a:t>print</a:t>
            </a:r>
            <a:r>
              <a:rPr lang="en-US" sz="2800" b="0" dirty="0">
                <a:solidFill>
                  <a:srgbClr val="CCCCCC"/>
                </a:solidFill>
                <a:effectLst/>
                <a:latin typeface="Consolas" panose="020B0609020204030204" pitchFamily="49" charset="0"/>
              </a:rPr>
              <a:t>(</a:t>
            </a:r>
            <a:r>
              <a:rPr lang="en-US" sz="2800" b="0" dirty="0">
                <a:solidFill>
                  <a:srgbClr val="CE9178"/>
                </a:solidFill>
                <a:effectLst/>
                <a:latin typeface="Consolas" panose="020B0609020204030204" pitchFamily="49" charset="0"/>
              </a:rPr>
              <a:t>"Sample data:</a:t>
            </a:r>
            <a:r>
              <a:rPr lang="en-US" sz="2800" b="0" dirty="0">
                <a:solidFill>
                  <a:srgbClr val="D7BA7D"/>
                </a:solidFill>
                <a:effectLst/>
                <a:latin typeface="Consolas" panose="020B0609020204030204" pitchFamily="49" charset="0"/>
              </a:rPr>
              <a:t>\n</a:t>
            </a:r>
            <a:r>
              <a:rPr lang="en-US" sz="2800" b="0" dirty="0">
                <a:solidFill>
                  <a:srgbClr val="CE9178"/>
                </a:solidFill>
                <a:effectLst/>
                <a:latin typeface="Consolas" panose="020B0609020204030204" pitchFamily="49" charset="0"/>
              </a:rPr>
              <a:t>"</a:t>
            </a:r>
            <a:r>
              <a:rPr lang="en-US" sz="2800" b="0" dirty="0">
                <a:solidFill>
                  <a:srgbClr val="CCCCCC"/>
                </a:solidFill>
                <a:effectLst/>
                <a:latin typeface="Consolas" panose="020B0609020204030204" pitchFamily="49" charset="0"/>
              </a:rPr>
              <a:t>, </a:t>
            </a:r>
            <a:r>
              <a:rPr lang="en-US" sz="2800" b="0" dirty="0">
                <a:solidFill>
                  <a:srgbClr val="9CDCFE"/>
                </a:solidFill>
                <a:effectLst/>
                <a:latin typeface="Consolas" panose="020B0609020204030204" pitchFamily="49" charset="0"/>
              </a:rPr>
              <a:t>sample</a:t>
            </a:r>
            <a:r>
              <a:rPr lang="en-US" sz="2800" b="0" dirty="0">
                <a:solidFill>
                  <a:srgbClr val="CCCCCC"/>
                </a:solidFill>
                <a:effectLst/>
                <a:latin typeface="Consolas" panose="020B0609020204030204" pitchFamily="49" charset="0"/>
              </a:rPr>
              <a:t>)</a:t>
            </a:r>
          </a:p>
          <a:p>
            <a:pPr>
              <a:buNone/>
            </a:pPr>
            <a:r>
              <a:rPr lang="en-US" sz="2800" b="0" dirty="0">
                <a:solidFill>
                  <a:srgbClr val="DCDCAA"/>
                </a:solidFill>
                <a:effectLst/>
                <a:latin typeface="Consolas" panose="020B0609020204030204" pitchFamily="49" charset="0"/>
              </a:rPr>
              <a:t>print</a:t>
            </a:r>
            <a:r>
              <a:rPr lang="en-US" sz="2800" b="0" dirty="0">
                <a:solidFill>
                  <a:srgbClr val="CCCCCC"/>
                </a:solidFill>
                <a:effectLst/>
                <a:latin typeface="Consolas" panose="020B0609020204030204" pitchFamily="49" charset="0"/>
              </a:rPr>
              <a:t>(</a:t>
            </a:r>
            <a:r>
              <a:rPr lang="en-US" sz="2800" b="0" dirty="0">
                <a:solidFill>
                  <a:srgbClr val="CE9178"/>
                </a:solidFill>
                <a:effectLst/>
                <a:latin typeface="Consolas" panose="020B0609020204030204" pitchFamily="49" charset="0"/>
              </a:rPr>
              <a:t>"Predicted classes:"</a:t>
            </a:r>
            <a:r>
              <a:rPr lang="en-US" sz="2800" b="0" dirty="0">
                <a:solidFill>
                  <a:srgbClr val="CCCCCC"/>
                </a:solidFill>
                <a:effectLst/>
                <a:latin typeface="Consolas" panose="020B0609020204030204" pitchFamily="49" charset="0"/>
              </a:rPr>
              <a:t>, </a:t>
            </a:r>
            <a:r>
              <a:rPr lang="en-US" sz="2800" b="0" dirty="0">
                <a:solidFill>
                  <a:srgbClr val="9CDCFE"/>
                </a:solidFill>
                <a:effectLst/>
                <a:latin typeface="Consolas" panose="020B0609020204030204" pitchFamily="49" charset="0"/>
              </a:rPr>
              <a:t>preds</a:t>
            </a:r>
            <a:r>
              <a:rPr lang="en-US" sz="2800" b="0" dirty="0">
                <a:solidFill>
                  <a:srgbClr val="CCCCCC"/>
                </a:solidFill>
                <a:effectLst/>
                <a:latin typeface="Consolas" panose="020B0609020204030204" pitchFamily="49" charset="0"/>
              </a:rPr>
              <a:t>)</a:t>
            </a:r>
          </a:p>
        </p:txBody>
      </p:sp>
      <p:sp>
        <p:nvSpPr>
          <p:cNvPr id="11" name="Rectangle 1">
            <a:extLst>
              <a:ext uri="{FF2B5EF4-FFF2-40B4-BE49-F238E27FC236}">
                <a16:creationId xmlns:a16="http://schemas.microsoft.com/office/drawing/2014/main" id="{2463DB02-4294-2DFE-3589-3B2001F359DF}"/>
              </a:ext>
            </a:extLst>
          </p:cNvPr>
          <p:cNvSpPr>
            <a:spLocks noChangeArrowheads="1"/>
          </p:cNvSpPr>
          <p:nvPr/>
        </p:nvSpPr>
        <p:spPr bwMode="auto">
          <a:xfrm>
            <a:off x="0" y="7447557"/>
            <a:ext cx="12192000" cy="2610843"/>
          </a:xfrm>
          <a:prstGeom prst="rect">
            <a:avLst/>
          </a:prstGeom>
          <a:solidFill>
            <a:schemeClr val="bg1"/>
          </a:solidFill>
          <a:ln>
            <a:noFill/>
          </a:ln>
          <a:effec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50000"/>
              </a:lnSpc>
              <a:spcBef>
                <a:spcPct val="0"/>
              </a:spcBef>
              <a:spcAft>
                <a:spcPct val="0"/>
              </a:spcAft>
              <a:buClrTx/>
              <a:buSzTx/>
              <a:buFontTx/>
              <a:buNone/>
              <a:tabLst/>
            </a:pPr>
            <a:r>
              <a:rPr kumimoji="0" lang="en-US" altLang="en-US" sz="2800" b="0" i="0" u="none" strike="noStrike" cap="none" normalizeH="0" baseline="0" dirty="0">
                <a:ln>
                  <a:noFill/>
                </a:ln>
                <a:solidFill>
                  <a:schemeClr val="tx1"/>
                </a:solidFill>
                <a:effectLst/>
                <a:latin typeface="+mj-lt"/>
              </a:rPr>
              <a:t>This script loads the previously trained Iris model from outputs/</a:t>
            </a:r>
            <a:r>
              <a:rPr kumimoji="0" lang="en-US" altLang="en-US" sz="2800" b="0" i="0" u="none" strike="noStrike" cap="none" normalizeH="0" baseline="0" dirty="0" err="1">
                <a:ln>
                  <a:noFill/>
                </a:ln>
                <a:solidFill>
                  <a:schemeClr val="tx1"/>
                </a:solidFill>
                <a:effectLst/>
                <a:latin typeface="+mj-lt"/>
              </a:rPr>
              <a:t>iris_model.pkl</a:t>
            </a:r>
            <a:r>
              <a:rPr kumimoji="0" lang="en-US" altLang="en-US" sz="2800" b="0" i="0" u="none" strike="noStrike" cap="none" normalizeH="0" baseline="0" dirty="0">
                <a:ln>
                  <a:noFill/>
                </a:ln>
                <a:solidFill>
                  <a:schemeClr val="tx1"/>
                </a:solidFill>
                <a:effectLst/>
                <a:latin typeface="+mj-lt"/>
              </a:rPr>
              <a:t>.</a:t>
            </a:r>
            <a:br>
              <a:rPr kumimoji="0" lang="en-US" altLang="en-US" sz="2800" b="0" i="0" u="none" strike="noStrike" cap="none" normalizeH="0" baseline="0" dirty="0">
                <a:ln>
                  <a:noFill/>
                </a:ln>
                <a:solidFill>
                  <a:schemeClr val="tx1"/>
                </a:solidFill>
                <a:effectLst/>
                <a:latin typeface="+mj-lt"/>
              </a:rPr>
            </a:br>
            <a:r>
              <a:rPr kumimoji="0" lang="en-US" altLang="en-US" sz="2800" b="0" i="0" u="none" strike="noStrike" cap="none" normalizeH="0" baseline="0" dirty="0">
                <a:ln>
                  <a:noFill/>
                </a:ln>
                <a:solidFill>
                  <a:schemeClr val="tx1"/>
                </a:solidFill>
                <a:effectLst/>
                <a:latin typeface="+mj-lt"/>
              </a:rPr>
              <a:t>It takes the first 5 rows of the Iris dataset as sample input.</a:t>
            </a:r>
            <a:br>
              <a:rPr kumimoji="0" lang="en-US" altLang="en-US" sz="2800" b="0" i="0" u="none" strike="noStrike" cap="none" normalizeH="0" baseline="0" dirty="0">
                <a:ln>
                  <a:noFill/>
                </a:ln>
                <a:solidFill>
                  <a:schemeClr val="tx1"/>
                </a:solidFill>
                <a:effectLst/>
                <a:latin typeface="+mj-lt"/>
              </a:rPr>
            </a:br>
            <a:r>
              <a:rPr kumimoji="0" lang="en-US" altLang="en-US" sz="2800" b="0" i="0" u="none" strike="noStrike" cap="none" normalizeH="0" baseline="0" dirty="0">
                <a:ln>
                  <a:noFill/>
                </a:ln>
                <a:solidFill>
                  <a:schemeClr val="tx1"/>
                </a:solidFill>
                <a:effectLst/>
                <a:latin typeface="+mj-lt"/>
              </a:rPr>
              <a:t>It then predicts the class for each sample and prints both the data and the predicted classes. </a:t>
            </a:r>
          </a:p>
        </p:txBody>
      </p:sp>
    </p:spTree>
    <p:extLst>
      <p:ext uri="{BB962C8B-B14F-4D97-AF65-F5344CB8AC3E}">
        <p14:creationId xmlns:p14="http://schemas.microsoft.com/office/powerpoint/2010/main" val="341296170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531E1511-79FC-6DAB-E6BE-0064D27B29B3}"/>
            </a:ext>
          </a:extLst>
        </p:cNvPr>
        <p:cNvGrpSpPr/>
        <p:nvPr/>
      </p:nvGrpSpPr>
      <p:grpSpPr>
        <a:xfrm>
          <a:off x="0" y="0"/>
          <a:ext cx="0" cy="0"/>
          <a:chOff x="0" y="0"/>
          <a:chExt cx="0" cy="0"/>
        </a:xfrm>
      </p:grpSpPr>
      <p:pic>
        <p:nvPicPr>
          <p:cNvPr id="3" name="object 3">
            <a:extLst>
              <a:ext uri="{FF2B5EF4-FFF2-40B4-BE49-F238E27FC236}">
                <a16:creationId xmlns:a16="http://schemas.microsoft.com/office/drawing/2014/main" id="{7E3EA111-685B-BC98-C938-509C45D55BDD}"/>
              </a:ext>
            </a:extLst>
          </p:cNvPr>
          <p:cNvPicPr/>
          <p:nvPr/>
        </p:nvPicPr>
        <p:blipFill>
          <a:blip r:embed="rId2" cstate="print"/>
          <a:stretch>
            <a:fillRect/>
          </a:stretch>
        </p:blipFill>
        <p:spPr>
          <a:xfrm>
            <a:off x="10261092" y="0"/>
            <a:ext cx="1930907" cy="1901952"/>
          </a:xfrm>
          <a:prstGeom prst="rect">
            <a:avLst/>
          </a:prstGeom>
        </p:spPr>
      </p:pic>
      <p:sp>
        <p:nvSpPr>
          <p:cNvPr id="6" name="Rectangle 1">
            <a:extLst>
              <a:ext uri="{FF2B5EF4-FFF2-40B4-BE49-F238E27FC236}">
                <a16:creationId xmlns:a16="http://schemas.microsoft.com/office/drawing/2014/main" id="{367A9760-9621-8166-2AC2-E587C0E6073F}"/>
              </a:ext>
            </a:extLst>
          </p:cNvPr>
          <p:cNvSpPr>
            <a:spLocks noChangeArrowheads="1"/>
          </p:cNvSpPr>
          <p:nvPr/>
        </p:nvSpPr>
        <p:spPr bwMode="auto">
          <a:xfrm>
            <a:off x="1493838" y="2886681"/>
            <a:ext cx="184731" cy="55399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200" b="1" i="0" u="none" strike="noStrike" cap="none" normalizeH="0" baseline="0">
              <a:ln>
                <a:noFill/>
              </a:ln>
              <a:solidFill>
                <a:schemeClr val="tx1"/>
              </a:solidFill>
              <a:effectLst/>
              <a:latin typeface="+mj-lt"/>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a:ln>
                <a:noFill/>
              </a:ln>
              <a:solidFill>
                <a:schemeClr val="tx1"/>
              </a:solidFill>
              <a:effectLst/>
              <a:latin typeface="+mj-lt"/>
            </a:endParaRPr>
          </a:p>
        </p:txBody>
      </p:sp>
      <p:sp>
        <p:nvSpPr>
          <p:cNvPr id="2" name="TextBox 1">
            <a:extLst>
              <a:ext uri="{FF2B5EF4-FFF2-40B4-BE49-F238E27FC236}">
                <a16:creationId xmlns:a16="http://schemas.microsoft.com/office/drawing/2014/main" id="{94079FC0-43F1-7858-6DD3-D9207E1EE9C6}"/>
              </a:ext>
            </a:extLst>
          </p:cNvPr>
          <p:cNvSpPr txBox="1"/>
          <p:nvPr/>
        </p:nvSpPr>
        <p:spPr>
          <a:xfrm>
            <a:off x="177547" y="-22302"/>
            <a:ext cx="4953000" cy="523220"/>
          </a:xfrm>
          <a:prstGeom prst="rect">
            <a:avLst/>
          </a:prstGeom>
          <a:noFill/>
        </p:spPr>
        <p:txBody>
          <a:bodyPr wrap="square">
            <a:spAutoFit/>
          </a:bodyPr>
          <a:lstStyle/>
          <a:p>
            <a:r>
              <a:rPr lang="fr-FR" sz="2800" dirty="0">
                <a:latin typeface="+mj-lt"/>
              </a:rPr>
              <a:t>3. </a:t>
            </a:r>
            <a:r>
              <a:rPr lang="fr-FR" sz="2800" dirty="0" err="1">
                <a:latin typeface="+mj-lt"/>
              </a:rPr>
              <a:t>Load</a:t>
            </a:r>
            <a:r>
              <a:rPr lang="fr-FR" sz="2800" dirty="0">
                <a:latin typeface="+mj-lt"/>
              </a:rPr>
              <a:t> Model &amp; </a:t>
            </a:r>
            <a:r>
              <a:rPr lang="fr-FR" sz="2800" dirty="0" err="1">
                <a:latin typeface="+mj-lt"/>
              </a:rPr>
              <a:t>Predict</a:t>
            </a:r>
            <a:endParaRPr lang="en-AU" sz="2800" dirty="0">
              <a:latin typeface="+mj-lt"/>
            </a:endParaRPr>
          </a:p>
        </p:txBody>
      </p:sp>
      <p:sp>
        <p:nvSpPr>
          <p:cNvPr id="5" name="TextBox 4">
            <a:extLst>
              <a:ext uri="{FF2B5EF4-FFF2-40B4-BE49-F238E27FC236}">
                <a16:creationId xmlns:a16="http://schemas.microsoft.com/office/drawing/2014/main" id="{C33425DA-3975-0666-AD18-E1E409695B4D}"/>
              </a:ext>
            </a:extLst>
          </p:cNvPr>
          <p:cNvSpPr txBox="1"/>
          <p:nvPr/>
        </p:nvSpPr>
        <p:spPr>
          <a:xfrm>
            <a:off x="0" y="1067914"/>
            <a:ext cx="11125200" cy="4745530"/>
          </a:xfrm>
          <a:prstGeom prst="rect">
            <a:avLst/>
          </a:prstGeom>
          <a:noFill/>
        </p:spPr>
        <p:txBody>
          <a:bodyPr wrap="square">
            <a:spAutoFit/>
          </a:bodyPr>
          <a:lstStyle/>
          <a:p>
            <a:pPr>
              <a:lnSpc>
                <a:spcPct val="115000"/>
              </a:lnSpc>
              <a:spcAft>
                <a:spcPts val="800"/>
              </a:spcAft>
              <a:buNone/>
            </a:pPr>
            <a:r>
              <a:rPr lang="en-US" sz="2800" kern="0" dirty="0">
                <a:solidFill>
                  <a:srgbClr val="000000"/>
                </a:solidFill>
                <a:effectLst/>
                <a:latin typeface="+mj-lt"/>
                <a:ea typeface="Times New Roman" panose="02020603050405020304" pitchFamily="18" charset="0"/>
                <a:cs typeface="Times New Roman" panose="02020603050405020304" pitchFamily="18" charset="0"/>
              </a:rPr>
              <a:t>Sample data:</a:t>
            </a:r>
            <a:endParaRPr lang="en-US" sz="2800" kern="100" dirty="0">
              <a:effectLst/>
              <a:latin typeface="+mj-lt"/>
              <a:ea typeface="Times New Roman" panose="02020603050405020304" pitchFamily="18" charset="0"/>
              <a:cs typeface="Arial" panose="020B0604020202020204" pitchFamily="34" charset="0"/>
            </a:endParaRPr>
          </a:p>
          <a:p>
            <a:pPr>
              <a:lnSpc>
                <a:spcPct val="115000"/>
              </a:lnSpc>
              <a:spcAft>
                <a:spcPts val="800"/>
              </a:spcAft>
              <a:buNone/>
            </a:pPr>
            <a:r>
              <a:rPr lang="en-US" sz="2800" kern="0" dirty="0">
                <a:solidFill>
                  <a:srgbClr val="000000"/>
                </a:solidFill>
                <a:effectLst/>
                <a:latin typeface="+mj-lt"/>
                <a:ea typeface="Times New Roman" panose="02020603050405020304" pitchFamily="18" charset="0"/>
                <a:cs typeface="Times New Roman" panose="02020603050405020304" pitchFamily="18" charset="0"/>
              </a:rPr>
              <a:t>    sepal length (cm)  sepal width (cm)  petal length (cm)  petal width (cm)</a:t>
            </a:r>
            <a:endParaRPr lang="en-US" sz="2800" kern="100" dirty="0">
              <a:effectLst/>
              <a:latin typeface="+mj-lt"/>
              <a:ea typeface="Times New Roman" panose="02020603050405020304" pitchFamily="18" charset="0"/>
              <a:cs typeface="Arial" panose="020B0604020202020204" pitchFamily="34" charset="0"/>
            </a:endParaRPr>
          </a:p>
          <a:p>
            <a:pPr>
              <a:lnSpc>
                <a:spcPct val="115000"/>
              </a:lnSpc>
              <a:spcAft>
                <a:spcPts val="800"/>
              </a:spcAft>
              <a:buNone/>
            </a:pPr>
            <a:r>
              <a:rPr lang="en-US" sz="2800" kern="0" dirty="0">
                <a:solidFill>
                  <a:srgbClr val="000000"/>
                </a:solidFill>
                <a:effectLst/>
                <a:latin typeface="+mj-lt"/>
                <a:ea typeface="Times New Roman" panose="02020603050405020304" pitchFamily="18" charset="0"/>
                <a:cs typeface="Times New Roman" panose="02020603050405020304" pitchFamily="18" charset="0"/>
              </a:rPr>
              <a:t>0                5.1               3.5                1.4               0.2</a:t>
            </a:r>
            <a:endParaRPr lang="en-US" sz="2800" kern="100" dirty="0">
              <a:effectLst/>
              <a:latin typeface="+mj-lt"/>
              <a:ea typeface="Times New Roman" panose="02020603050405020304" pitchFamily="18" charset="0"/>
              <a:cs typeface="Arial" panose="020B0604020202020204" pitchFamily="34" charset="0"/>
            </a:endParaRPr>
          </a:p>
          <a:p>
            <a:pPr>
              <a:lnSpc>
                <a:spcPct val="115000"/>
              </a:lnSpc>
              <a:spcAft>
                <a:spcPts val="800"/>
              </a:spcAft>
              <a:buNone/>
            </a:pPr>
            <a:r>
              <a:rPr lang="en-US" sz="2800" kern="0" dirty="0">
                <a:solidFill>
                  <a:srgbClr val="000000"/>
                </a:solidFill>
                <a:effectLst/>
                <a:latin typeface="+mj-lt"/>
                <a:ea typeface="Times New Roman" panose="02020603050405020304" pitchFamily="18" charset="0"/>
                <a:cs typeface="Times New Roman" panose="02020603050405020304" pitchFamily="18" charset="0"/>
              </a:rPr>
              <a:t>1                4.9               3.0                1.4               0.2</a:t>
            </a:r>
            <a:endParaRPr lang="en-US" sz="2800" kern="100" dirty="0">
              <a:effectLst/>
              <a:latin typeface="+mj-lt"/>
              <a:ea typeface="Times New Roman" panose="02020603050405020304" pitchFamily="18" charset="0"/>
              <a:cs typeface="Arial" panose="020B0604020202020204" pitchFamily="34" charset="0"/>
            </a:endParaRPr>
          </a:p>
          <a:p>
            <a:pPr>
              <a:lnSpc>
                <a:spcPct val="115000"/>
              </a:lnSpc>
              <a:spcAft>
                <a:spcPts val="800"/>
              </a:spcAft>
              <a:buNone/>
            </a:pPr>
            <a:r>
              <a:rPr lang="en-US" sz="2800" kern="0" dirty="0">
                <a:solidFill>
                  <a:srgbClr val="000000"/>
                </a:solidFill>
                <a:effectLst/>
                <a:latin typeface="+mj-lt"/>
                <a:ea typeface="Times New Roman" panose="02020603050405020304" pitchFamily="18" charset="0"/>
                <a:cs typeface="Times New Roman" panose="02020603050405020304" pitchFamily="18" charset="0"/>
              </a:rPr>
              <a:t>2                4.7               3.2                1.3               0.2</a:t>
            </a:r>
            <a:endParaRPr lang="en-US" sz="2800" kern="100" dirty="0">
              <a:effectLst/>
              <a:latin typeface="+mj-lt"/>
              <a:ea typeface="Times New Roman" panose="02020603050405020304" pitchFamily="18" charset="0"/>
              <a:cs typeface="Arial" panose="020B0604020202020204" pitchFamily="34" charset="0"/>
            </a:endParaRPr>
          </a:p>
          <a:p>
            <a:pPr>
              <a:lnSpc>
                <a:spcPct val="115000"/>
              </a:lnSpc>
              <a:spcAft>
                <a:spcPts val="800"/>
              </a:spcAft>
              <a:buNone/>
            </a:pPr>
            <a:r>
              <a:rPr lang="en-US" sz="2800" kern="0" dirty="0">
                <a:solidFill>
                  <a:srgbClr val="000000"/>
                </a:solidFill>
                <a:effectLst/>
                <a:latin typeface="+mj-lt"/>
                <a:ea typeface="Times New Roman" panose="02020603050405020304" pitchFamily="18" charset="0"/>
                <a:cs typeface="Times New Roman" panose="02020603050405020304" pitchFamily="18" charset="0"/>
              </a:rPr>
              <a:t>3                4.6               3.1                1.5               0.2</a:t>
            </a:r>
            <a:endParaRPr lang="en-US" sz="2800" kern="100" dirty="0">
              <a:effectLst/>
              <a:latin typeface="+mj-lt"/>
              <a:ea typeface="Times New Roman" panose="02020603050405020304" pitchFamily="18" charset="0"/>
              <a:cs typeface="Arial" panose="020B0604020202020204" pitchFamily="34" charset="0"/>
            </a:endParaRPr>
          </a:p>
          <a:p>
            <a:pPr>
              <a:lnSpc>
                <a:spcPct val="115000"/>
              </a:lnSpc>
              <a:spcAft>
                <a:spcPts val="800"/>
              </a:spcAft>
              <a:buNone/>
            </a:pPr>
            <a:r>
              <a:rPr lang="en-US" sz="2800" kern="0" dirty="0">
                <a:solidFill>
                  <a:srgbClr val="000000"/>
                </a:solidFill>
                <a:effectLst/>
                <a:latin typeface="+mj-lt"/>
                <a:ea typeface="Times New Roman" panose="02020603050405020304" pitchFamily="18" charset="0"/>
                <a:cs typeface="Times New Roman" panose="02020603050405020304" pitchFamily="18" charset="0"/>
              </a:rPr>
              <a:t>4                5.0               3.6                1.4               0.2</a:t>
            </a:r>
            <a:endParaRPr lang="en-US" sz="2800" kern="100" dirty="0">
              <a:effectLst/>
              <a:latin typeface="+mj-lt"/>
              <a:ea typeface="Times New Roman" panose="02020603050405020304" pitchFamily="18" charset="0"/>
              <a:cs typeface="Arial" panose="020B0604020202020204" pitchFamily="34" charset="0"/>
            </a:endParaRPr>
          </a:p>
          <a:p>
            <a:pPr>
              <a:lnSpc>
                <a:spcPct val="115000"/>
              </a:lnSpc>
              <a:spcAft>
                <a:spcPts val="800"/>
              </a:spcAft>
              <a:buNone/>
            </a:pPr>
            <a:r>
              <a:rPr lang="en-US" sz="2800" kern="0" dirty="0">
                <a:solidFill>
                  <a:srgbClr val="000000"/>
                </a:solidFill>
                <a:effectLst/>
                <a:latin typeface="+mj-lt"/>
                <a:ea typeface="Times New Roman" panose="02020603050405020304" pitchFamily="18" charset="0"/>
                <a:cs typeface="Times New Roman" panose="02020603050405020304" pitchFamily="18" charset="0"/>
              </a:rPr>
              <a:t>Predicted classes: [0 0 0 0 0]</a:t>
            </a:r>
            <a:endParaRPr lang="en-US" sz="2800" kern="100" dirty="0">
              <a:effectLst/>
              <a:latin typeface="+mj-lt"/>
              <a:ea typeface="Times New Roman" panose="02020603050405020304" pitchFamily="18" charset="0"/>
              <a:cs typeface="Arial" panose="020B0604020202020204" pitchFamily="34" charset="0"/>
            </a:endParaRPr>
          </a:p>
        </p:txBody>
      </p:sp>
      <p:sp>
        <p:nvSpPr>
          <p:cNvPr id="7" name="Rectangle 1">
            <a:extLst>
              <a:ext uri="{FF2B5EF4-FFF2-40B4-BE49-F238E27FC236}">
                <a16:creationId xmlns:a16="http://schemas.microsoft.com/office/drawing/2014/main" id="{9C844E68-5C9B-79C5-1EF6-64186FE799CA}"/>
              </a:ext>
            </a:extLst>
          </p:cNvPr>
          <p:cNvSpPr>
            <a:spLocks noChangeArrowheads="1"/>
          </p:cNvSpPr>
          <p:nvPr/>
        </p:nvSpPr>
        <p:spPr bwMode="auto">
          <a:xfrm>
            <a:off x="0" y="5813444"/>
            <a:ext cx="11785853" cy="39035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50000"/>
              </a:lnSpc>
              <a:spcBef>
                <a:spcPct val="0"/>
              </a:spcBef>
              <a:spcAft>
                <a:spcPct val="0"/>
              </a:spcAft>
              <a:buClrTx/>
              <a:buSzTx/>
              <a:buFontTx/>
              <a:buNone/>
              <a:tabLst/>
            </a:pPr>
            <a:r>
              <a:rPr kumimoji="0" lang="en-US" altLang="en-US" sz="2800" b="0" i="0" u="none" strike="noStrike" cap="none" normalizeH="0" baseline="0" dirty="0">
                <a:ln>
                  <a:noFill/>
                </a:ln>
                <a:solidFill>
                  <a:schemeClr val="tx1"/>
                </a:solidFill>
                <a:effectLst/>
                <a:latin typeface="+mj-lt"/>
              </a:rPr>
              <a:t>The output shows the first 5 samples from the Iris dataset with their sepal and petal measurements.</a:t>
            </a:r>
            <a:br>
              <a:rPr kumimoji="0" lang="en-US" altLang="en-US" sz="2800" b="0" i="0" u="none" strike="noStrike" cap="none" normalizeH="0" baseline="0" dirty="0">
                <a:ln>
                  <a:noFill/>
                </a:ln>
                <a:solidFill>
                  <a:schemeClr val="tx1"/>
                </a:solidFill>
                <a:effectLst/>
                <a:latin typeface="+mj-lt"/>
              </a:rPr>
            </a:br>
            <a:r>
              <a:rPr kumimoji="0" lang="en-US" altLang="en-US" sz="2800" b="0" i="0" u="none" strike="noStrike" cap="none" normalizeH="0" baseline="0" dirty="0">
                <a:ln>
                  <a:noFill/>
                </a:ln>
                <a:solidFill>
                  <a:schemeClr val="tx1"/>
                </a:solidFill>
                <a:effectLst/>
                <a:latin typeface="+mj-lt"/>
              </a:rPr>
              <a:t>The model predicted all five samples as class 0, which corresponds to the </a:t>
            </a:r>
            <a:r>
              <a:rPr kumimoji="0" lang="en-US" altLang="en-US" sz="2800" b="0" i="1" u="none" strike="noStrike" cap="none" normalizeH="0" baseline="0" dirty="0" err="1">
                <a:ln>
                  <a:noFill/>
                </a:ln>
                <a:solidFill>
                  <a:schemeClr val="tx1"/>
                </a:solidFill>
                <a:effectLst/>
                <a:latin typeface="+mj-lt"/>
              </a:rPr>
              <a:t>setosa</a:t>
            </a:r>
            <a:r>
              <a:rPr kumimoji="0" lang="en-US" altLang="en-US" sz="2800" b="0" i="0" u="none" strike="noStrike" cap="none" normalizeH="0" baseline="0" dirty="0">
                <a:ln>
                  <a:noFill/>
                </a:ln>
                <a:solidFill>
                  <a:schemeClr val="tx1"/>
                </a:solidFill>
                <a:effectLst/>
                <a:latin typeface="+mj-lt"/>
              </a:rPr>
              <a:t> species.</a:t>
            </a:r>
            <a:br>
              <a:rPr kumimoji="0" lang="en-US" altLang="en-US" sz="2800" b="0" i="0" u="none" strike="noStrike" cap="none" normalizeH="0" baseline="0" dirty="0">
                <a:ln>
                  <a:noFill/>
                </a:ln>
                <a:solidFill>
                  <a:schemeClr val="tx1"/>
                </a:solidFill>
                <a:effectLst/>
                <a:latin typeface="+mj-lt"/>
              </a:rPr>
            </a:br>
            <a:r>
              <a:rPr kumimoji="0" lang="en-US" altLang="en-US" sz="2800" b="0" i="0" u="none" strike="noStrike" cap="none" normalizeH="0" baseline="0" dirty="0">
                <a:ln>
                  <a:noFill/>
                </a:ln>
                <a:solidFill>
                  <a:schemeClr val="tx1"/>
                </a:solidFill>
                <a:effectLst/>
                <a:latin typeface="+mj-lt"/>
              </a:rPr>
              <a:t>This means the trained model correctly identified them as the same flower type based on their measurements. </a:t>
            </a:r>
          </a:p>
        </p:txBody>
      </p:sp>
    </p:spTree>
    <p:extLst>
      <p:ext uri="{BB962C8B-B14F-4D97-AF65-F5344CB8AC3E}">
        <p14:creationId xmlns:p14="http://schemas.microsoft.com/office/powerpoint/2010/main" val="393733433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FEAB0A49-B741-9318-3742-6F7C0A084134}"/>
            </a:ext>
          </a:extLst>
        </p:cNvPr>
        <p:cNvGrpSpPr/>
        <p:nvPr/>
      </p:nvGrpSpPr>
      <p:grpSpPr>
        <a:xfrm>
          <a:off x="0" y="0"/>
          <a:ext cx="0" cy="0"/>
          <a:chOff x="0" y="0"/>
          <a:chExt cx="0" cy="0"/>
        </a:xfrm>
      </p:grpSpPr>
      <p:pic>
        <p:nvPicPr>
          <p:cNvPr id="3" name="object 3">
            <a:extLst>
              <a:ext uri="{FF2B5EF4-FFF2-40B4-BE49-F238E27FC236}">
                <a16:creationId xmlns:a16="http://schemas.microsoft.com/office/drawing/2014/main" id="{C7777212-81B5-A946-D0C8-015334E31EAF}"/>
              </a:ext>
            </a:extLst>
          </p:cNvPr>
          <p:cNvPicPr/>
          <p:nvPr/>
        </p:nvPicPr>
        <p:blipFill>
          <a:blip r:embed="rId2" cstate="print"/>
          <a:stretch>
            <a:fillRect/>
          </a:stretch>
        </p:blipFill>
        <p:spPr>
          <a:xfrm>
            <a:off x="10261092" y="0"/>
            <a:ext cx="1930907" cy="1901952"/>
          </a:xfrm>
          <a:prstGeom prst="rect">
            <a:avLst/>
          </a:prstGeom>
        </p:spPr>
      </p:pic>
      <p:sp>
        <p:nvSpPr>
          <p:cNvPr id="6" name="Rectangle 1">
            <a:extLst>
              <a:ext uri="{FF2B5EF4-FFF2-40B4-BE49-F238E27FC236}">
                <a16:creationId xmlns:a16="http://schemas.microsoft.com/office/drawing/2014/main" id="{498F7A94-8DCB-2ACE-1CE7-91F1CD6CED70}"/>
              </a:ext>
            </a:extLst>
          </p:cNvPr>
          <p:cNvSpPr>
            <a:spLocks noChangeArrowheads="1"/>
          </p:cNvSpPr>
          <p:nvPr/>
        </p:nvSpPr>
        <p:spPr bwMode="auto">
          <a:xfrm>
            <a:off x="1493838" y="2886681"/>
            <a:ext cx="184731" cy="55399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200" b="1" i="0" u="none" strike="noStrike" cap="none" normalizeH="0" baseline="0">
              <a:ln>
                <a:noFill/>
              </a:ln>
              <a:solidFill>
                <a:schemeClr val="tx1"/>
              </a:solidFill>
              <a:effectLst/>
              <a:latin typeface="+mj-lt"/>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a:ln>
                <a:noFill/>
              </a:ln>
              <a:solidFill>
                <a:schemeClr val="tx1"/>
              </a:solidFill>
              <a:effectLst/>
              <a:latin typeface="+mj-lt"/>
            </a:endParaRPr>
          </a:p>
        </p:txBody>
      </p:sp>
      <p:sp>
        <p:nvSpPr>
          <p:cNvPr id="2" name="TextBox 1">
            <a:extLst>
              <a:ext uri="{FF2B5EF4-FFF2-40B4-BE49-F238E27FC236}">
                <a16:creationId xmlns:a16="http://schemas.microsoft.com/office/drawing/2014/main" id="{910CAC35-C9E6-3772-D697-DD96B2B1860D}"/>
              </a:ext>
            </a:extLst>
          </p:cNvPr>
          <p:cNvSpPr txBox="1"/>
          <p:nvPr/>
        </p:nvSpPr>
        <p:spPr>
          <a:xfrm>
            <a:off x="177547" y="-22302"/>
            <a:ext cx="4953000" cy="523220"/>
          </a:xfrm>
          <a:prstGeom prst="rect">
            <a:avLst/>
          </a:prstGeom>
          <a:noFill/>
        </p:spPr>
        <p:txBody>
          <a:bodyPr wrap="square">
            <a:spAutoFit/>
          </a:bodyPr>
          <a:lstStyle/>
          <a:p>
            <a:r>
              <a:rPr lang="fr-FR" sz="2800" dirty="0">
                <a:latin typeface="+mj-lt"/>
              </a:rPr>
              <a:t>prime_number_finder.py code</a:t>
            </a:r>
            <a:endParaRPr lang="en-AU" sz="2800" dirty="0">
              <a:latin typeface="+mj-lt"/>
            </a:endParaRPr>
          </a:p>
        </p:txBody>
      </p:sp>
      <p:sp>
        <p:nvSpPr>
          <p:cNvPr id="10" name="TextBox 9">
            <a:extLst>
              <a:ext uri="{FF2B5EF4-FFF2-40B4-BE49-F238E27FC236}">
                <a16:creationId xmlns:a16="http://schemas.microsoft.com/office/drawing/2014/main" id="{F6BB593D-C85A-B412-FC4E-EF990D0AEF21}"/>
              </a:ext>
            </a:extLst>
          </p:cNvPr>
          <p:cNvSpPr txBox="1"/>
          <p:nvPr/>
        </p:nvSpPr>
        <p:spPr>
          <a:xfrm>
            <a:off x="30481" y="8276878"/>
            <a:ext cx="12192000" cy="1318181"/>
          </a:xfrm>
          <a:prstGeom prst="rect">
            <a:avLst/>
          </a:prstGeom>
          <a:noFill/>
        </p:spPr>
        <p:txBody>
          <a:bodyPr wrap="square">
            <a:spAutoFit/>
          </a:bodyPr>
          <a:lstStyle/>
          <a:p>
            <a:pPr>
              <a:lnSpc>
                <a:spcPct val="150000"/>
              </a:lnSpc>
            </a:pPr>
            <a:r>
              <a:rPr lang="en-US" sz="2800" dirty="0">
                <a:latin typeface="+mj-lt"/>
              </a:rPr>
              <a:t>This script checks numbers in a range to find all prime numbers, then prints their count, sum, and the first and last 10 primes.</a:t>
            </a:r>
            <a:endParaRPr lang="en-AU" sz="2800" dirty="0">
              <a:latin typeface="+mj-lt"/>
            </a:endParaRPr>
          </a:p>
        </p:txBody>
      </p:sp>
      <p:pic>
        <p:nvPicPr>
          <p:cNvPr id="12" name="Picture 11">
            <a:extLst>
              <a:ext uri="{FF2B5EF4-FFF2-40B4-BE49-F238E27FC236}">
                <a16:creationId xmlns:a16="http://schemas.microsoft.com/office/drawing/2014/main" id="{76B7235B-54D2-F5A9-581B-A61AA2C58F49}"/>
              </a:ext>
            </a:extLst>
          </p:cNvPr>
          <p:cNvPicPr>
            <a:picLocks noChangeAspect="1"/>
          </p:cNvPicPr>
          <p:nvPr/>
        </p:nvPicPr>
        <p:blipFill>
          <a:blip r:embed="rId3"/>
          <a:srcRect l="21250" t="15556" r="23750" b="32221"/>
          <a:stretch>
            <a:fillRect/>
          </a:stretch>
        </p:blipFill>
        <p:spPr>
          <a:xfrm>
            <a:off x="0" y="1781521"/>
            <a:ext cx="12161519" cy="6495357"/>
          </a:xfrm>
          <a:prstGeom prst="rect">
            <a:avLst/>
          </a:prstGeom>
        </p:spPr>
      </p:pic>
      <p:sp>
        <p:nvSpPr>
          <p:cNvPr id="14" name="TextBox 13">
            <a:extLst>
              <a:ext uri="{FF2B5EF4-FFF2-40B4-BE49-F238E27FC236}">
                <a16:creationId xmlns:a16="http://schemas.microsoft.com/office/drawing/2014/main" id="{FA1D90D4-6F39-2AD6-A474-57C4E9AB17DF}"/>
              </a:ext>
            </a:extLst>
          </p:cNvPr>
          <p:cNvSpPr txBox="1"/>
          <p:nvPr/>
        </p:nvSpPr>
        <p:spPr>
          <a:xfrm>
            <a:off x="177547" y="859609"/>
            <a:ext cx="6156960" cy="523220"/>
          </a:xfrm>
          <a:prstGeom prst="rect">
            <a:avLst/>
          </a:prstGeom>
          <a:noFill/>
        </p:spPr>
        <p:txBody>
          <a:bodyPr wrap="square">
            <a:spAutoFit/>
          </a:bodyPr>
          <a:lstStyle/>
          <a:p>
            <a:r>
              <a:rPr lang="en-AU" sz="2800" dirty="0">
                <a:latin typeface="+mj-lt"/>
              </a:rPr>
              <a:t>Sum of primes in a range</a:t>
            </a:r>
          </a:p>
        </p:txBody>
      </p:sp>
    </p:spTree>
    <p:extLst>
      <p:ext uri="{BB962C8B-B14F-4D97-AF65-F5344CB8AC3E}">
        <p14:creationId xmlns:p14="http://schemas.microsoft.com/office/powerpoint/2010/main" val="377901749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C35E90D7-FB82-18CC-4B8E-44E3195394BF}"/>
            </a:ext>
          </a:extLst>
        </p:cNvPr>
        <p:cNvGrpSpPr/>
        <p:nvPr/>
      </p:nvGrpSpPr>
      <p:grpSpPr>
        <a:xfrm>
          <a:off x="0" y="0"/>
          <a:ext cx="0" cy="0"/>
          <a:chOff x="0" y="0"/>
          <a:chExt cx="0" cy="0"/>
        </a:xfrm>
      </p:grpSpPr>
      <p:pic>
        <p:nvPicPr>
          <p:cNvPr id="3" name="object 3">
            <a:extLst>
              <a:ext uri="{FF2B5EF4-FFF2-40B4-BE49-F238E27FC236}">
                <a16:creationId xmlns:a16="http://schemas.microsoft.com/office/drawing/2014/main" id="{2FD58566-11BF-9EDB-DB51-209F1271060B}"/>
              </a:ext>
            </a:extLst>
          </p:cNvPr>
          <p:cNvPicPr/>
          <p:nvPr/>
        </p:nvPicPr>
        <p:blipFill>
          <a:blip r:embed="rId2" cstate="print"/>
          <a:stretch>
            <a:fillRect/>
          </a:stretch>
        </p:blipFill>
        <p:spPr>
          <a:xfrm>
            <a:off x="10261092" y="0"/>
            <a:ext cx="1930907" cy="1901952"/>
          </a:xfrm>
          <a:prstGeom prst="rect">
            <a:avLst/>
          </a:prstGeom>
        </p:spPr>
      </p:pic>
      <p:sp>
        <p:nvSpPr>
          <p:cNvPr id="6" name="Rectangle 1">
            <a:extLst>
              <a:ext uri="{FF2B5EF4-FFF2-40B4-BE49-F238E27FC236}">
                <a16:creationId xmlns:a16="http://schemas.microsoft.com/office/drawing/2014/main" id="{CBDAA322-E2FA-251E-EC47-5841598114FA}"/>
              </a:ext>
            </a:extLst>
          </p:cNvPr>
          <p:cNvSpPr>
            <a:spLocks noChangeArrowheads="1"/>
          </p:cNvSpPr>
          <p:nvPr/>
        </p:nvSpPr>
        <p:spPr bwMode="auto">
          <a:xfrm>
            <a:off x="1493838" y="2886681"/>
            <a:ext cx="184731" cy="55399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200" b="1" i="0" u="none" strike="noStrike" cap="none" normalizeH="0" baseline="0">
              <a:ln>
                <a:noFill/>
              </a:ln>
              <a:solidFill>
                <a:schemeClr val="tx1"/>
              </a:solidFill>
              <a:effectLst/>
              <a:latin typeface="+mj-lt"/>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a:ln>
                <a:noFill/>
              </a:ln>
              <a:solidFill>
                <a:schemeClr val="tx1"/>
              </a:solidFill>
              <a:effectLst/>
              <a:latin typeface="+mj-lt"/>
            </a:endParaRPr>
          </a:p>
        </p:txBody>
      </p:sp>
      <p:sp>
        <p:nvSpPr>
          <p:cNvPr id="2" name="TextBox 1">
            <a:extLst>
              <a:ext uri="{FF2B5EF4-FFF2-40B4-BE49-F238E27FC236}">
                <a16:creationId xmlns:a16="http://schemas.microsoft.com/office/drawing/2014/main" id="{8E119983-E11B-52FF-6901-BBBDDB211177}"/>
              </a:ext>
            </a:extLst>
          </p:cNvPr>
          <p:cNvSpPr txBox="1"/>
          <p:nvPr/>
        </p:nvSpPr>
        <p:spPr>
          <a:xfrm>
            <a:off x="177546" y="-22302"/>
            <a:ext cx="8128253" cy="523220"/>
          </a:xfrm>
          <a:prstGeom prst="rect">
            <a:avLst/>
          </a:prstGeom>
          <a:noFill/>
        </p:spPr>
        <p:txBody>
          <a:bodyPr wrap="square">
            <a:spAutoFit/>
          </a:bodyPr>
          <a:lstStyle/>
          <a:p>
            <a:r>
              <a:rPr lang="en-US" sz="2800" dirty="0">
                <a:latin typeface="+mj-lt"/>
              </a:rPr>
              <a:t>Matrix multiply + determinant (2×2 and 3×3)</a:t>
            </a:r>
            <a:endParaRPr lang="en-AU" sz="2800" dirty="0">
              <a:latin typeface="+mj-lt"/>
            </a:endParaRPr>
          </a:p>
        </p:txBody>
      </p:sp>
      <p:sp>
        <p:nvSpPr>
          <p:cNvPr id="7" name="Rectangle 1">
            <a:extLst>
              <a:ext uri="{FF2B5EF4-FFF2-40B4-BE49-F238E27FC236}">
                <a16:creationId xmlns:a16="http://schemas.microsoft.com/office/drawing/2014/main" id="{12A2E737-5F94-5CA5-9548-DD5C37D4911D}"/>
              </a:ext>
            </a:extLst>
          </p:cNvPr>
          <p:cNvSpPr>
            <a:spLocks noChangeArrowheads="1"/>
          </p:cNvSpPr>
          <p:nvPr/>
        </p:nvSpPr>
        <p:spPr bwMode="auto">
          <a:xfrm>
            <a:off x="15240" y="8294456"/>
            <a:ext cx="12196425" cy="17639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50000"/>
              </a:lnSpc>
              <a:spcBef>
                <a:spcPct val="0"/>
              </a:spcBef>
              <a:spcAft>
                <a:spcPct val="0"/>
              </a:spcAft>
              <a:buClrTx/>
              <a:buSzTx/>
              <a:buFontTx/>
              <a:buNone/>
              <a:tabLst/>
            </a:pPr>
            <a:r>
              <a:rPr kumimoji="0" lang="en-US" altLang="en-US" sz="2500" b="0" i="0" u="none" strike="noStrike" cap="none" normalizeH="0" baseline="0" dirty="0">
                <a:ln>
                  <a:noFill/>
                </a:ln>
                <a:solidFill>
                  <a:schemeClr val="tx1"/>
                </a:solidFill>
                <a:effectLst/>
                <a:latin typeface="+mj-lt"/>
              </a:rPr>
              <a:t>This script performs basic matrix operations, including multiplication and calculating determinants for 2×2 and 3×3 matrices. It demonstrates these functions using example matrices and prints the results.</a:t>
            </a:r>
          </a:p>
        </p:txBody>
      </p:sp>
      <p:pic>
        <p:nvPicPr>
          <p:cNvPr id="9" name="Picture 8">
            <a:extLst>
              <a:ext uri="{FF2B5EF4-FFF2-40B4-BE49-F238E27FC236}">
                <a16:creationId xmlns:a16="http://schemas.microsoft.com/office/drawing/2014/main" id="{A7A26E71-4BEC-F679-857D-0FB0C0F94A6C}"/>
              </a:ext>
            </a:extLst>
          </p:cNvPr>
          <p:cNvPicPr>
            <a:picLocks noChangeAspect="1"/>
          </p:cNvPicPr>
          <p:nvPr/>
        </p:nvPicPr>
        <p:blipFill>
          <a:blip r:embed="rId3"/>
          <a:srcRect l="21251" t="4399" r="32499" b="30001"/>
          <a:stretch>
            <a:fillRect/>
          </a:stretch>
        </p:blipFill>
        <p:spPr>
          <a:xfrm>
            <a:off x="0" y="664859"/>
            <a:ext cx="9357360" cy="7465656"/>
          </a:xfrm>
          <a:prstGeom prst="rect">
            <a:avLst/>
          </a:prstGeom>
        </p:spPr>
      </p:pic>
    </p:spTree>
    <p:extLst>
      <p:ext uri="{BB962C8B-B14F-4D97-AF65-F5344CB8AC3E}">
        <p14:creationId xmlns:p14="http://schemas.microsoft.com/office/powerpoint/2010/main" val="331873048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8E6986D4-BA56-1D0C-6275-854445426D80}"/>
            </a:ext>
          </a:extLst>
        </p:cNvPr>
        <p:cNvGrpSpPr/>
        <p:nvPr/>
      </p:nvGrpSpPr>
      <p:grpSpPr>
        <a:xfrm>
          <a:off x="0" y="0"/>
          <a:ext cx="0" cy="0"/>
          <a:chOff x="0" y="0"/>
          <a:chExt cx="0" cy="0"/>
        </a:xfrm>
      </p:grpSpPr>
      <p:pic>
        <p:nvPicPr>
          <p:cNvPr id="3" name="object 3">
            <a:extLst>
              <a:ext uri="{FF2B5EF4-FFF2-40B4-BE49-F238E27FC236}">
                <a16:creationId xmlns:a16="http://schemas.microsoft.com/office/drawing/2014/main" id="{2986CD7B-BC79-43FD-2504-5C9D4209AA02}"/>
              </a:ext>
            </a:extLst>
          </p:cNvPr>
          <p:cNvPicPr/>
          <p:nvPr/>
        </p:nvPicPr>
        <p:blipFill>
          <a:blip r:embed="rId2" cstate="print"/>
          <a:stretch>
            <a:fillRect/>
          </a:stretch>
        </p:blipFill>
        <p:spPr>
          <a:xfrm>
            <a:off x="10261092" y="0"/>
            <a:ext cx="1930907" cy="1901952"/>
          </a:xfrm>
          <a:prstGeom prst="rect">
            <a:avLst/>
          </a:prstGeom>
        </p:spPr>
      </p:pic>
      <p:sp>
        <p:nvSpPr>
          <p:cNvPr id="6" name="Rectangle 1">
            <a:extLst>
              <a:ext uri="{FF2B5EF4-FFF2-40B4-BE49-F238E27FC236}">
                <a16:creationId xmlns:a16="http://schemas.microsoft.com/office/drawing/2014/main" id="{13D47A04-80DD-DDC2-8B39-34282CA4C45F}"/>
              </a:ext>
            </a:extLst>
          </p:cNvPr>
          <p:cNvSpPr>
            <a:spLocks noChangeArrowheads="1"/>
          </p:cNvSpPr>
          <p:nvPr/>
        </p:nvSpPr>
        <p:spPr bwMode="auto">
          <a:xfrm>
            <a:off x="1493838" y="2886681"/>
            <a:ext cx="184731" cy="55399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200" b="1" i="0" u="none" strike="noStrike" cap="none" normalizeH="0" baseline="0">
              <a:ln>
                <a:noFill/>
              </a:ln>
              <a:solidFill>
                <a:schemeClr val="tx1"/>
              </a:solidFill>
              <a:effectLst/>
              <a:latin typeface="+mj-lt"/>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a:ln>
                <a:noFill/>
              </a:ln>
              <a:solidFill>
                <a:schemeClr val="tx1"/>
              </a:solidFill>
              <a:effectLst/>
              <a:latin typeface="+mj-lt"/>
            </a:endParaRPr>
          </a:p>
        </p:txBody>
      </p:sp>
      <p:sp>
        <p:nvSpPr>
          <p:cNvPr id="2" name="TextBox 1">
            <a:extLst>
              <a:ext uri="{FF2B5EF4-FFF2-40B4-BE49-F238E27FC236}">
                <a16:creationId xmlns:a16="http://schemas.microsoft.com/office/drawing/2014/main" id="{BE0B13DC-3AFC-0DA9-DCCA-4AFC279945C5}"/>
              </a:ext>
            </a:extLst>
          </p:cNvPr>
          <p:cNvSpPr txBox="1"/>
          <p:nvPr/>
        </p:nvSpPr>
        <p:spPr>
          <a:xfrm>
            <a:off x="177546" y="-22302"/>
            <a:ext cx="8128253" cy="523220"/>
          </a:xfrm>
          <a:prstGeom prst="rect">
            <a:avLst/>
          </a:prstGeom>
          <a:noFill/>
        </p:spPr>
        <p:txBody>
          <a:bodyPr wrap="square">
            <a:spAutoFit/>
          </a:bodyPr>
          <a:lstStyle/>
          <a:p>
            <a:r>
              <a:rPr lang="en-US" sz="2800" dirty="0">
                <a:latin typeface="+mj-lt"/>
              </a:rPr>
              <a:t>Word frequency (clean text)</a:t>
            </a:r>
            <a:endParaRPr lang="en-AU" sz="2800" dirty="0">
              <a:latin typeface="+mj-lt"/>
            </a:endParaRPr>
          </a:p>
        </p:txBody>
      </p:sp>
      <p:sp>
        <p:nvSpPr>
          <p:cNvPr id="7" name="Rectangle 1">
            <a:extLst>
              <a:ext uri="{FF2B5EF4-FFF2-40B4-BE49-F238E27FC236}">
                <a16:creationId xmlns:a16="http://schemas.microsoft.com/office/drawing/2014/main" id="{28201133-6B9A-532B-AE82-C95D3DBCC28B}"/>
              </a:ext>
            </a:extLst>
          </p:cNvPr>
          <p:cNvSpPr>
            <a:spLocks noChangeArrowheads="1"/>
          </p:cNvSpPr>
          <p:nvPr/>
        </p:nvSpPr>
        <p:spPr bwMode="auto">
          <a:xfrm>
            <a:off x="15240" y="5079910"/>
            <a:ext cx="12196425" cy="196175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50000"/>
              </a:lnSpc>
              <a:spcBef>
                <a:spcPct val="0"/>
              </a:spcBef>
              <a:spcAft>
                <a:spcPct val="0"/>
              </a:spcAft>
              <a:buClrTx/>
              <a:buSzTx/>
              <a:buFontTx/>
              <a:buNone/>
              <a:tabLst/>
            </a:pPr>
            <a:r>
              <a:rPr lang="en-US" sz="2800" dirty="0">
                <a:latin typeface="+mj-lt"/>
              </a:rPr>
              <a:t>This script extracts words from text using regex, converts them to lowercase, and counts how often each word appears. It then prints the list of tokens and the word frequencies sorted by highest count and then alphabetically.</a:t>
            </a:r>
            <a:endParaRPr kumimoji="0" lang="en-US" altLang="en-US" sz="2500" b="0" i="0" u="none" strike="noStrike" cap="none" normalizeH="0" baseline="0" dirty="0">
              <a:ln>
                <a:noFill/>
              </a:ln>
              <a:solidFill>
                <a:schemeClr val="tx1"/>
              </a:solidFill>
              <a:effectLst/>
              <a:latin typeface="+mj-lt"/>
            </a:endParaRPr>
          </a:p>
        </p:txBody>
      </p:sp>
      <p:pic>
        <p:nvPicPr>
          <p:cNvPr id="10" name="Picture 9">
            <a:extLst>
              <a:ext uri="{FF2B5EF4-FFF2-40B4-BE49-F238E27FC236}">
                <a16:creationId xmlns:a16="http://schemas.microsoft.com/office/drawing/2014/main" id="{72323BBB-255A-C590-5353-F5A4EA680E84}"/>
              </a:ext>
            </a:extLst>
          </p:cNvPr>
          <p:cNvPicPr>
            <a:picLocks noChangeAspect="1"/>
          </p:cNvPicPr>
          <p:nvPr/>
        </p:nvPicPr>
        <p:blipFill>
          <a:blip r:embed="rId3"/>
          <a:srcRect l="21250" t="4400" r="30625" b="61111"/>
          <a:stretch>
            <a:fillRect/>
          </a:stretch>
        </p:blipFill>
        <p:spPr>
          <a:xfrm>
            <a:off x="33824" y="530726"/>
            <a:ext cx="10664337" cy="4298974"/>
          </a:xfrm>
          <a:prstGeom prst="rect">
            <a:avLst/>
          </a:prstGeom>
        </p:spPr>
      </p:pic>
    </p:spTree>
    <p:extLst>
      <p:ext uri="{BB962C8B-B14F-4D97-AF65-F5344CB8AC3E}">
        <p14:creationId xmlns:p14="http://schemas.microsoft.com/office/powerpoint/2010/main" val="64830425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1AED3F45-6E77-D2E5-0EF3-B9A27F69D04A}"/>
            </a:ext>
          </a:extLst>
        </p:cNvPr>
        <p:cNvGrpSpPr/>
        <p:nvPr/>
      </p:nvGrpSpPr>
      <p:grpSpPr>
        <a:xfrm>
          <a:off x="0" y="0"/>
          <a:ext cx="0" cy="0"/>
          <a:chOff x="0" y="0"/>
          <a:chExt cx="0" cy="0"/>
        </a:xfrm>
      </p:grpSpPr>
      <p:pic>
        <p:nvPicPr>
          <p:cNvPr id="3" name="object 3">
            <a:extLst>
              <a:ext uri="{FF2B5EF4-FFF2-40B4-BE49-F238E27FC236}">
                <a16:creationId xmlns:a16="http://schemas.microsoft.com/office/drawing/2014/main" id="{89928B84-7233-0B51-02C0-38175B823794}"/>
              </a:ext>
            </a:extLst>
          </p:cNvPr>
          <p:cNvPicPr/>
          <p:nvPr/>
        </p:nvPicPr>
        <p:blipFill>
          <a:blip r:embed="rId2" cstate="print"/>
          <a:stretch>
            <a:fillRect/>
          </a:stretch>
        </p:blipFill>
        <p:spPr>
          <a:xfrm>
            <a:off x="10261092" y="0"/>
            <a:ext cx="1930907" cy="1901952"/>
          </a:xfrm>
          <a:prstGeom prst="rect">
            <a:avLst/>
          </a:prstGeom>
        </p:spPr>
      </p:pic>
      <p:sp>
        <p:nvSpPr>
          <p:cNvPr id="6" name="Rectangle 1">
            <a:extLst>
              <a:ext uri="{FF2B5EF4-FFF2-40B4-BE49-F238E27FC236}">
                <a16:creationId xmlns:a16="http://schemas.microsoft.com/office/drawing/2014/main" id="{930C44AC-51A2-CA9D-09DD-8EC8ACBC2DC4}"/>
              </a:ext>
            </a:extLst>
          </p:cNvPr>
          <p:cNvSpPr>
            <a:spLocks noChangeArrowheads="1"/>
          </p:cNvSpPr>
          <p:nvPr/>
        </p:nvSpPr>
        <p:spPr bwMode="auto">
          <a:xfrm>
            <a:off x="1493838" y="2886681"/>
            <a:ext cx="184731" cy="55399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200" b="1" i="0" u="none" strike="noStrike" cap="none" normalizeH="0" baseline="0">
              <a:ln>
                <a:noFill/>
              </a:ln>
              <a:solidFill>
                <a:schemeClr val="tx1"/>
              </a:solidFill>
              <a:effectLst/>
              <a:latin typeface="+mj-lt"/>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a:ln>
                <a:noFill/>
              </a:ln>
              <a:solidFill>
                <a:schemeClr val="tx1"/>
              </a:solidFill>
              <a:effectLst/>
              <a:latin typeface="+mj-lt"/>
            </a:endParaRPr>
          </a:p>
        </p:txBody>
      </p:sp>
      <p:sp>
        <p:nvSpPr>
          <p:cNvPr id="2" name="TextBox 1">
            <a:extLst>
              <a:ext uri="{FF2B5EF4-FFF2-40B4-BE49-F238E27FC236}">
                <a16:creationId xmlns:a16="http://schemas.microsoft.com/office/drawing/2014/main" id="{5858A18D-D822-BF65-E4F6-0DF8CD86F64F}"/>
              </a:ext>
            </a:extLst>
          </p:cNvPr>
          <p:cNvSpPr txBox="1"/>
          <p:nvPr/>
        </p:nvSpPr>
        <p:spPr>
          <a:xfrm>
            <a:off x="-17206" y="17113"/>
            <a:ext cx="8128253" cy="523220"/>
          </a:xfrm>
          <a:prstGeom prst="rect">
            <a:avLst/>
          </a:prstGeom>
          <a:noFill/>
        </p:spPr>
        <p:txBody>
          <a:bodyPr wrap="square">
            <a:spAutoFit/>
          </a:bodyPr>
          <a:lstStyle/>
          <a:p>
            <a:r>
              <a:rPr lang="en-US" sz="2800" dirty="0" err="1">
                <a:latin typeface="+mj-lt"/>
              </a:rPr>
              <a:t>student_scores_analysis</a:t>
            </a:r>
            <a:endParaRPr lang="en-AU" sz="2800" dirty="0">
              <a:latin typeface="+mj-lt"/>
            </a:endParaRPr>
          </a:p>
        </p:txBody>
      </p:sp>
      <p:sp>
        <p:nvSpPr>
          <p:cNvPr id="7" name="Rectangle 1">
            <a:extLst>
              <a:ext uri="{FF2B5EF4-FFF2-40B4-BE49-F238E27FC236}">
                <a16:creationId xmlns:a16="http://schemas.microsoft.com/office/drawing/2014/main" id="{C7247987-0A13-6346-4C0F-B1F3B9821C15}"/>
              </a:ext>
            </a:extLst>
          </p:cNvPr>
          <p:cNvSpPr>
            <a:spLocks noChangeArrowheads="1"/>
          </p:cNvSpPr>
          <p:nvPr/>
        </p:nvSpPr>
        <p:spPr bwMode="auto">
          <a:xfrm>
            <a:off x="14084" y="5787027"/>
            <a:ext cx="12196425" cy="196175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50000"/>
              </a:lnSpc>
              <a:spcBef>
                <a:spcPct val="0"/>
              </a:spcBef>
              <a:spcAft>
                <a:spcPct val="0"/>
              </a:spcAft>
              <a:buClrTx/>
              <a:buSzTx/>
              <a:buFontTx/>
              <a:buNone/>
              <a:tabLst/>
            </a:pPr>
            <a:r>
              <a:rPr lang="en-US" sz="2800" dirty="0">
                <a:latin typeface="+mj-lt"/>
              </a:rPr>
              <a:t>This script creates a small CSV of student scores, reads it with pandas, and calculates the average score per student and per week. The results are sorted and displayed as dictionaries.</a:t>
            </a:r>
            <a:endParaRPr kumimoji="0" lang="en-US" altLang="en-US" sz="2500" b="0" i="0" u="none" strike="noStrike" cap="none" normalizeH="0" baseline="0" dirty="0">
              <a:ln>
                <a:noFill/>
              </a:ln>
              <a:solidFill>
                <a:schemeClr val="tx1"/>
              </a:solidFill>
              <a:effectLst/>
              <a:latin typeface="+mj-lt"/>
            </a:endParaRPr>
          </a:p>
        </p:txBody>
      </p:sp>
      <p:sp>
        <p:nvSpPr>
          <p:cNvPr id="5" name="TextBox 4">
            <a:extLst>
              <a:ext uri="{FF2B5EF4-FFF2-40B4-BE49-F238E27FC236}">
                <a16:creationId xmlns:a16="http://schemas.microsoft.com/office/drawing/2014/main" id="{67894F88-22BC-8C92-119D-709C7E87D6EF}"/>
              </a:ext>
            </a:extLst>
          </p:cNvPr>
          <p:cNvSpPr txBox="1"/>
          <p:nvPr/>
        </p:nvSpPr>
        <p:spPr>
          <a:xfrm>
            <a:off x="14084" y="540333"/>
            <a:ext cx="9968115" cy="5078313"/>
          </a:xfrm>
          <a:prstGeom prst="rect">
            <a:avLst/>
          </a:prstGeom>
          <a:solidFill>
            <a:schemeClr val="tx1"/>
          </a:solidFill>
        </p:spPr>
        <p:txBody>
          <a:bodyPr wrap="square">
            <a:spAutoFit/>
          </a:bodyPr>
          <a:lstStyle/>
          <a:p>
            <a:pPr>
              <a:buNone/>
            </a:pPr>
            <a:r>
              <a:rPr lang="en-US" b="0" dirty="0">
                <a:solidFill>
                  <a:srgbClr val="6A9955"/>
                </a:solidFill>
                <a:effectLst/>
                <a:latin typeface="Consolas" panose="020B0609020204030204" pitchFamily="49" charset="0"/>
              </a:rPr>
              <a:t># src/hello.py</a:t>
            </a:r>
            <a:endParaRPr lang="en-US" b="0" dirty="0">
              <a:solidFill>
                <a:srgbClr val="CCCCCC"/>
              </a:solidFill>
              <a:effectLst/>
              <a:latin typeface="Consolas" panose="020B0609020204030204" pitchFamily="49" charset="0"/>
            </a:endParaRPr>
          </a:p>
          <a:p>
            <a:pPr>
              <a:buNone/>
            </a:pPr>
            <a:r>
              <a:rPr lang="en-US" b="0" dirty="0">
                <a:solidFill>
                  <a:srgbClr val="C586C0"/>
                </a:solidFill>
                <a:effectLst/>
                <a:latin typeface="Consolas" panose="020B0609020204030204" pitchFamily="49" charset="0"/>
              </a:rPr>
              <a:t>import</a:t>
            </a:r>
            <a:r>
              <a:rPr lang="en-US" b="0" dirty="0">
                <a:solidFill>
                  <a:srgbClr val="CCCCCC"/>
                </a:solidFill>
                <a:effectLst/>
                <a:latin typeface="Consolas" panose="020B0609020204030204" pitchFamily="49" charset="0"/>
              </a:rPr>
              <a:t> </a:t>
            </a:r>
            <a:r>
              <a:rPr lang="en-US" b="0" dirty="0">
                <a:solidFill>
                  <a:srgbClr val="4EC9B0"/>
                </a:solidFill>
                <a:effectLst/>
                <a:latin typeface="Consolas" panose="020B0609020204030204" pitchFamily="49" charset="0"/>
              </a:rPr>
              <a:t>pandas</a:t>
            </a:r>
            <a:r>
              <a:rPr lang="en-US" b="0" dirty="0">
                <a:solidFill>
                  <a:srgbClr val="CCCCCC"/>
                </a:solidFill>
                <a:effectLst/>
                <a:latin typeface="Consolas" panose="020B0609020204030204" pitchFamily="49" charset="0"/>
              </a:rPr>
              <a:t> </a:t>
            </a:r>
            <a:r>
              <a:rPr lang="en-US" b="0" dirty="0">
                <a:solidFill>
                  <a:srgbClr val="C586C0"/>
                </a:solidFill>
                <a:effectLst/>
                <a:latin typeface="Consolas" panose="020B0609020204030204" pitchFamily="49" charset="0"/>
              </a:rPr>
              <a:t>as</a:t>
            </a:r>
            <a:r>
              <a:rPr lang="en-US" b="0" dirty="0">
                <a:solidFill>
                  <a:srgbClr val="CCCCCC"/>
                </a:solidFill>
                <a:effectLst/>
                <a:latin typeface="Consolas" panose="020B0609020204030204" pitchFamily="49" charset="0"/>
              </a:rPr>
              <a:t> </a:t>
            </a:r>
            <a:r>
              <a:rPr lang="en-US" b="0" dirty="0">
                <a:solidFill>
                  <a:srgbClr val="4EC9B0"/>
                </a:solidFill>
                <a:effectLst/>
                <a:latin typeface="Consolas" panose="020B0609020204030204" pitchFamily="49" charset="0"/>
              </a:rPr>
              <a:t>pd</a:t>
            </a:r>
            <a:endParaRPr lang="en-US" b="0" dirty="0">
              <a:solidFill>
                <a:srgbClr val="CCCCCC"/>
              </a:solidFill>
              <a:effectLst/>
              <a:latin typeface="Consolas" panose="020B0609020204030204" pitchFamily="49" charset="0"/>
            </a:endParaRPr>
          </a:p>
          <a:p>
            <a:pPr>
              <a:buNone/>
            </a:pPr>
            <a:br>
              <a:rPr lang="en-US" b="0" dirty="0">
                <a:solidFill>
                  <a:srgbClr val="CCCCCC"/>
                </a:solidFill>
                <a:effectLst/>
                <a:latin typeface="Consolas" panose="020B0609020204030204" pitchFamily="49" charset="0"/>
              </a:rPr>
            </a:br>
            <a:r>
              <a:rPr lang="en-US" b="0" dirty="0">
                <a:solidFill>
                  <a:srgbClr val="6A9955"/>
                </a:solidFill>
                <a:effectLst/>
                <a:latin typeface="Consolas" panose="020B0609020204030204" pitchFamily="49" charset="0"/>
              </a:rPr>
              <a:t># create a tiny CSV</a:t>
            </a:r>
            <a:endParaRPr lang="en-US" b="0" dirty="0">
              <a:solidFill>
                <a:srgbClr val="CCCCCC"/>
              </a:solidFill>
              <a:effectLst/>
              <a:latin typeface="Consolas" panose="020B0609020204030204" pitchFamily="49" charset="0"/>
            </a:endParaRPr>
          </a:p>
          <a:p>
            <a:pPr>
              <a:buNone/>
            </a:pPr>
            <a:r>
              <a:rPr lang="en-US" b="0" dirty="0" err="1">
                <a:solidFill>
                  <a:srgbClr val="4EC9B0"/>
                </a:solidFill>
                <a:effectLst/>
                <a:latin typeface="Consolas" panose="020B0609020204030204" pitchFamily="49" charset="0"/>
              </a:rPr>
              <a:t>pd</a:t>
            </a:r>
            <a:r>
              <a:rPr lang="en-US" b="0" dirty="0" err="1">
                <a:solidFill>
                  <a:srgbClr val="CCCCCC"/>
                </a:solidFill>
                <a:effectLst/>
                <a:latin typeface="Consolas" panose="020B0609020204030204" pitchFamily="49" charset="0"/>
              </a:rPr>
              <a:t>.</a:t>
            </a:r>
            <a:r>
              <a:rPr lang="en-US" b="0" dirty="0" err="1">
                <a:solidFill>
                  <a:srgbClr val="4EC9B0"/>
                </a:solidFill>
                <a:effectLst/>
                <a:latin typeface="Consolas" panose="020B0609020204030204" pitchFamily="49" charset="0"/>
              </a:rPr>
              <a:t>DataFrame</a:t>
            </a:r>
            <a:r>
              <a:rPr lang="en-US" b="0" dirty="0">
                <a:solidFill>
                  <a:srgbClr val="CCCCCC"/>
                </a:solidFill>
                <a:effectLst/>
                <a:latin typeface="Consolas" panose="020B0609020204030204" pitchFamily="49" charset="0"/>
              </a:rPr>
              <a:t>({</a:t>
            </a:r>
          </a:p>
          <a:p>
            <a:pPr>
              <a:buNone/>
            </a:pPr>
            <a:r>
              <a:rPr lang="en-US" b="0" dirty="0">
                <a:solidFill>
                  <a:srgbClr val="CCCCCC"/>
                </a:solidFill>
                <a:effectLst/>
                <a:latin typeface="Consolas" panose="020B0609020204030204" pitchFamily="49" charset="0"/>
              </a:rPr>
              <a:t>    </a:t>
            </a:r>
            <a:r>
              <a:rPr lang="en-US" b="0" dirty="0">
                <a:solidFill>
                  <a:srgbClr val="CE9178"/>
                </a:solidFill>
                <a:effectLst/>
                <a:latin typeface="Consolas" panose="020B0609020204030204" pitchFamily="49" charset="0"/>
              </a:rPr>
              <a:t>"student"</a:t>
            </a:r>
            <a:r>
              <a:rPr lang="en-US" b="0" dirty="0">
                <a:solidFill>
                  <a:srgbClr val="CCCCCC"/>
                </a:solidFill>
                <a:effectLst/>
                <a:latin typeface="Consolas" panose="020B0609020204030204" pitchFamily="49" charset="0"/>
              </a:rPr>
              <a:t>: [</a:t>
            </a:r>
            <a:r>
              <a:rPr lang="en-US" b="0" dirty="0">
                <a:solidFill>
                  <a:srgbClr val="CE9178"/>
                </a:solidFill>
                <a:effectLst/>
                <a:latin typeface="Consolas" panose="020B0609020204030204" pitchFamily="49" charset="0"/>
              </a:rPr>
              <a:t>"</a:t>
            </a:r>
            <a:r>
              <a:rPr lang="en-US" b="0" dirty="0" err="1">
                <a:solidFill>
                  <a:srgbClr val="CE9178"/>
                </a:solidFill>
                <a:effectLst/>
                <a:latin typeface="Consolas" panose="020B0609020204030204" pitchFamily="49" charset="0"/>
              </a:rPr>
              <a:t>Ana"</a:t>
            </a:r>
            <a:r>
              <a:rPr lang="en-US" b="0" dirty="0" err="1">
                <a:solidFill>
                  <a:srgbClr val="CCCCCC"/>
                </a:solidFill>
                <a:effectLst/>
                <a:latin typeface="Consolas" panose="020B0609020204030204" pitchFamily="49" charset="0"/>
              </a:rPr>
              <a:t>,</a:t>
            </a:r>
            <a:r>
              <a:rPr lang="en-US" b="0" dirty="0" err="1">
                <a:solidFill>
                  <a:srgbClr val="CE9178"/>
                </a:solidFill>
                <a:effectLst/>
                <a:latin typeface="Consolas" panose="020B0609020204030204" pitchFamily="49" charset="0"/>
              </a:rPr>
              <a:t>"Ben"</a:t>
            </a:r>
            <a:r>
              <a:rPr lang="en-US" b="0" dirty="0" err="1">
                <a:solidFill>
                  <a:srgbClr val="CCCCCC"/>
                </a:solidFill>
                <a:effectLst/>
                <a:latin typeface="Consolas" panose="020B0609020204030204" pitchFamily="49" charset="0"/>
              </a:rPr>
              <a:t>,</a:t>
            </a:r>
            <a:r>
              <a:rPr lang="en-US" b="0" dirty="0" err="1">
                <a:solidFill>
                  <a:srgbClr val="CE9178"/>
                </a:solidFill>
                <a:effectLst/>
                <a:latin typeface="Consolas" panose="020B0609020204030204" pitchFamily="49" charset="0"/>
              </a:rPr>
              <a:t>"Cara"</a:t>
            </a:r>
            <a:r>
              <a:rPr lang="en-US" b="0" dirty="0" err="1">
                <a:solidFill>
                  <a:srgbClr val="CCCCCC"/>
                </a:solidFill>
                <a:effectLst/>
                <a:latin typeface="Consolas" panose="020B0609020204030204" pitchFamily="49" charset="0"/>
              </a:rPr>
              <a:t>,</a:t>
            </a:r>
            <a:r>
              <a:rPr lang="en-US" b="0" dirty="0" err="1">
                <a:solidFill>
                  <a:srgbClr val="CE9178"/>
                </a:solidFill>
                <a:effectLst/>
                <a:latin typeface="Consolas" panose="020B0609020204030204" pitchFamily="49" charset="0"/>
              </a:rPr>
              <a:t>"Ana"</a:t>
            </a:r>
            <a:r>
              <a:rPr lang="en-US" b="0" dirty="0" err="1">
                <a:solidFill>
                  <a:srgbClr val="CCCCCC"/>
                </a:solidFill>
                <a:effectLst/>
                <a:latin typeface="Consolas" panose="020B0609020204030204" pitchFamily="49" charset="0"/>
              </a:rPr>
              <a:t>,</a:t>
            </a:r>
            <a:r>
              <a:rPr lang="en-US" b="0" dirty="0" err="1">
                <a:solidFill>
                  <a:srgbClr val="CE9178"/>
                </a:solidFill>
                <a:effectLst/>
                <a:latin typeface="Consolas" panose="020B0609020204030204" pitchFamily="49" charset="0"/>
              </a:rPr>
              <a:t>"Ben</a:t>
            </a:r>
            <a:r>
              <a:rPr lang="en-US" b="0" dirty="0">
                <a:solidFill>
                  <a:srgbClr val="CE9178"/>
                </a:solidFill>
                <a:effectLst/>
                <a:latin typeface="Consolas" panose="020B0609020204030204" pitchFamily="49" charset="0"/>
              </a:rPr>
              <a:t>"</a:t>
            </a:r>
            <a:r>
              <a:rPr lang="en-US" b="0" dirty="0">
                <a:solidFill>
                  <a:srgbClr val="CCCCCC"/>
                </a:solidFill>
                <a:effectLst/>
                <a:latin typeface="Consolas" panose="020B0609020204030204" pitchFamily="49" charset="0"/>
              </a:rPr>
              <a:t>],</a:t>
            </a:r>
          </a:p>
          <a:p>
            <a:pPr>
              <a:buNone/>
            </a:pPr>
            <a:r>
              <a:rPr lang="en-US" b="0" dirty="0">
                <a:solidFill>
                  <a:srgbClr val="CCCCCC"/>
                </a:solidFill>
                <a:effectLst/>
                <a:latin typeface="Consolas" panose="020B0609020204030204" pitchFamily="49" charset="0"/>
              </a:rPr>
              <a:t>    </a:t>
            </a:r>
            <a:r>
              <a:rPr lang="en-US" b="0" dirty="0">
                <a:solidFill>
                  <a:srgbClr val="CE9178"/>
                </a:solidFill>
                <a:effectLst/>
                <a:latin typeface="Consolas" panose="020B0609020204030204" pitchFamily="49" charset="0"/>
              </a:rPr>
              <a:t>"score"</a:t>
            </a:r>
            <a:r>
              <a:rPr lang="en-US" b="0" dirty="0">
                <a:solidFill>
                  <a:srgbClr val="CCCCCC"/>
                </a:solidFill>
                <a:effectLst/>
                <a:latin typeface="Consolas" panose="020B0609020204030204" pitchFamily="49" charset="0"/>
              </a:rPr>
              <a:t>:   [</a:t>
            </a:r>
            <a:r>
              <a:rPr lang="en-US" b="0" dirty="0">
                <a:solidFill>
                  <a:srgbClr val="B5CEA8"/>
                </a:solidFill>
                <a:effectLst/>
                <a:latin typeface="Consolas" panose="020B0609020204030204" pitchFamily="49" charset="0"/>
              </a:rPr>
              <a:t>78</a:t>
            </a:r>
            <a:r>
              <a:rPr lang="en-US" b="0" dirty="0">
                <a:solidFill>
                  <a:srgbClr val="CCCCCC"/>
                </a:solidFill>
                <a:effectLst/>
                <a:latin typeface="Consolas" panose="020B0609020204030204" pitchFamily="49" charset="0"/>
              </a:rPr>
              <a:t>, </a:t>
            </a:r>
            <a:r>
              <a:rPr lang="en-US" b="0" dirty="0">
                <a:solidFill>
                  <a:srgbClr val="B5CEA8"/>
                </a:solidFill>
                <a:effectLst/>
                <a:latin typeface="Consolas" panose="020B0609020204030204" pitchFamily="49" charset="0"/>
              </a:rPr>
              <a:t>85</a:t>
            </a:r>
            <a:r>
              <a:rPr lang="en-US" b="0" dirty="0">
                <a:solidFill>
                  <a:srgbClr val="CCCCCC"/>
                </a:solidFill>
                <a:effectLst/>
                <a:latin typeface="Consolas" panose="020B0609020204030204" pitchFamily="49" charset="0"/>
              </a:rPr>
              <a:t>, </a:t>
            </a:r>
            <a:r>
              <a:rPr lang="en-US" b="0" dirty="0">
                <a:solidFill>
                  <a:srgbClr val="B5CEA8"/>
                </a:solidFill>
                <a:effectLst/>
                <a:latin typeface="Consolas" panose="020B0609020204030204" pitchFamily="49" charset="0"/>
              </a:rPr>
              <a:t>92</a:t>
            </a:r>
            <a:r>
              <a:rPr lang="en-US" b="0" dirty="0">
                <a:solidFill>
                  <a:srgbClr val="CCCCCC"/>
                </a:solidFill>
                <a:effectLst/>
                <a:latin typeface="Consolas" panose="020B0609020204030204" pitchFamily="49" charset="0"/>
              </a:rPr>
              <a:t>, </a:t>
            </a:r>
            <a:r>
              <a:rPr lang="en-US" b="0" dirty="0">
                <a:solidFill>
                  <a:srgbClr val="B5CEA8"/>
                </a:solidFill>
                <a:effectLst/>
                <a:latin typeface="Consolas" panose="020B0609020204030204" pitchFamily="49" charset="0"/>
              </a:rPr>
              <a:t>88</a:t>
            </a:r>
            <a:r>
              <a:rPr lang="en-US" b="0" dirty="0">
                <a:solidFill>
                  <a:srgbClr val="CCCCCC"/>
                </a:solidFill>
                <a:effectLst/>
                <a:latin typeface="Consolas" panose="020B0609020204030204" pitchFamily="49" charset="0"/>
              </a:rPr>
              <a:t>, </a:t>
            </a:r>
            <a:r>
              <a:rPr lang="en-US" b="0" dirty="0">
                <a:solidFill>
                  <a:srgbClr val="B5CEA8"/>
                </a:solidFill>
                <a:effectLst/>
                <a:latin typeface="Consolas" panose="020B0609020204030204" pitchFamily="49" charset="0"/>
              </a:rPr>
              <a:t>73</a:t>
            </a:r>
            <a:r>
              <a:rPr lang="en-US" b="0" dirty="0">
                <a:solidFill>
                  <a:srgbClr val="CCCCCC"/>
                </a:solidFill>
                <a:effectLst/>
                <a:latin typeface="Consolas" panose="020B0609020204030204" pitchFamily="49" charset="0"/>
              </a:rPr>
              <a:t>],</a:t>
            </a:r>
          </a:p>
          <a:p>
            <a:pPr>
              <a:buNone/>
            </a:pPr>
            <a:r>
              <a:rPr lang="en-US" b="0" dirty="0">
                <a:solidFill>
                  <a:srgbClr val="CCCCCC"/>
                </a:solidFill>
                <a:effectLst/>
                <a:latin typeface="Consolas" panose="020B0609020204030204" pitchFamily="49" charset="0"/>
              </a:rPr>
              <a:t>    </a:t>
            </a:r>
            <a:r>
              <a:rPr lang="en-US" b="0" dirty="0">
                <a:solidFill>
                  <a:srgbClr val="CE9178"/>
                </a:solidFill>
                <a:effectLst/>
                <a:latin typeface="Consolas" panose="020B0609020204030204" pitchFamily="49" charset="0"/>
              </a:rPr>
              <a:t>"week"</a:t>
            </a:r>
            <a:r>
              <a:rPr lang="en-US" b="0" dirty="0">
                <a:solidFill>
                  <a:srgbClr val="CCCCCC"/>
                </a:solidFill>
                <a:effectLst/>
                <a:latin typeface="Consolas" panose="020B0609020204030204" pitchFamily="49" charset="0"/>
              </a:rPr>
              <a:t>:    [</a:t>
            </a:r>
            <a:r>
              <a:rPr lang="en-US" b="0" dirty="0">
                <a:solidFill>
                  <a:srgbClr val="B5CEA8"/>
                </a:solidFill>
                <a:effectLst/>
                <a:latin typeface="Consolas" panose="020B0609020204030204" pitchFamily="49" charset="0"/>
              </a:rPr>
              <a:t>1</a:t>
            </a:r>
            <a:r>
              <a:rPr lang="en-US" b="0" dirty="0">
                <a:solidFill>
                  <a:srgbClr val="CCCCCC"/>
                </a:solidFill>
                <a:effectLst/>
                <a:latin typeface="Consolas" panose="020B0609020204030204" pitchFamily="49" charset="0"/>
              </a:rPr>
              <a:t>,</a:t>
            </a:r>
            <a:r>
              <a:rPr lang="en-US" b="0" dirty="0">
                <a:solidFill>
                  <a:srgbClr val="B5CEA8"/>
                </a:solidFill>
                <a:effectLst/>
                <a:latin typeface="Consolas" panose="020B0609020204030204" pitchFamily="49" charset="0"/>
              </a:rPr>
              <a:t>1</a:t>
            </a:r>
            <a:r>
              <a:rPr lang="en-US" b="0" dirty="0">
                <a:solidFill>
                  <a:srgbClr val="CCCCCC"/>
                </a:solidFill>
                <a:effectLst/>
                <a:latin typeface="Consolas" panose="020B0609020204030204" pitchFamily="49" charset="0"/>
              </a:rPr>
              <a:t>,</a:t>
            </a:r>
            <a:r>
              <a:rPr lang="en-US" b="0" dirty="0">
                <a:solidFill>
                  <a:srgbClr val="B5CEA8"/>
                </a:solidFill>
                <a:effectLst/>
                <a:latin typeface="Consolas" panose="020B0609020204030204" pitchFamily="49" charset="0"/>
              </a:rPr>
              <a:t>1</a:t>
            </a:r>
            <a:r>
              <a:rPr lang="en-US" b="0" dirty="0">
                <a:solidFill>
                  <a:srgbClr val="CCCCCC"/>
                </a:solidFill>
                <a:effectLst/>
                <a:latin typeface="Consolas" panose="020B0609020204030204" pitchFamily="49" charset="0"/>
              </a:rPr>
              <a:t>,</a:t>
            </a:r>
            <a:r>
              <a:rPr lang="en-US" b="0" dirty="0">
                <a:solidFill>
                  <a:srgbClr val="B5CEA8"/>
                </a:solidFill>
                <a:effectLst/>
                <a:latin typeface="Consolas" panose="020B0609020204030204" pitchFamily="49" charset="0"/>
              </a:rPr>
              <a:t>2</a:t>
            </a:r>
            <a:r>
              <a:rPr lang="en-US" b="0" dirty="0">
                <a:solidFill>
                  <a:srgbClr val="CCCCCC"/>
                </a:solidFill>
                <a:effectLst/>
                <a:latin typeface="Consolas" panose="020B0609020204030204" pitchFamily="49" charset="0"/>
              </a:rPr>
              <a:t>,</a:t>
            </a:r>
            <a:r>
              <a:rPr lang="en-US" b="0" dirty="0">
                <a:solidFill>
                  <a:srgbClr val="B5CEA8"/>
                </a:solidFill>
                <a:effectLst/>
                <a:latin typeface="Consolas" panose="020B0609020204030204" pitchFamily="49" charset="0"/>
              </a:rPr>
              <a:t>2</a:t>
            </a:r>
            <a:r>
              <a:rPr lang="en-US" b="0" dirty="0">
                <a:solidFill>
                  <a:srgbClr val="CCCCCC"/>
                </a:solidFill>
                <a:effectLst/>
                <a:latin typeface="Consolas" panose="020B0609020204030204" pitchFamily="49" charset="0"/>
              </a:rPr>
              <a:t>]</a:t>
            </a:r>
          </a:p>
          <a:p>
            <a:pPr>
              <a:buNone/>
            </a:pPr>
            <a:r>
              <a:rPr lang="en-US" b="0" dirty="0">
                <a:solidFill>
                  <a:srgbClr val="CCCCCC"/>
                </a:solidFill>
                <a:effectLst/>
                <a:latin typeface="Consolas" panose="020B0609020204030204" pitchFamily="49" charset="0"/>
              </a:rPr>
              <a:t>}).</a:t>
            </a:r>
            <a:r>
              <a:rPr lang="en-US" b="0" dirty="0" err="1">
                <a:solidFill>
                  <a:srgbClr val="DCDCAA"/>
                </a:solidFill>
                <a:effectLst/>
                <a:latin typeface="Consolas" panose="020B0609020204030204" pitchFamily="49" charset="0"/>
              </a:rPr>
              <a:t>to_csv</a:t>
            </a:r>
            <a:r>
              <a:rPr lang="en-US" b="0" dirty="0">
                <a:solidFill>
                  <a:srgbClr val="CCCCCC"/>
                </a:solidFill>
                <a:effectLst/>
                <a:latin typeface="Consolas" panose="020B0609020204030204" pitchFamily="49" charset="0"/>
              </a:rPr>
              <a:t>(</a:t>
            </a:r>
            <a:r>
              <a:rPr lang="en-US" b="0" dirty="0">
                <a:solidFill>
                  <a:srgbClr val="CE9178"/>
                </a:solidFill>
                <a:effectLst/>
                <a:latin typeface="Consolas" panose="020B0609020204030204" pitchFamily="49" charset="0"/>
              </a:rPr>
              <a:t>"scores.csv"</a:t>
            </a:r>
            <a:r>
              <a:rPr lang="en-US" b="0" dirty="0">
                <a:solidFill>
                  <a:srgbClr val="CCCCCC"/>
                </a:solidFill>
                <a:effectLst/>
                <a:latin typeface="Consolas" panose="020B0609020204030204" pitchFamily="49" charset="0"/>
              </a:rPr>
              <a:t>, </a:t>
            </a:r>
            <a:r>
              <a:rPr lang="en-US" b="0" dirty="0">
                <a:solidFill>
                  <a:srgbClr val="9CDCFE"/>
                </a:solidFill>
                <a:effectLst/>
                <a:latin typeface="Consolas" panose="020B0609020204030204" pitchFamily="49" charset="0"/>
              </a:rPr>
              <a:t>index</a:t>
            </a:r>
            <a:r>
              <a:rPr lang="en-US" b="0" dirty="0">
                <a:solidFill>
                  <a:srgbClr val="D4D4D4"/>
                </a:solidFill>
                <a:effectLst/>
                <a:latin typeface="Consolas" panose="020B0609020204030204" pitchFamily="49" charset="0"/>
              </a:rPr>
              <a:t>=</a:t>
            </a:r>
            <a:r>
              <a:rPr lang="en-US" b="0" dirty="0">
                <a:solidFill>
                  <a:srgbClr val="4FC1FF"/>
                </a:solidFill>
                <a:effectLst/>
                <a:latin typeface="Consolas" panose="020B0609020204030204" pitchFamily="49" charset="0"/>
              </a:rPr>
              <a:t>False</a:t>
            </a:r>
            <a:r>
              <a:rPr lang="en-US" b="0" dirty="0">
                <a:solidFill>
                  <a:srgbClr val="CCCCCC"/>
                </a:solidFill>
                <a:effectLst/>
                <a:latin typeface="Consolas" panose="020B0609020204030204" pitchFamily="49" charset="0"/>
              </a:rPr>
              <a:t>)</a:t>
            </a:r>
          </a:p>
          <a:p>
            <a:pPr>
              <a:buNone/>
            </a:pPr>
            <a:br>
              <a:rPr lang="en-US" b="0" dirty="0">
                <a:solidFill>
                  <a:srgbClr val="CCCCCC"/>
                </a:solidFill>
                <a:effectLst/>
                <a:latin typeface="Consolas" panose="020B0609020204030204" pitchFamily="49" charset="0"/>
              </a:rPr>
            </a:br>
            <a:r>
              <a:rPr lang="en-US" b="0" dirty="0">
                <a:solidFill>
                  <a:srgbClr val="6A9955"/>
                </a:solidFill>
                <a:effectLst/>
                <a:latin typeface="Consolas" panose="020B0609020204030204" pitchFamily="49" charset="0"/>
              </a:rPr>
              <a:t># read + compute</a:t>
            </a:r>
            <a:endParaRPr lang="en-US" b="0" dirty="0">
              <a:solidFill>
                <a:srgbClr val="CCCCCC"/>
              </a:solidFill>
              <a:effectLst/>
              <a:latin typeface="Consolas" panose="020B0609020204030204" pitchFamily="49" charset="0"/>
            </a:endParaRPr>
          </a:p>
          <a:p>
            <a:pPr>
              <a:buNone/>
            </a:pPr>
            <a:r>
              <a:rPr lang="en-US" b="0" dirty="0" err="1">
                <a:solidFill>
                  <a:srgbClr val="9CDCFE"/>
                </a:solidFill>
                <a:effectLst/>
                <a:latin typeface="Consolas" panose="020B0609020204030204" pitchFamily="49" charset="0"/>
              </a:rPr>
              <a:t>df</a:t>
            </a:r>
            <a:r>
              <a:rPr lang="en-US" b="0" dirty="0">
                <a:solidFill>
                  <a:srgbClr val="CCCCCC"/>
                </a:solidFill>
                <a:effectLst/>
                <a:latin typeface="Consolas" panose="020B0609020204030204" pitchFamily="49" charset="0"/>
              </a:rPr>
              <a:t> </a:t>
            </a:r>
            <a:r>
              <a:rPr lang="en-US" b="0" dirty="0">
                <a:solidFill>
                  <a:srgbClr val="D4D4D4"/>
                </a:solidFill>
                <a:effectLst/>
                <a:latin typeface="Consolas" panose="020B0609020204030204" pitchFamily="49" charset="0"/>
              </a:rPr>
              <a:t>=</a:t>
            </a:r>
            <a:r>
              <a:rPr lang="en-US" b="0" dirty="0">
                <a:solidFill>
                  <a:srgbClr val="CCCCCC"/>
                </a:solidFill>
                <a:effectLst/>
                <a:latin typeface="Consolas" panose="020B0609020204030204" pitchFamily="49" charset="0"/>
              </a:rPr>
              <a:t> </a:t>
            </a:r>
            <a:r>
              <a:rPr lang="en-US" b="0" dirty="0" err="1">
                <a:solidFill>
                  <a:srgbClr val="4EC9B0"/>
                </a:solidFill>
                <a:effectLst/>
                <a:latin typeface="Consolas" panose="020B0609020204030204" pitchFamily="49" charset="0"/>
              </a:rPr>
              <a:t>pd</a:t>
            </a:r>
            <a:r>
              <a:rPr lang="en-US" b="0" dirty="0" err="1">
                <a:solidFill>
                  <a:srgbClr val="CCCCCC"/>
                </a:solidFill>
                <a:effectLst/>
                <a:latin typeface="Consolas" panose="020B0609020204030204" pitchFamily="49" charset="0"/>
              </a:rPr>
              <a:t>.</a:t>
            </a:r>
            <a:r>
              <a:rPr lang="en-US" b="0" dirty="0" err="1">
                <a:solidFill>
                  <a:srgbClr val="DCDCAA"/>
                </a:solidFill>
                <a:effectLst/>
                <a:latin typeface="Consolas" panose="020B0609020204030204" pitchFamily="49" charset="0"/>
              </a:rPr>
              <a:t>read_csv</a:t>
            </a:r>
            <a:r>
              <a:rPr lang="en-US" b="0" dirty="0">
                <a:solidFill>
                  <a:srgbClr val="CCCCCC"/>
                </a:solidFill>
                <a:effectLst/>
                <a:latin typeface="Consolas" panose="020B0609020204030204" pitchFamily="49" charset="0"/>
              </a:rPr>
              <a:t>(</a:t>
            </a:r>
            <a:r>
              <a:rPr lang="en-US" b="0" dirty="0">
                <a:solidFill>
                  <a:srgbClr val="CE9178"/>
                </a:solidFill>
                <a:effectLst/>
                <a:latin typeface="Consolas" panose="020B0609020204030204" pitchFamily="49" charset="0"/>
              </a:rPr>
              <a:t>"scores.csv"</a:t>
            </a:r>
            <a:r>
              <a:rPr lang="en-US" b="0" dirty="0">
                <a:solidFill>
                  <a:srgbClr val="CCCCCC"/>
                </a:solidFill>
                <a:effectLst/>
                <a:latin typeface="Consolas" panose="020B0609020204030204" pitchFamily="49" charset="0"/>
              </a:rPr>
              <a:t>)</a:t>
            </a:r>
          </a:p>
          <a:p>
            <a:pPr>
              <a:buNone/>
            </a:pPr>
            <a:r>
              <a:rPr lang="en-US" b="0" dirty="0" err="1">
                <a:solidFill>
                  <a:srgbClr val="9CDCFE"/>
                </a:solidFill>
                <a:effectLst/>
                <a:latin typeface="Consolas" panose="020B0609020204030204" pitchFamily="49" charset="0"/>
              </a:rPr>
              <a:t>by_stu</a:t>
            </a:r>
            <a:r>
              <a:rPr lang="en-US" b="0" dirty="0">
                <a:solidFill>
                  <a:srgbClr val="CCCCCC"/>
                </a:solidFill>
                <a:effectLst/>
                <a:latin typeface="Consolas" panose="020B0609020204030204" pitchFamily="49" charset="0"/>
              </a:rPr>
              <a:t> </a:t>
            </a:r>
            <a:r>
              <a:rPr lang="en-US" b="0" dirty="0">
                <a:solidFill>
                  <a:srgbClr val="D4D4D4"/>
                </a:solidFill>
                <a:effectLst/>
                <a:latin typeface="Consolas" panose="020B0609020204030204" pitchFamily="49" charset="0"/>
              </a:rPr>
              <a:t>=</a:t>
            </a:r>
            <a:r>
              <a:rPr lang="en-US" b="0" dirty="0">
                <a:solidFill>
                  <a:srgbClr val="CCCCCC"/>
                </a:solidFill>
                <a:effectLst/>
                <a:latin typeface="Consolas" panose="020B0609020204030204" pitchFamily="49" charset="0"/>
              </a:rPr>
              <a:t> </a:t>
            </a:r>
            <a:r>
              <a:rPr lang="en-US" b="0" dirty="0" err="1">
                <a:solidFill>
                  <a:srgbClr val="9CDCFE"/>
                </a:solidFill>
                <a:effectLst/>
                <a:latin typeface="Consolas" panose="020B0609020204030204" pitchFamily="49" charset="0"/>
              </a:rPr>
              <a:t>df</a:t>
            </a:r>
            <a:r>
              <a:rPr lang="en-US" b="0" dirty="0" err="1">
                <a:solidFill>
                  <a:srgbClr val="CCCCCC"/>
                </a:solidFill>
                <a:effectLst/>
                <a:latin typeface="Consolas" panose="020B0609020204030204" pitchFamily="49" charset="0"/>
              </a:rPr>
              <a:t>.</a:t>
            </a:r>
            <a:r>
              <a:rPr lang="en-US" b="0" dirty="0" err="1">
                <a:solidFill>
                  <a:srgbClr val="DCDCAA"/>
                </a:solidFill>
                <a:effectLst/>
                <a:latin typeface="Consolas" panose="020B0609020204030204" pitchFamily="49" charset="0"/>
              </a:rPr>
              <a:t>groupby</a:t>
            </a:r>
            <a:r>
              <a:rPr lang="en-US" b="0" dirty="0">
                <a:solidFill>
                  <a:srgbClr val="CCCCCC"/>
                </a:solidFill>
                <a:effectLst/>
                <a:latin typeface="Consolas" panose="020B0609020204030204" pitchFamily="49" charset="0"/>
              </a:rPr>
              <a:t>(</a:t>
            </a:r>
            <a:r>
              <a:rPr lang="en-US" b="0" dirty="0">
                <a:solidFill>
                  <a:srgbClr val="CE9178"/>
                </a:solidFill>
                <a:effectLst/>
                <a:latin typeface="Consolas" panose="020B0609020204030204" pitchFamily="49" charset="0"/>
              </a:rPr>
              <a:t>"student"</a:t>
            </a:r>
            <a:r>
              <a:rPr lang="en-US" b="0" dirty="0">
                <a:solidFill>
                  <a:srgbClr val="CCCCCC"/>
                </a:solidFill>
                <a:effectLst/>
                <a:latin typeface="Consolas" panose="020B0609020204030204" pitchFamily="49" charset="0"/>
              </a:rPr>
              <a:t>)[</a:t>
            </a:r>
            <a:r>
              <a:rPr lang="en-US" b="0" dirty="0">
                <a:solidFill>
                  <a:srgbClr val="CE9178"/>
                </a:solidFill>
                <a:effectLst/>
                <a:latin typeface="Consolas" panose="020B0609020204030204" pitchFamily="49" charset="0"/>
              </a:rPr>
              <a:t>"score"</a:t>
            </a:r>
            <a:r>
              <a:rPr lang="en-US" b="0" dirty="0">
                <a:solidFill>
                  <a:srgbClr val="CCCCCC"/>
                </a:solidFill>
                <a:effectLst/>
                <a:latin typeface="Consolas" panose="020B0609020204030204" pitchFamily="49" charset="0"/>
              </a:rPr>
              <a:t>].</a:t>
            </a:r>
            <a:r>
              <a:rPr lang="en-US" b="0" dirty="0">
                <a:solidFill>
                  <a:srgbClr val="DCDCAA"/>
                </a:solidFill>
                <a:effectLst/>
                <a:latin typeface="Consolas" panose="020B0609020204030204" pitchFamily="49" charset="0"/>
              </a:rPr>
              <a:t>mean</a:t>
            </a:r>
            <a:r>
              <a:rPr lang="en-US" b="0" dirty="0">
                <a:solidFill>
                  <a:srgbClr val="CCCCCC"/>
                </a:solidFill>
                <a:effectLst/>
                <a:latin typeface="Consolas" panose="020B0609020204030204" pitchFamily="49" charset="0"/>
              </a:rPr>
              <a:t>().</a:t>
            </a:r>
            <a:r>
              <a:rPr lang="en-US" b="0" dirty="0" err="1">
                <a:solidFill>
                  <a:srgbClr val="DCDCAA"/>
                </a:solidFill>
                <a:effectLst/>
                <a:latin typeface="Consolas" panose="020B0609020204030204" pitchFamily="49" charset="0"/>
              </a:rPr>
              <a:t>sort_values</a:t>
            </a:r>
            <a:r>
              <a:rPr lang="en-US" b="0" dirty="0">
                <a:solidFill>
                  <a:srgbClr val="CCCCCC"/>
                </a:solidFill>
                <a:effectLst/>
                <a:latin typeface="Consolas" panose="020B0609020204030204" pitchFamily="49" charset="0"/>
              </a:rPr>
              <a:t>(</a:t>
            </a:r>
            <a:r>
              <a:rPr lang="en-US" b="0" dirty="0">
                <a:solidFill>
                  <a:srgbClr val="9CDCFE"/>
                </a:solidFill>
                <a:effectLst/>
                <a:latin typeface="Consolas" panose="020B0609020204030204" pitchFamily="49" charset="0"/>
              </a:rPr>
              <a:t>ascending</a:t>
            </a:r>
            <a:r>
              <a:rPr lang="en-US" b="0" dirty="0">
                <a:solidFill>
                  <a:srgbClr val="D4D4D4"/>
                </a:solidFill>
                <a:effectLst/>
                <a:latin typeface="Consolas" panose="020B0609020204030204" pitchFamily="49" charset="0"/>
              </a:rPr>
              <a:t>=</a:t>
            </a:r>
            <a:r>
              <a:rPr lang="en-US" b="0" dirty="0">
                <a:solidFill>
                  <a:srgbClr val="4FC1FF"/>
                </a:solidFill>
                <a:effectLst/>
                <a:latin typeface="Consolas" panose="020B0609020204030204" pitchFamily="49" charset="0"/>
              </a:rPr>
              <a:t>False</a:t>
            </a:r>
            <a:r>
              <a:rPr lang="en-US" b="0" dirty="0">
                <a:solidFill>
                  <a:srgbClr val="CCCCCC"/>
                </a:solidFill>
                <a:effectLst/>
                <a:latin typeface="Consolas" panose="020B0609020204030204" pitchFamily="49" charset="0"/>
              </a:rPr>
              <a:t>)</a:t>
            </a:r>
          </a:p>
          <a:p>
            <a:pPr>
              <a:buNone/>
            </a:pPr>
            <a:r>
              <a:rPr lang="en-US" b="0" dirty="0" err="1">
                <a:solidFill>
                  <a:srgbClr val="9CDCFE"/>
                </a:solidFill>
                <a:effectLst/>
                <a:latin typeface="Consolas" panose="020B0609020204030204" pitchFamily="49" charset="0"/>
              </a:rPr>
              <a:t>by_week</a:t>
            </a:r>
            <a:r>
              <a:rPr lang="en-US" b="0" dirty="0">
                <a:solidFill>
                  <a:srgbClr val="CCCCCC"/>
                </a:solidFill>
                <a:effectLst/>
                <a:latin typeface="Consolas" panose="020B0609020204030204" pitchFamily="49" charset="0"/>
              </a:rPr>
              <a:t> </a:t>
            </a:r>
            <a:r>
              <a:rPr lang="en-US" b="0" dirty="0">
                <a:solidFill>
                  <a:srgbClr val="D4D4D4"/>
                </a:solidFill>
                <a:effectLst/>
                <a:latin typeface="Consolas" panose="020B0609020204030204" pitchFamily="49" charset="0"/>
              </a:rPr>
              <a:t>=</a:t>
            </a:r>
            <a:r>
              <a:rPr lang="en-US" b="0" dirty="0">
                <a:solidFill>
                  <a:srgbClr val="CCCCCC"/>
                </a:solidFill>
                <a:effectLst/>
                <a:latin typeface="Consolas" panose="020B0609020204030204" pitchFamily="49" charset="0"/>
              </a:rPr>
              <a:t> </a:t>
            </a:r>
            <a:r>
              <a:rPr lang="en-US" b="0" dirty="0" err="1">
                <a:solidFill>
                  <a:srgbClr val="9CDCFE"/>
                </a:solidFill>
                <a:effectLst/>
                <a:latin typeface="Consolas" panose="020B0609020204030204" pitchFamily="49" charset="0"/>
              </a:rPr>
              <a:t>df</a:t>
            </a:r>
            <a:r>
              <a:rPr lang="en-US" b="0" dirty="0" err="1">
                <a:solidFill>
                  <a:srgbClr val="CCCCCC"/>
                </a:solidFill>
                <a:effectLst/>
                <a:latin typeface="Consolas" panose="020B0609020204030204" pitchFamily="49" charset="0"/>
              </a:rPr>
              <a:t>.</a:t>
            </a:r>
            <a:r>
              <a:rPr lang="en-US" b="0" dirty="0" err="1">
                <a:solidFill>
                  <a:srgbClr val="DCDCAA"/>
                </a:solidFill>
                <a:effectLst/>
                <a:latin typeface="Consolas" panose="020B0609020204030204" pitchFamily="49" charset="0"/>
              </a:rPr>
              <a:t>groupby</a:t>
            </a:r>
            <a:r>
              <a:rPr lang="en-US" b="0" dirty="0">
                <a:solidFill>
                  <a:srgbClr val="CCCCCC"/>
                </a:solidFill>
                <a:effectLst/>
                <a:latin typeface="Consolas" panose="020B0609020204030204" pitchFamily="49" charset="0"/>
              </a:rPr>
              <a:t>(</a:t>
            </a:r>
            <a:r>
              <a:rPr lang="en-US" b="0" dirty="0">
                <a:solidFill>
                  <a:srgbClr val="CE9178"/>
                </a:solidFill>
                <a:effectLst/>
                <a:latin typeface="Consolas" panose="020B0609020204030204" pitchFamily="49" charset="0"/>
              </a:rPr>
              <a:t>"week"</a:t>
            </a:r>
            <a:r>
              <a:rPr lang="en-US" b="0" dirty="0">
                <a:solidFill>
                  <a:srgbClr val="CCCCCC"/>
                </a:solidFill>
                <a:effectLst/>
                <a:latin typeface="Consolas" panose="020B0609020204030204" pitchFamily="49" charset="0"/>
              </a:rPr>
              <a:t>)[</a:t>
            </a:r>
            <a:r>
              <a:rPr lang="en-US" b="0" dirty="0">
                <a:solidFill>
                  <a:srgbClr val="CE9178"/>
                </a:solidFill>
                <a:effectLst/>
                <a:latin typeface="Consolas" panose="020B0609020204030204" pitchFamily="49" charset="0"/>
              </a:rPr>
              <a:t>"score"</a:t>
            </a:r>
            <a:r>
              <a:rPr lang="en-US" b="0" dirty="0">
                <a:solidFill>
                  <a:srgbClr val="CCCCCC"/>
                </a:solidFill>
                <a:effectLst/>
                <a:latin typeface="Consolas" panose="020B0609020204030204" pitchFamily="49" charset="0"/>
              </a:rPr>
              <a:t>].</a:t>
            </a:r>
            <a:r>
              <a:rPr lang="en-US" b="0" dirty="0">
                <a:solidFill>
                  <a:srgbClr val="DCDCAA"/>
                </a:solidFill>
                <a:effectLst/>
                <a:latin typeface="Consolas" panose="020B0609020204030204" pitchFamily="49" charset="0"/>
              </a:rPr>
              <a:t>mean</a:t>
            </a:r>
            <a:r>
              <a:rPr lang="en-US" b="0" dirty="0">
                <a:solidFill>
                  <a:srgbClr val="CCCCCC"/>
                </a:solidFill>
                <a:effectLst/>
                <a:latin typeface="Consolas" panose="020B0609020204030204" pitchFamily="49" charset="0"/>
              </a:rPr>
              <a:t>()</a:t>
            </a:r>
          </a:p>
          <a:p>
            <a:pPr>
              <a:buNone/>
            </a:pPr>
            <a:br>
              <a:rPr lang="en-US" b="0" dirty="0">
                <a:solidFill>
                  <a:srgbClr val="CCCCCC"/>
                </a:solidFill>
                <a:effectLst/>
                <a:latin typeface="Consolas" panose="020B0609020204030204" pitchFamily="49" charset="0"/>
              </a:rPr>
            </a:br>
            <a:r>
              <a:rPr lang="en-US" b="0" dirty="0">
                <a:solidFill>
                  <a:srgbClr val="DCDCAA"/>
                </a:solidFill>
                <a:effectLst/>
                <a:latin typeface="Consolas" panose="020B0609020204030204" pitchFamily="49" charset="0"/>
              </a:rPr>
              <a:t>print</a:t>
            </a:r>
            <a:r>
              <a:rPr lang="en-US" b="0" dirty="0">
                <a:solidFill>
                  <a:srgbClr val="CCCCCC"/>
                </a:solidFill>
                <a:effectLst/>
                <a:latin typeface="Consolas" panose="020B0609020204030204" pitchFamily="49" charset="0"/>
              </a:rPr>
              <a:t>(</a:t>
            </a:r>
            <a:r>
              <a:rPr lang="en-US" b="0" dirty="0">
                <a:solidFill>
                  <a:srgbClr val="CE9178"/>
                </a:solidFill>
                <a:effectLst/>
                <a:latin typeface="Consolas" panose="020B0609020204030204" pitchFamily="49" charset="0"/>
              </a:rPr>
              <a:t>"Average by student:</a:t>
            </a:r>
            <a:r>
              <a:rPr lang="en-US" b="0" dirty="0">
                <a:solidFill>
                  <a:srgbClr val="D7BA7D"/>
                </a:solidFill>
                <a:effectLst/>
                <a:latin typeface="Consolas" panose="020B0609020204030204" pitchFamily="49" charset="0"/>
              </a:rPr>
              <a:t>\n</a:t>
            </a:r>
            <a:r>
              <a:rPr lang="en-US" b="0" dirty="0">
                <a:solidFill>
                  <a:srgbClr val="CE9178"/>
                </a:solidFill>
                <a:effectLst/>
                <a:latin typeface="Consolas" panose="020B0609020204030204" pitchFamily="49" charset="0"/>
              </a:rPr>
              <a:t>"</a:t>
            </a:r>
            <a:r>
              <a:rPr lang="en-US" b="0" dirty="0">
                <a:solidFill>
                  <a:srgbClr val="CCCCCC"/>
                </a:solidFill>
                <a:effectLst/>
                <a:latin typeface="Consolas" panose="020B0609020204030204" pitchFamily="49" charset="0"/>
              </a:rPr>
              <a:t>, </a:t>
            </a:r>
            <a:r>
              <a:rPr lang="en-US" b="0" dirty="0" err="1">
                <a:solidFill>
                  <a:srgbClr val="9CDCFE"/>
                </a:solidFill>
                <a:effectLst/>
                <a:latin typeface="Consolas" panose="020B0609020204030204" pitchFamily="49" charset="0"/>
              </a:rPr>
              <a:t>by_stu</a:t>
            </a:r>
            <a:r>
              <a:rPr lang="en-US" b="0" dirty="0" err="1">
                <a:solidFill>
                  <a:srgbClr val="CCCCCC"/>
                </a:solidFill>
                <a:effectLst/>
                <a:latin typeface="Consolas" panose="020B0609020204030204" pitchFamily="49" charset="0"/>
              </a:rPr>
              <a:t>.</a:t>
            </a:r>
            <a:r>
              <a:rPr lang="en-US" b="0" dirty="0" err="1">
                <a:solidFill>
                  <a:srgbClr val="DCDCAA"/>
                </a:solidFill>
                <a:effectLst/>
                <a:latin typeface="Consolas" panose="020B0609020204030204" pitchFamily="49" charset="0"/>
              </a:rPr>
              <a:t>to_dict</a:t>
            </a:r>
            <a:r>
              <a:rPr lang="en-US" b="0" dirty="0">
                <a:solidFill>
                  <a:srgbClr val="CCCCCC"/>
                </a:solidFill>
                <a:effectLst/>
                <a:latin typeface="Consolas" panose="020B0609020204030204" pitchFamily="49" charset="0"/>
              </a:rPr>
              <a:t>())  </a:t>
            </a:r>
            <a:r>
              <a:rPr lang="en-US" b="0" dirty="0">
                <a:solidFill>
                  <a:srgbClr val="6A9955"/>
                </a:solidFill>
                <a:effectLst/>
                <a:latin typeface="Consolas" panose="020B0609020204030204" pitchFamily="49" charset="0"/>
              </a:rPr>
              <a:t># {'Cara': 92.0, 'Ana': 83.0, 'Ben': 79.0}</a:t>
            </a:r>
            <a:endParaRPr lang="en-US" b="0" dirty="0">
              <a:solidFill>
                <a:srgbClr val="CCCCCC"/>
              </a:solidFill>
              <a:effectLst/>
              <a:latin typeface="Consolas" panose="020B0609020204030204" pitchFamily="49" charset="0"/>
            </a:endParaRPr>
          </a:p>
          <a:p>
            <a:pPr>
              <a:buNone/>
            </a:pPr>
            <a:r>
              <a:rPr lang="en-US" b="0" dirty="0">
                <a:solidFill>
                  <a:srgbClr val="DCDCAA"/>
                </a:solidFill>
                <a:effectLst/>
                <a:latin typeface="Consolas" panose="020B0609020204030204" pitchFamily="49" charset="0"/>
              </a:rPr>
              <a:t>print</a:t>
            </a:r>
            <a:r>
              <a:rPr lang="en-US" b="0" dirty="0">
                <a:solidFill>
                  <a:srgbClr val="CCCCCC"/>
                </a:solidFill>
                <a:effectLst/>
                <a:latin typeface="Consolas" panose="020B0609020204030204" pitchFamily="49" charset="0"/>
              </a:rPr>
              <a:t>(</a:t>
            </a:r>
            <a:r>
              <a:rPr lang="en-US" b="0" dirty="0">
                <a:solidFill>
                  <a:srgbClr val="CE9178"/>
                </a:solidFill>
                <a:effectLst/>
                <a:latin typeface="Consolas" panose="020B0609020204030204" pitchFamily="49" charset="0"/>
              </a:rPr>
              <a:t>"Average by week:</a:t>
            </a:r>
            <a:r>
              <a:rPr lang="en-US" b="0" dirty="0">
                <a:solidFill>
                  <a:srgbClr val="D7BA7D"/>
                </a:solidFill>
                <a:effectLst/>
                <a:latin typeface="Consolas" panose="020B0609020204030204" pitchFamily="49" charset="0"/>
              </a:rPr>
              <a:t>\n</a:t>
            </a:r>
            <a:r>
              <a:rPr lang="en-US" b="0" dirty="0">
                <a:solidFill>
                  <a:srgbClr val="CE9178"/>
                </a:solidFill>
                <a:effectLst/>
                <a:latin typeface="Consolas" panose="020B0609020204030204" pitchFamily="49" charset="0"/>
              </a:rPr>
              <a:t>"</a:t>
            </a:r>
            <a:r>
              <a:rPr lang="en-US" b="0" dirty="0">
                <a:solidFill>
                  <a:srgbClr val="CCCCCC"/>
                </a:solidFill>
                <a:effectLst/>
                <a:latin typeface="Consolas" panose="020B0609020204030204" pitchFamily="49" charset="0"/>
              </a:rPr>
              <a:t>, </a:t>
            </a:r>
            <a:r>
              <a:rPr lang="en-US" b="0" dirty="0" err="1">
                <a:solidFill>
                  <a:srgbClr val="9CDCFE"/>
                </a:solidFill>
                <a:effectLst/>
                <a:latin typeface="Consolas" panose="020B0609020204030204" pitchFamily="49" charset="0"/>
              </a:rPr>
              <a:t>by_week</a:t>
            </a:r>
            <a:r>
              <a:rPr lang="en-US" b="0" dirty="0" err="1">
                <a:solidFill>
                  <a:srgbClr val="CCCCCC"/>
                </a:solidFill>
                <a:effectLst/>
                <a:latin typeface="Consolas" panose="020B0609020204030204" pitchFamily="49" charset="0"/>
              </a:rPr>
              <a:t>.</a:t>
            </a:r>
            <a:r>
              <a:rPr lang="en-US" b="0" dirty="0" err="1">
                <a:solidFill>
                  <a:srgbClr val="DCDCAA"/>
                </a:solidFill>
                <a:effectLst/>
                <a:latin typeface="Consolas" panose="020B0609020204030204" pitchFamily="49" charset="0"/>
              </a:rPr>
              <a:t>to_dict</a:t>
            </a:r>
            <a:r>
              <a:rPr lang="en-US" b="0" dirty="0">
                <a:solidFill>
                  <a:srgbClr val="CCCCCC"/>
                </a:solidFill>
                <a:effectLst/>
                <a:latin typeface="Consolas" panose="020B0609020204030204" pitchFamily="49" charset="0"/>
              </a:rPr>
              <a:t>())    </a:t>
            </a:r>
            <a:r>
              <a:rPr lang="en-US" b="0" dirty="0">
                <a:solidFill>
                  <a:srgbClr val="6A9955"/>
                </a:solidFill>
                <a:effectLst/>
                <a:latin typeface="Consolas" panose="020B0609020204030204" pitchFamily="49" charset="0"/>
              </a:rPr>
              <a:t># {1: 85.0, 2: 80.5}</a:t>
            </a:r>
            <a:endParaRPr lang="en-US" b="0" dirty="0">
              <a:solidFill>
                <a:srgbClr val="CCCCCC"/>
              </a:solidFill>
              <a:effectLst/>
              <a:latin typeface="Consolas" panose="020B0609020204030204" pitchFamily="49" charset="0"/>
            </a:endParaRPr>
          </a:p>
        </p:txBody>
      </p:sp>
    </p:spTree>
    <p:extLst>
      <p:ext uri="{BB962C8B-B14F-4D97-AF65-F5344CB8AC3E}">
        <p14:creationId xmlns:p14="http://schemas.microsoft.com/office/powerpoint/2010/main" val="30093131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58CDC9-A7F0-B9E3-E9E4-516B619781B9}"/>
            </a:ext>
          </a:extLst>
        </p:cNvPr>
        <p:cNvGrpSpPr/>
        <p:nvPr/>
      </p:nvGrpSpPr>
      <p:grpSpPr>
        <a:xfrm>
          <a:off x="0" y="0"/>
          <a:ext cx="0" cy="0"/>
          <a:chOff x="0" y="0"/>
          <a:chExt cx="0" cy="0"/>
        </a:xfrm>
      </p:grpSpPr>
      <p:pic>
        <p:nvPicPr>
          <p:cNvPr id="3" name="object 3">
            <a:extLst>
              <a:ext uri="{FF2B5EF4-FFF2-40B4-BE49-F238E27FC236}">
                <a16:creationId xmlns:a16="http://schemas.microsoft.com/office/drawing/2014/main" id="{D91AB5A2-B21D-66A0-4528-C2C55210EBB0}"/>
              </a:ext>
            </a:extLst>
          </p:cNvPr>
          <p:cNvPicPr/>
          <p:nvPr/>
        </p:nvPicPr>
        <p:blipFill>
          <a:blip r:embed="rId2" cstate="print"/>
          <a:stretch>
            <a:fillRect/>
          </a:stretch>
        </p:blipFill>
        <p:spPr>
          <a:xfrm>
            <a:off x="10261092" y="0"/>
            <a:ext cx="1930907" cy="1901952"/>
          </a:xfrm>
          <a:prstGeom prst="rect">
            <a:avLst/>
          </a:prstGeom>
        </p:spPr>
      </p:pic>
      <p:sp>
        <p:nvSpPr>
          <p:cNvPr id="5" name="TextBox 4">
            <a:extLst>
              <a:ext uri="{FF2B5EF4-FFF2-40B4-BE49-F238E27FC236}">
                <a16:creationId xmlns:a16="http://schemas.microsoft.com/office/drawing/2014/main" id="{45EF6D16-E124-24B9-1D4B-698CF1363FA5}"/>
              </a:ext>
            </a:extLst>
          </p:cNvPr>
          <p:cNvSpPr txBox="1"/>
          <p:nvPr/>
        </p:nvSpPr>
        <p:spPr>
          <a:xfrm>
            <a:off x="0" y="0"/>
            <a:ext cx="11887199" cy="646331"/>
          </a:xfrm>
          <a:prstGeom prst="rect">
            <a:avLst/>
          </a:prstGeom>
          <a:noFill/>
        </p:spPr>
        <p:txBody>
          <a:bodyPr wrap="square">
            <a:spAutoFit/>
          </a:bodyPr>
          <a:lstStyle/>
          <a:p>
            <a:r>
              <a:rPr lang="en-US" sz="3600" b="1" dirty="0"/>
              <a:t>Thank You</a:t>
            </a:r>
          </a:p>
        </p:txBody>
      </p:sp>
      <p:sp>
        <p:nvSpPr>
          <p:cNvPr id="6" name="Rectangle 1">
            <a:extLst>
              <a:ext uri="{FF2B5EF4-FFF2-40B4-BE49-F238E27FC236}">
                <a16:creationId xmlns:a16="http://schemas.microsoft.com/office/drawing/2014/main" id="{82B71991-9C10-2CDD-0295-065A9579E266}"/>
              </a:ext>
            </a:extLst>
          </p:cNvPr>
          <p:cNvSpPr>
            <a:spLocks noChangeArrowheads="1"/>
          </p:cNvSpPr>
          <p:nvPr/>
        </p:nvSpPr>
        <p:spPr bwMode="auto">
          <a:xfrm>
            <a:off x="1981200" y="1577975"/>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900" b="1" i="0" u="none" strike="noStrike" cap="none" normalizeH="0" baseline="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4" name="Rectangle 1">
            <a:extLst>
              <a:ext uri="{FF2B5EF4-FFF2-40B4-BE49-F238E27FC236}">
                <a16:creationId xmlns:a16="http://schemas.microsoft.com/office/drawing/2014/main" id="{0550CBBC-F537-AFEC-634C-56C9DAB14615}"/>
              </a:ext>
            </a:extLst>
          </p:cNvPr>
          <p:cNvSpPr>
            <a:spLocks noChangeArrowheads="1"/>
          </p:cNvSpPr>
          <p:nvPr/>
        </p:nvSpPr>
        <p:spPr bwMode="auto">
          <a:xfrm>
            <a:off x="609600" y="2239963"/>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900" b="1" i="0" u="none" strike="noStrike" cap="none" normalizeH="0" baseline="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7" name="Rectangle 1">
            <a:extLst>
              <a:ext uri="{FF2B5EF4-FFF2-40B4-BE49-F238E27FC236}">
                <a16:creationId xmlns:a16="http://schemas.microsoft.com/office/drawing/2014/main" id="{85037F8A-312A-5706-B9D4-BD56C9AD7D90}"/>
              </a:ext>
            </a:extLst>
          </p:cNvPr>
          <p:cNvSpPr>
            <a:spLocks noChangeArrowheads="1"/>
          </p:cNvSpPr>
          <p:nvPr/>
        </p:nvSpPr>
        <p:spPr bwMode="auto">
          <a:xfrm>
            <a:off x="609600" y="2560638"/>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900" b="1" i="0" u="none" strike="noStrike" cap="none" normalizeH="0" baseline="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9" name="Rectangle 1">
            <a:extLst>
              <a:ext uri="{FF2B5EF4-FFF2-40B4-BE49-F238E27FC236}">
                <a16:creationId xmlns:a16="http://schemas.microsoft.com/office/drawing/2014/main" id="{163D227C-1D36-DEFE-C2F8-3CA3D97D9231}"/>
              </a:ext>
            </a:extLst>
          </p:cNvPr>
          <p:cNvSpPr>
            <a:spLocks noChangeArrowheads="1"/>
          </p:cNvSpPr>
          <p:nvPr/>
        </p:nvSpPr>
        <p:spPr bwMode="auto">
          <a:xfrm>
            <a:off x="609600" y="2606675"/>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900" b="1" i="0" u="none" strike="noStrike" cap="none" normalizeH="0" baseline="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10" name="TextBox 9">
            <a:extLst>
              <a:ext uri="{FF2B5EF4-FFF2-40B4-BE49-F238E27FC236}">
                <a16:creationId xmlns:a16="http://schemas.microsoft.com/office/drawing/2014/main" id="{4EE1BCA2-620C-3559-3A80-9228DA241173}"/>
              </a:ext>
            </a:extLst>
          </p:cNvPr>
          <p:cNvSpPr txBox="1"/>
          <p:nvPr/>
        </p:nvSpPr>
        <p:spPr>
          <a:xfrm>
            <a:off x="609600" y="2441246"/>
            <a:ext cx="10972800" cy="1318181"/>
          </a:xfrm>
          <a:prstGeom prst="rect">
            <a:avLst/>
          </a:prstGeom>
          <a:noFill/>
        </p:spPr>
        <p:txBody>
          <a:bodyPr wrap="square">
            <a:spAutoFit/>
          </a:bodyPr>
          <a:lstStyle/>
          <a:p>
            <a:pPr>
              <a:lnSpc>
                <a:spcPct val="150000"/>
              </a:lnSpc>
              <a:buNone/>
            </a:pPr>
            <a:r>
              <a:rPr lang="en-US" sz="2800" dirty="0">
                <a:latin typeface="+mj-lt"/>
              </a:rPr>
              <a:t>Need Help with coding? Send an email or ask during the tutorial session.</a:t>
            </a:r>
          </a:p>
          <a:p>
            <a:pPr>
              <a:lnSpc>
                <a:spcPct val="150000"/>
              </a:lnSpc>
              <a:buNone/>
            </a:pPr>
            <a:r>
              <a:rPr lang="en-US" sz="2800" dirty="0">
                <a:latin typeface="+mj-lt"/>
              </a:rPr>
              <a:t>FKeivanian@my.holmes.edu.au</a:t>
            </a:r>
          </a:p>
        </p:txBody>
      </p:sp>
    </p:spTree>
    <p:extLst>
      <p:ext uri="{BB962C8B-B14F-4D97-AF65-F5344CB8AC3E}">
        <p14:creationId xmlns:p14="http://schemas.microsoft.com/office/powerpoint/2010/main" val="258369586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
  <TotalTime>674</TotalTime>
  <Words>1798</Words>
  <Application>Microsoft Office PowerPoint</Application>
  <PresentationFormat>Custom</PresentationFormat>
  <Paragraphs>161</Paragraphs>
  <Slides>29</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29</vt:i4>
      </vt:variant>
    </vt:vector>
  </HeadingPairs>
  <TitlesOfParts>
    <vt:vector size="35" baseType="lpstr">
      <vt:lpstr>Aptos</vt:lpstr>
      <vt:lpstr>Arial</vt:lpstr>
      <vt:lpstr>Calibri</vt:lpstr>
      <vt:lpstr>Consolas</vt:lpstr>
      <vt:lpstr>Verdana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Farshid Keivanian</dc:creator>
  <cp:lastModifiedBy>Farshid Keivanian</cp:lastModifiedBy>
  <cp:revision>231</cp:revision>
  <dcterms:created xsi:type="dcterms:W3CDTF">2025-04-05T17:32:34Z</dcterms:created>
  <dcterms:modified xsi:type="dcterms:W3CDTF">2025-08-10T11:18:23Z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2024-05-02T00:00:00Z</vt:filetime>
  </property>
  <property fmtid="{D5CDD505-2E9C-101B-9397-08002B2CF9AE}" pid="3" name="Creator">
    <vt:lpwstr>Microsoft® Word for Microsoft 365</vt:lpwstr>
  </property>
  <property fmtid="{D5CDD505-2E9C-101B-9397-08002B2CF9AE}" pid="4" name="LastSaved">
    <vt:filetime>2025-04-05T00:00:00Z</vt:filetime>
  </property>
  <property fmtid="{D5CDD505-2E9C-101B-9397-08002B2CF9AE}" pid="5" name="Producer">
    <vt:lpwstr>Adobe Acrobat Pro (64-bit) 24.2.20687</vt:lpwstr>
  </property>
</Properties>
</file>