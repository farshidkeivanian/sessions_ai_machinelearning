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378" r:id="rId3"/>
    <p:sldId id="1815" r:id="rId4"/>
    <p:sldId id="1864" r:id="rId5"/>
    <p:sldId id="1854" r:id="rId6"/>
    <p:sldId id="1879" r:id="rId7"/>
    <p:sldId id="1881" r:id="rId8"/>
    <p:sldId id="1882" r:id="rId9"/>
    <p:sldId id="1883" r:id="rId10"/>
    <p:sldId id="1889" r:id="rId11"/>
    <p:sldId id="1885" r:id="rId12"/>
    <p:sldId id="1886" r:id="rId13"/>
    <p:sldId id="1887" r:id="rId14"/>
    <p:sldId id="1888" r:id="rId15"/>
    <p:sldId id="1884" r:id="rId16"/>
    <p:sldId id="1890" r:id="rId17"/>
    <p:sldId id="1891" r:id="rId18"/>
    <p:sldId id="1892" r:id="rId19"/>
    <p:sldId id="1893" r:id="rId20"/>
    <p:sldId id="1894" r:id="rId21"/>
    <p:sldId id="1895" r:id="rId22"/>
    <p:sldId id="1898" r:id="rId23"/>
    <p:sldId id="1896" r:id="rId24"/>
    <p:sldId id="1897" r:id="rId25"/>
    <p:sldId id="1899" r:id="rId26"/>
    <p:sldId id="1900" r:id="rId27"/>
    <p:sldId id="1901" r:id="rId28"/>
    <p:sldId id="1902" r:id="rId29"/>
    <p:sldId id="1903" r:id="rId30"/>
    <p:sldId id="612" r:id="rId31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5" autoAdjust="0"/>
    <p:restoredTop sz="94660"/>
  </p:normalViewPr>
  <p:slideViewPr>
    <p:cSldViewPr>
      <p:cViewPr>
        <p:scale>
          <a:sx n="33" d="100"/>
          <a:sy n="33" d="100"/>
        </p:scale>
        <p:origin x="1816" y="5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A5373-6344-4AF6-9BAC-A104016F08E5}" type="datetimeFigureOut">
              <a:rPr lang="en-AU" smtClean="0"/>
              <a:t>8/09/2025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1257300"/>
            <a:ext cx="41148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4840288"/>
            <a:ext cx="975360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9553575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7AD3A-C137-495D-BCE3-2058CBCF8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785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olmesedug-my.sharepoint.com/:x:/g/personal/ftohidi_holmes_edu_au/EUrG7OWCVV1IjJgIf-1U-2oB1tVVBNE7djKHIqtFSdsO6g?e=D1iU1q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5A8AFA4-5C32-4100-9C6D-839A47E15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0058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B5F253-7949-47C2-9DBD-1570ECDA2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1005839"/>
            <a:ext cx="5421703" cy="80467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914400" y="1840319"/>
            <a:ext cx="4953000" cy="30364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HI6040 (Artificial Intelligence and Machine Learning)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Dr. Farshid Keivanian</a:t>
            </a:r>
            <a:endParaRPr lang="en-US" sz="36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A1B80-27DD-FC4B-43BE-F15BBB7F7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r="24813" b="1"/>
          <a:stretch>
            <a:fillRect/>
          </a:stretch>
        </p:blipFill>
        <p:spPr>
          <a:xfrm>
            <a:off x="6107503" y="1005838"/>
            <a:ext cx="5410200" cy="80467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F26088-CD0B-4B6E-C264-86192CFA8212}"/>
              </a:ext>
            </a:extLst>
          </p:cNvPr>
          <p:cNvSpPr txBox="1"/>
          <p:nvPr/>
        </p:nvSpPr>
        <p:spPr>
          <a:xfrm>
            <a:off x="1828800" y="7010400"/>
            <a:ext cx="3604406" cy="756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Tutorial Week 8</a:t>
            </a:r>
            <a:endParaRPr lang="en-US" sz="36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F2FAC8-42AD-DB92-166F-2F42E02C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47F174-E865-EA2C-9A7B-75ECF3EA7974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Outline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2898743-2B79-D5DF-5AFF-870A1775B5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C30F892-69B9-E3BA-260C-8084D712A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26459-E9EB-FA7D-8B8F-E2F5CD70284A}"/>
              </a:ext>
            </a:extLst>
          </p:cNvPr>
          <p:cNvSpPr txBox="1"/>
          <p:nvPr/>
        </p:nvSpPr>
        <p:spPr>
          <a:xfrm>
            <a:off x="185635" y="1025671"/>
            <a:ext cx="11810999" cy="903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Group Class Facilitation for HI6040-S1-T2.2025 (Sydney Campus)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What Students Should Do in Week 8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Example 1: Clustering the Iris Dataset: K-Means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Activity 1: Show the Cluster Centers in K-Means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Activity 2: Change the marker/size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Activity 3: Show centers for k=4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Activity 4: Compare sepal vs petal features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Activity 5: Change k and observe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Activity 6: Try different features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Activity 7: Standardize then cluster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Example 2: Choosing k: Elbow &amp; Silhouette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Example 3: DBSCAN: Clustering by Density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Activity 8: Tune eps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Activity 9: Compare to K-Means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Activity 10: Standardization effect</a:t>
            </a:r>
          </a:p>
        </p:txBody>
      </p:sp>
    </p:spTree>
    <p:extLst>
      <p:ext uri="{BB962C8B-B14F-4D97-AF65-F5344CB8AC3E}">
        <p14:creationId xmlns:p14="http://schemas.microsoft.com/office/powerpoint/2010/main" val="298406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64163D-0BE7-848D-C936-9B4FBB96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F322B6-2450-B234-74F1-3103B6C3D038}"/>
              </a:ext>
            </a:extLst>
          </p:cNvPr>
          <p:cNvSpPr txBox="1"/>
          <p:nvPr/>
        </p:nvSpPr>
        <p:spPr>
          <a:xfrm>
            <a:off x="191211" y="213486"/>
            <a:ext cx="104013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Group Class Facilitation for HI6040-S1-T2.2025 (Sydney Campus)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3F89509-3804-61EC-3CFB-897E66FA43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BC6C920-C9C0-E822-1ABE-55C24989D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45F0D-7CC3-9922-18C9-BEA6EE83F978}"/>
              </a:ext>
            </a:extLst>
          </p:cNvPr>
          <p:cNvSpPr txBox="1"/>
          <p:nvPr/>
        </p:nvSpPr>
        <p:spPr>
          <a:xfrm>
            <a:off x="380999" y="1441079"/>
            <a:ext cx="118109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For the Group Class Facilitation assessment (worth 30%), your group must select a topic and email it to me for approval.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In addition, each group must book a time slot for your presentation session. Please use the following link to book your slot: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51BC5E-B43F-0BBC-CAE0-B9215BC31CFB}"/>
              </a:ext>
            </a:extLst>
          </p:cNvPr>
          <p:cNvSpPr txBox="1"/>
          <p:nvPr/>
        </p:nvSpPr>
        <p:spPr>
          <a:xfrm>
            <a:off x="457200" y="4281806"/>
            <a:ext cx="861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  <a:hlinkClick r:id="rId3"/>
              </a:rPr>
              <a:t>Presentation Schedule for HI6040-2025 (Sydney S1).xlsx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8435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2CFFF92-52E6-1F06-BAB8-4BF6D1F4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10003C-AF90-E7E5-D30B-90D35AEA3117}"/>
              </a:ext>
            </a:extLst>
          </p:cNvPr>
          <p:cNvSpPr txBox="1"/>
          <p:nvPr/>
        </p:nvSpPr>
        <p:spPr>
          <a:xfrm>
            <a:off x="191211" y="213486"/>
            <a:ext cx="104013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Group Class Facilitation for HI6040-S1-T2.2025 (Sydney Campus)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6AF1FCF-8D9F-72A8-FD69-AF1AD67FC2C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58C63BA-254A-29A3-BB36-C6457D34F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62EC3-9DF7-CE66-464F-B6B560CC5F81}"/>
              </a:ext>
            </a:extLst>
          </p:cNvPr>
          <p:cNvSpPr txBox="1"/>
          <p:nvPr/>
        </p:nvSpPr>
        <p:spPr>
          <a:xfrm>
            <a:off x="380999" y="1441079"/>
            <a:ext cx="11810999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Important guidelines: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Each group must choose a topic (from the proposed AI/ML areas) and obtain approval by email.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Time slots are allocated on a first-come, first-served basis.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Enter your group’s details directly into the booking sheet.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Each group presents only once, in their allocated week (Weeks 5–11).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Each student is expected to present for about 5 minutes.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Your slides must be submitted on Blackboard before your facilitation session (one submission per group).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After booking, please send me a confirmation email.</a:t>
            </a:r>
          </a:p>
        </p:txBody>
      </p:sp>
    </p:spTree>
    <p:extLst>
      <p:ext uri="{BB962C8B-B14F-4D97-AF65-F5344CB8AC3E}">
        <p14:creationId xmlns:p14="http://schemas.microsoft.com/office/powerpoint/2010/main" val="331022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234589-4B9E-BB3A-A1AA-49B7E0A5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961B330-E338-A2DB-8581-8E19A3029C1B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What Students Should Do in Week 8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6BC96A1-FCA9-88AF-63FC-528D5CAE26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9E4A715-EE94-B679-18E1-CEDA97ED9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8F8D5-DE77-0408-30AB-A6D9DDA7B230}"/>
              </a:ext>
            </a:extLst>
          </p:cNvPr>
          <p:cNvSpPr txBox="1"/>
          <p:nvPr/>
        </p:nvSpPr>
        <p:spPr>
          <a:xfrm>
            <a:off x="380999" y="1441079"/>
            <a:ext cx="11201401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+mj-lt"/>
              </a:rPr>
              <a:t>Prepare one slide (as per the group assessment) with: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 short example of unsupervised learning (preferably clustering).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 simple diagram, dataset visualization, or result (scatter plot).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2–3 questions for class discussion (not just answers).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 2-minute summary of what they learned.</a:t>
            </a:r>
          </a:p>
        </p:txBody>
      </p:sp>
    </p:spTree>
    <p:extLst>
      <p:ext uri="{BB962C8B-B14F-4D97-AF65-F5344CB8AC3E}">
        <p14:creationId xmlns:p14="http://schemas.microsoft.com/office/powerpoint/2010/main" val="2172178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843C6E-18AC-57AE-2E0A-B275CEB7B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F114E1-1AC9-4C8C-F1C7-72F316658A2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What Students Should Do in Week 8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2D5052D-15E5-81C2-A4DB-2465EC87391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02B2C41-C5D7-DCE5-3C53-10CFF5B18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CF3D6A-3414-5DF6-A425-84B9B4E22D08}"/>
              </a:ext>
            </a:extLst>
          </p:cNvPr>
          <p:cNvSpPr txBox="1"/>
          <p:nvPr/>
        </p:nvSpPr>
        <p:spPr>
          <a:xfrm>
            <a:off x="380999" y="1441079"/>
            <a:ext cx="11201401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sz="2800" b="1" dirty="0">
                <a:latin typeface="+mj-lt"/>
              </a:rPr>
              <a:t>Present a simple case</a:t>
            </a:r>
            <a:r>
              <a:rPr lang="en-US" sz="2800" dirty="0">
                <a:latin typeface="+mj-lt"/>
              </a:rPr>
              <a:t>:</a:t>
            </a: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Load data (e.g., Iris dataset from </a:t>
            </a:r>
            <a:r>
              <a:rPr lang="en-US" sz="2800" dirty="0" err="1">
                <a:latin typeface="+mj-lt"/>
              </a:rPr>
              <a:t>sklearn</a:t>
            </a:r>
            <a:r>
              <a:rPr lang="en-US" sz="2800" dirty="0">
                <a:latin typeface="+mj-lt"/>
              </a:rPr>
              <a:t>).</a:t>
            </a: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Run K-Means clustering or PCA (dimensionality reduction).</a:t>
            </a: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Show the result visually (clusters on a scatter plot).</a:t>
            </a:r>
          </a:p>
        </p:txBody>
      </p:sp>
    </p:spTree>
    <p:extLst>
      <p:ext uri="{BB962C8B-B14F-4D97-AF65-F5344CB8AC3E}">
        <p14:creationId xmlns:p14="http://schemas.microsoft.com/office/powerpoint/2010/main" val="2984240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FF24EA-03BB-E845-5ACF-9A17DC968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92668DC-4F76-110D-AD4C-3C08A69D56BF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Example 1: Clustering the Iris Dataset: K-Means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B38EDFB-D3A1-7879-43F0-0B2B8E5E85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8887341-DDF7-7630-935D-0FD4BDA66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12B7C-CB1A-A90C-0825-A98D0EDE638C}"/>
              </a:ext>
            </a:extLst>
          </p:cNvPr>
          <p:cNvSpPr txBox="1"/>
          <p:nvPr/>
        </p:nvSpPr>
        <p:spPr>
          <a:xfrm>
            <a:off x="380999" y="1441079"/>
            <a:ext cx="11201401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Goal: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Group flowers into 3 clusters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without labels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Tool: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K-Means (partition data into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groups by minimizing distance to each group’s center).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Iris sepal length &amp; width (2 features so we can plot).</a:t>
            </a:r>
          </a:p>
        </p:txBody>
      </p:sp>
    </p:spTree>
    <p:extLst>
      <p:ext uri="{BB962C8B-B14F-4D97-AF65-F5344CB8AC3E}">
        <p14:creationId xmlns:p14="http://schemas.microsoft.com/office/powerpoint/2010/main" val="172646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CB333F-9E9F-A283-DF28-CACF7E303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5E5D92-C48D-6EB2-6EF6-C06AE77DA03A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Example 1: Clustering the Iris Dataset: K-Means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EE8BDEC-258E-80C2-E989-150E6F30607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F9ECC60-0B9A-CE14-1D54-F883A97FE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96D27A-AD6D-F4EF-2988-814E6C2934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667"/>
          <a:stretch>
            <a:fillRect/>
          </a:stretch>
        </p:blipFill>
        <p:spPr>
          <a:xfrm>
            <a:off x="0" y="935736"/>
            <a:ext cx="12191999" cy="571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C244C7-C8D1-6F81-23FB-ECEF878D09A6}"/>
              </a:ext>
            </a:extLst>
          </p:cNvPr>
          <p:cNvSpPr txBox="1"/>
          <p:nvPr/>
        </p:nvSpPr>
        <p:spPr>
          <a:xfrm>
            <a:off x="6705600" y="2551537"/>
            <a:ext cx="5486400" cy="750686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Load data </a:t>
            </a: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→ get two columns (sepal length/width).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Pick k </a:t>
            </a: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→ we choose k = 3 (we expect 3 species).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Fit K-Means </a:t>
            </a: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→ the algorithm places 3 centers, assigns each point to the nearest center, and repeats until centers stop moving.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Get labels </a:t>
            </a: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→ each point now has a cluster ID (0/1/2).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Plot</a:t>
            </a: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color points by their cluster to see the groups.</a:t>
            </a:r>
          </a:p>
        </p:txBody>
      </p:sp>
    </p:spTree>
    <p:extLst>
      <p:ext uri="{BB962C8B-B14F-4D97-AF65-F5344CB8AC3E}">
        <p14:creationId xmlns:p14="http://schemas.microsoft.com/office/powerpoint/2010/main" val="2862101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40EB49-29D6-0F7D-2ABB-9721746C9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3E8116-9297-A8DE-814A-920386CE8564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Example 1: Clustering the Iris Dataset: K-Means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7C028CC-81AE-C951-592A-C43B3D8406E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15AA1B7-D8C0-1E6B-BDCA-C4DD06123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F72AB11-C1D3-2E04-F45C-83686839E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4724"/>
            <a:ext cx="8305800" cy="6653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8BF7F7-9CB2-8427-393C-68F274BD8EE5}"/>
              </a:ext>
            </a:extLst>
          </p:cNvPr>
          <p:cNvSpPr txBox="1"/>
          <p:nvPr/>
        </p:nvSpPr>
        <p:spPr>
          <a:xfrm>
            <a:off x="0" y="7447557"/>
            <a:ext cx="12191999" cy="26108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Explain of Results: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Each color = a cluster found by K-Means.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Centers (not shown) are the “average” point of each cluster.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K-Means works best when clusters are roundish and similar size</a:t>
            </a:r>
          </a:p>
        </p:txBody>
      </p:sp>
    </p:spTree>
    <p:extLst>
      <p:ext uri="{BB962C8B-B14F-4D97-AF65-F5344CB8AC3E}">
        <p14:creationId xmlns:p14="http://schemas.microsoft.com/office/powerpoint/2010/main" val="3114281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E59925-2EDE-AB19-DE95-05754343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0B32E1-E5B1-40A1-FF10-DF1D5BC316AB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1: Show the Cluster Centers in K-Means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8719ADF-B268-2087-9E60-EADFB722AFA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B52A610-6D5B-42A3-C2F7-91A04B0AE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260AB-991A-5F57-EC50-24DB0D62AD91}"/>
              </a:ext>
            </a:extLst>
          </p:cNvPr>
          <p:cNvSpPr txBox="1"/>
          <p:nvPr/>
        </p:nvSpPr>
        <p:spPr>
          <a:xfrm>
            <a:off x="76200" y="1258092"/>
            <a:ext cx="121158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Activity Prompt (for students)</a:t>
            </a:r>
          </a:p>
          <a:p>
            <a:pPr marL="898525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You have a scatter plot of Iris clusters.</a:t>
            </a:r>
          </a:p>
          <a:p>
            <a:pPr marL="898525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But… where are the cluster centers?</a:t>
            </a:r>
          </a:p>
          <a:p>
            <a:pPr marL="898525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Think: What line of code could you add to mark them with a red “X”?</a:t>
            </a:r>
            <a:br>
              <a:rPr lang="en-US" sz="2800" dirty="0">
                <a:latin typeface="+mj-lt"/>
              </a:rPr>
            </a:br>
            <a:r>
              <a:rPr lang="en-US" sz="2800" i="1" dirty="0">
                <a:latin typeface="+mj-lt"/>
              </a:rPr>
              <a:t>(Hint: the fitted </a:t>
            </a:r>
            <a:r>
              <a:rPr lang="en-US" sz="2800" i="1" dirty="0" err="1">
                <a:latin typeface="+mj-lt"/>
              </a:rPr>
              <a:t>KMeans</a:t>
            </a:r>
            <a:r>
              <a:rPr lang="en-US" sz="2800" i="1" dirty="0">
                <a:latin typeface="+mj-lt"/>
              </a:rPr>
              <a:t> object has something stored about centers…)</a:t>
            </a:r>
            <a:endParaRPr lang="en-US" sz="2800" dirty="0">
              <a:latin typeface="+mj-lt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86B7043-18BA-8345-338C-DDA61F0A1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800600"/>
            <a:ext cx="5769203" cy="4621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Timer">
            <a:hlinkClick r:id="" action="ppaction://media"/>
            <a:extLst>
              <a:ext uri="{FF2B5EF4-FFF2-40B4-BE49-F238E27FC236}">
                <a16:creationId xmlns:a16="http://schemas.microsoft.com/office/drawing/2014/main" id="{869A2C02-BF78-75C3-F719-6C2B108858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40625" t="44444" r="40625" b="41111"/>
          <a:stretch>
            <a:fillRect/>
          </a:stretch>
        </p:blipFill>
        <p:spPr>
          <a:xfrm>
            <a:off x="7959852" y="6120728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88467287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E59925-2EDE-AB19-DE95-05754343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0B32E1-E5B1-40A1-FF10-DF1D5BC316AB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1: Show the Cluster Centers in K-Means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8719ADF-B268-2087-9E60-EADFB722AFA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B52A610-6D5B-42A3-C2F7-91A04B0AE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359" y="1662780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D391F-A207-A760-737B-4E24FB4E87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222"/>
          <a:stretch>
            <a:fillRect/>
          </a:stretch>
        </p:blipFill>
        <p:spPr>
          <a:xfrm>
            <a:off x="-15241" y="15240"/>
            <a:ext cx="12192000" cy="60198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6B2487B-07C0-701A-EC0E-69229899AC6A}"/>
              </a:ext>
            </a:extLst>
          </p:cNvPr>
          <p:cNvSpPr/>
          <p:nvPr/>
        </p:nvSpPr>
        <p:spPr>
          <a:xfrm>
            <a:off x="899160" y="4244340"/>
            <a:ext cx="4419600" cy="1752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08C926-D94A-649E-D344-57DDD5C785A0}"/>
              </a:ext>
            </a:extLst>
          </p:cNvPr>
          <p:cNvSpPr txBox="1"/>
          <p:nvPr/>
        </p:nvSpPr>
        <p:spPr>
          <a:xfrm>
            <a:off x="5928360" y="2923242"/>
            <a:ext cx="6248399" cy="713515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New Line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+mj-lt"/>
              </a:rPr>
              <a:t>kmeans.cluster_centers</a:t>
            </a:r>
            <a:r>
              <a:rPr lang="en-US" sz="2800" dirty="0">
                <a:latin typeface="+mj-lt"/>
              </a:rPr>
              <a:t>_ → stores the coordinates of the cluster centers.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[:, 0] and [:, 1] → grab the x and y coordinates.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s=200 → makes the marker bigger.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c='red', marker='X' → makes centers stand out as red X’s.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label='Centers' → so the legend explains what the X’s are.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3C4F62B-83F1-F00A-9FEB-B0FBD5842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59" y="6102977"/>
            <a:ext cx="4937759" cy="3955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896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BEE6A6-B23B-C0F1-19BB-02EE8E15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030692-FAEB-5B6C-56E4-476554890949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2: Change the marker/size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F7430B5-3AAC-BD47-2201-E8FB81EC096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8BF8DE8-ECBA-0282-F320-58EFE65B0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359" y="1662780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3060F4-C6F7-9DF7-6F3A-12D98CB5A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6910866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Try marker='*', s=300.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Question: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Which is easier to see, star or X?</a:t>
            </a: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FB4E3077-36A6-ED47-5460-DCFE843438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953000" y="3810000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20706546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BEE6A6-B23B-C0F1-19BB-02EE8E15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030692-FAEB-5B6C-56E4-476554890949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3: Show centers for k=4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F7430B5-3AAC-BD47-2201-E8FB81EC096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8BF8DE8-ECBA-0282-F320-58EFE65B0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359" y="1662780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3060F4-C6F7-9DF7-6F3A-12D98CB5A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8712642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Change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n_clusters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=4.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Question: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How many centers appear? Where are they?</a:t>
            </a: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FB4E3077-36A6-ED47-5460-DCFE843438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953000" y="3810000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78398927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BEE6A6-B23B-C0F1-19BB-02EE8E15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030692-FAEB-5B6C-56E4-476554890949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4: Compare sepal vs petal features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F7430B5-3AAC-BD47-2201-E8FB81EC096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8BF8DE8-ECBA-0282-F320-58EFE65B0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359" y="1662780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3060F4-C6F7-9DF7-6F3A-12D98CB5A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1527515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Plot again with </a:t>
            </a:r>
            <a:r>
              <a:rPr lang="en-US" sz="2800" dirty="0" err="1">
                <a:latin typeface="+mj-lt"/>
              </a:rPr>
              <a:t>iris.data</a:t>
            </a:r>
            <a:r>
              <a:rPr lang="en-US" sz="2800" dirty="0">
                <a:latin typeface="+mj-lt"/>
              </a:rPr>
              <a:t>[:, 2:4].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Question:</a:t>
            </a:r>
            <a:r>
              <a:rPr lang="en-US" sz="2800" dirty="0">
                <a:latin typeface="+mj-lt"/>
              </a:rPr>
              <a:t> Do the cluster centers move closer to “real species” separation?</a:t>
            </a: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FB4E3077-36A6-ED47-5460-DCFE843438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953000" y="3810000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49676511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9925-2EDE-AB19-DE95-05754343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0B32E1-E5B1-40A1-FF10-DF1D5BC316AB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5: Change k and observe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8719ADF-B268-2087-9E60-EADFB722AFA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B52A610-6D5B-42A3-C2F7-91A04B0AE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260AB-991A-5F57-EC50-24DB0D62AD91}"/>
              </a:ext>
            </a:extLst>
          </p:cNvPr>
          <p:cNvSpPr txBox="1"/>
          <p:nvPr/>
        </p:nvSpPr>
        <p:spPr>
          <a:xfrm>
            <a:off x="76200" y="1258092"/>
            <a:ext cx="121158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Try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n_clusters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=2, then 4.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to note: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With too few clusters, groups mix; with too many, one natural group gets split.</a:t>
            </a:r>
          </a:p>
        </p:txBody>
      </p:sp>
      <p:pic>
        <p:nvPicPr>
          <p:cNvPr id="9" name="Timer">
            <a:hlinkClick r:id="" action="ppaction://media"/>
            <a:extLst>
              <a:ext uri="{FF2B5EF4-FFF2-40B4-BE49-F238E27FC236}">
                <a16:creationId xmlns:a16="http://schemas.microsoft.com/office/drawing/2014/main" id="{869A2C02-BF78-75C3-F719-6C2B108858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991100" y="5029200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5527181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9925-2EDE-AB19-DE95-05754343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0B32E1-E5B1-40A1-FF10-DF1D5BC316AB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6: Try different features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8719ADF-B268-2087-9E60-EADFB722AFA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B52A610-6D5B-42A3-C2F7-91A04B0AE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260AB-991A-5F57-EC50-24DB0D62AD91}"/>
              </a:ext>
            </a:extLst>
          </p:cNvPr>
          <p:cNvSpPr txBox="1"/>
          <p:nvPr/>
        </p:nvSpPr>
        <p:spPr>
          <a:xfrm>
            <a:off x="76200" y="1258092"/>
            <a:ext cx="121158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petal features: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iris.data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[:, 2:4].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to note: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Petal features separate species more clearly → cleaner clusters.</a:t>
            </a:r>
          </a:p>
        </p:txBody>
      </p:sp>
      <p:pic>
        <p:nvPicPr>
          <p:cNvPr id="9" name="Timer">
            <a:hlinkClick r:id="" action="ppaction://media"/>
            <a:extLst>
              <a:ext uri="{FF2B5EF4-FFF2-40B4-BE49-F238E27FC236}">
                <a16:creationId xmlns:a16="http://schemas.microsoft.com/office/drawing/2014/main" id="{869A2C02-BF78-75C3-F719-6C2B108858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991100" y="5029200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2696163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9925-2EDE-AB19-DE95-05754343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0B32E1-E5B1-40A1-FF10-DF1D5BC316AB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7: Standardize then cluster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8719ADF-B268-2087-9E60-EADFB722AFA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B52A610-6D5B-42A3-C2F7-91A04B0AE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9" name="Timer">
            <a:hlinkClick r:id="" action="ppaction://media"/>
            <a:extLst>
              <a:ext uri="{FF2B5EF4-FFF2-40B4-BE49-F238E27FC236}">
                <a16:creationId xmlns:a16="http://schemas.microsoft.com/office/drawing/2014/main" id="{869A2C02-BF78-75C3-F719-6C2B108858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991100" y="5029200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AAA4AF-7930-F08C-1F80-E04EDCB507C5}"/>
              </a:ext>
            </a:extLst>
          </p:cNvPr>
          <p:cNvSpPr txBox="1"/>
          <p:nvPr/>
        </p:nvSpPr>
        <p:spPr>
          <a:xfrm>
            <a:off x="-38101" y="2061865"/>
            <a:ext cx="12230099" cy="1506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1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sklearn.preprocessing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1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StandardScaler</a:t>
            </a:r>
            <a:endParaRPr lang="en-US" sz="21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Xz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StandardScaler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().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fit_transform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iris.data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[:, :</a:t>
            </a:r>
            <a:r>
              <a:rPr lang="en-US" sz="21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ct val="150000"/>
              </a:lnSpc>
              <a:buNone/>
            </a:pP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y2 = 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n_clusters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1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1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n_init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1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'auto'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fit_predict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Xz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E3408C-6BB6-AB2F-7AEA-E5A9246E3323}"/>
              </a:ext>
            </a:extLst>
          </p:cNvPr>
          <p:cNvSpPr txBox="1"/>
          <p:nvPr/>
        </p:nvSpPr>
        <p:spPr>
          <a:xfrm>
            <a:off x="-38101" y="3727960"/>
            <a:ext cx="1208532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What to note:</a:t>
            </a:r>
            <a:r>
              <a:rPr lang="en-US" sz="2800" dirty="0">
                <a:latin typeface="+mj-lt"/>
              </a:rPr>
              <a:t> Scaling avoids one feature dominating distance.</a:t>
            </a:r>
          </a:p>
        </p:txBody>
      </p:sp>
    </p:spTree>
    <p:extLst>
      <p:ext uri="{BB962C8B-B14F-4D97-AF65-F5344CB8AC3E}">
        <p14:creationId xmlns:p14="http://schemas.microsoft.com/office/powerpoint/2010/main" val="173560036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D8BFB-5BF7-1C35-2063-5CE28E5A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372485-A4B8-7A79-3462-FC129104186C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Example 2: Choosing k: Elbow &amp; Silhouette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A522C84-A9E2-46A2-F3F0-17AEDEDA173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3653FF1-AA9F-399B-5A4B-F7F72E178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93C24A-DB7D-4D73-A56A-6D77BBBEF441}"/>
              </a:ext>
            </a:extLst>
          </p:cNvPr>
          <p:cNvSpPr txBox="1"/>
          <p:nvPr/>
        </p:nvSpPr>
        <p:spPr>
          <a:xfrm>
            <a:off x="0" y="978406"/>
            <a:ext cx="912495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How Many Clusters? Elbow + Silhouette on Iris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EA2DBA8-FE30-E2CB-540E-F8080F12F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" y="1901952"/>
            <a:ext cx="12176759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Try many k values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(e.g., 2–8).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Elbow: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Record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inertia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(sum of squared distances). Plot inertia vs k → look for the “elbow” (diminishing returns).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Silhouette: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Score how well points fit their cluster vs. others (−1 to 1). Higher is better.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E3BE9-128B-F65C-D723-4609B2B4220F}"/>
              </a:ext>
            </a:extLst>
          </p:cNvPr>
          <p:cNvSpPr txBox="1"/>
          <p:nvPr/>
        </p:nvSpPr>
        <p:spPr>
          <a:xfrm>
            <a:off x="15240" y="5432491"/>
            <a:ext cx="1216151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Why we do this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K-Means needs you to choose k (the number of clusters).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But how do we know the best k?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Two popular ways: Elbow (look for bend in error curve) and Silhouette (score cluster quality).</a:t>
            </a:r>
          </a:p>
        </p:txBody>
      </p:sp>
    </p:spTree>
    <p:extLst>
      <p:ext uri="{BB962C8B-B14F-4D97-AF65-F5344CB8AC3E}">
        <p14:creationId xmlns:p14="http://schemas.microsoft.com/office/powerpoint/2010/main" val="227786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3E737-782C-7E13-6462-5E38A7CE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B3DABDB2-01DC-CE2F-FE94-7FE8A9C0B8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C9DE495-CEDE-F1C6-2C80-106FE86CC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BE3B61-8973-3D25-00DD-0352B368CB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556"/>
          <a:stretch>
            <a:fillRect/>
          </a:stretch>
        </p:blipFill>
        <p:spPr>
          <a:xfrm>
            <a:off x="0" y="0"/>
            <a:ext cx="12192000" cy="57912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6413FBB-FF24-749C-4C48-930938E86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78169"/>
            <a:ext cx="9281708" cy="4102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Prepare data</a:t>
            </a:r>
          </a:p>
          <a:p>
            <a:pPr marL="892175" lvl="1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only petal length &amp; width → easier to see separation.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Try different k values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Loop k = 2 to 8.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 each k: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Run K-Means.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Save the inertia (distance of points to their centers).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Save the silhouette score (how well points fit in their cluster vs others).</a:t>
            </a:r>
          </a:p>
        </p:txBody>
      </p:sp>
    </p:spTree>
    <p:extLst>
      <p:ext uri="{BB962C8B-B14F-4D97-AF65-F5344CB8AC3E}">
        <p14:creationId xmlns:p14="http://schemas.microsoft.com/office/powerpoint/2010/main" val="114242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4DB8B-D84B-7ABC-1F86-989B436B6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984A6851-3B2D-A857-0DA9-9F00130C40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8EC0FA2-9956-9C76-27C4-BDCF43891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194DEA-1D39-C69A-02C6-6AC034B4BC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556"/>
          <a:stretch>
            <a:fillRect/>
          </a:stretch>
        </p:blipFill>
        <p:spPr>
          <a:xfrm>
            <a:off x="0" y="0"/>
            <a:ext cx="12192000" cy="57912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EB2B0D8-2117-C224-DE45-0DC9BF01D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20" y="6154896"/>
            <a:ext cx="8892178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Plot Elbow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1437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Inertia decreases as k increases.</a:t>
            </a:r>
          </a:p>
          <a:p>
            <a:pPr marL="71437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“elbow point” (bend in the line) suggests a good k.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Plot Silhouette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623888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Higher silhouette score = better clustering.</a:t>
            </a:r>
          </a:p>
          <a:p>
            <a:pPr marL="623888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best k usually has the highest score.</a:t>
            </a:r>
          </a:p>
        </p:txBody>
      </p:sp>
    </p:spTree>
    <p:extLst>
      <p:ext uri="{BB962C8B-B14F-4D97-AF65-F5344CB8AC3E}">
        <p14:creationId xmlns:p14="http://schemas.microsoft.com/office/powerpoint/2010/main" val="2888482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1035F-858E-1D16-4E90-D5D7534A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63035DDF-3326-FB55-7A58-620C57BA4E1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6F49DBF-ABDF-0A48-7981-C70A34CDD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087AB8-2EED-FF8B-E68B-428581F857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556"/>
          <a:stretch>
            <a:fillRect/>
          </a:stretch>
        </p:blipFill>
        <p:spPr>
          <a:xfrm>
            <a:off x="0" y="0"/>
            <a:ext cx="12192000" cy="57912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61006FB-ED2B-72E5-17D3-72E1661FD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7927"/>
            <a:ext cx="12165979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Key Takeaways for Students</a:t>
            </a:r>
          </a:p>
          <a:p>
            <a:pPr marL="8032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Elbow method: Too few clusters → error high; too many clusters → no big improvement.</a:t>
            </a:r>
          </a:p>
          <a:p>
            <a:pPr marL="8032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Silhouette method: Balances cohesion (tight clusters) and separation (clusters far apart).</a:t>
            </a:r>
          </a:p>
          <a:p>
            <a:pPr marL="8032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On Iris petals, both usually point to k ≈ 3.</a:t>
            </a:r>
          </a:p>
        </p:txBody>
      </p:sp>
    </p:spTree>
    <p:extLst>
      <p:ext uri="{BB962C8B-B14F-4D97-AF65-F5344CB8AC3E}">
        <p14:creationId xmlns:p14="http://schemas.microsoft.com/office/powerpoint/2010/main" val="2675267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C3103-2046-BCBA-E61E-FEA094085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CCF77E8D-ED2A-23C9-8252-F104E555068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BEC2A9C-8BBC-6DC1-B13B-CEE6CBC71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AABF9357-ECD5-39B1-158A-A32C8FE79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5" y="0"/>
            <a:ext cx="6064406" cy="4909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9F4C3A99-E6DA-2136-30FB-DF82926A4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4" y="5255208"/>
            <a:ext cx="6064406" cy="479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9E290B-120B-4EDC-D6B9-9C66C66B2D2D}"/>
              </a:ext>
            </a:extLst>
          </p:cNvPr>
          <p:cNvSpPr txBox="1"/>
          <p:nvPr/>
        </p:nvSpPr>
        <p:spPr>
          <a:xfrm>
            <a:off x="6092283" y="1600200"/>
            <a:ext cx="6068122" cy="8130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+mj-lt"/>
              </a:rPr>
              <a:t>Elbow plot:</a:t>
            </a:r>
            <a:r>
              <a:rPr lang="en-US" sz="2700" dirty="0">
                <a:latin typeface="+mj-lt"/>
              </a:rPr>
              <a:t> The biggest drop in inertia happens from k=2 → k=3. After k=3, the curve flattens, meaning extra clusters don’t add much value.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+mj-lt"/>
              </a:rPr>
              <a:t>Silhouette plot:</a:t>
            </a:r>
            <a:r>
              <a:rPr lang="en-US" sz="2700" dirty="0">
                <a:latin typeface="+mj-lt"/>
              </a:rPr>
              <a:t> The score is highest at k=2, but k=3 is also strong and aligns better with the natural three Iris species.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+mj-lt"/>
              </a:rPr>
              <a:t>Conclusion:</a:t>
            </a:r>
            <a:r>
              <a:rPr lang="en-US" sz="2700" dirty="0">
                <a:latin typeface="+mj-lt"/>
              </a:rPr>
              <a:t> Both methods suggest </a:t>
            </a:r>
            <a:r>
              <a:rPr lang="en-US" sz="2700" b="1" dirty="0">
                <a:latin typeface="+mj-lt"/>
              </a:rPr>
              <a:t>k=3</a:t>
            </a:r>
            <a:r>
              <a:rPr lang="en-US" sz="2700" dirty="0">
                <a:latin typeface="+mj-lt"/>
              </a:rPr>
              <a:t> is a good balance (close to biology), even though silhouette peaks at 2.</a:t>
            </a:r>
          </a:p>
          <a:p>
            <a:pPr>
              <a:lnSpc>
                <a:spcPct val="150000"/>
              </a:lnSpc>
              <a:buNone/>
            </a:pPr>
            <a:r>
              <a:rPr lang="en-US" sz="2700" i="1" dirty="0">
                <a:latin typeface="+mj-lt"/>
              </a:rPr>
              <a:t>Why might silhouette suggest 2 but elbow suggest 3? Which would you trust here?</a:t>
            </a:r>
            <a:endParaRPr lang="en-US" sz="2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39139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00E26-BB37-F001-3989-125655A24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27EFAE-DE06-5D1F-B254-8673B9DA4C16}"/>
              </a:ext>
            </a:extLst>
          </p:cNvPr>
          <p:cNvSpPr txBox="1"/>
          <p:nvPr/>
        </p:nvSpPr>
        <p:spPr>
          <a:xfrm>
            <a:off x="33826" y="0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Example 3: DBSCAN: Clustering by Density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12F0E7F-208E-E44E-BDC8-92B0C809BB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5348230-118D-66DA-C249-6467B5E3C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23A38BB-72E7-3207-6CD4-F1B713DE9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1" y="1436770"/>
            <a:ext cx="12176759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this example</a:t>
            </a:r>
          </a:p>
          <a:p>
            <a:pPr marL="8032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No need to choose k.</a:t>
            </a:r>
          </a:p>
          <a:p>
            <a:pPr marL="8032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Finds oddly shaped clusters and can mark noise.</a:t>
            </a:r>
          </a:p>
          <a:p>
            <a:pPr marL="8032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Shows contrast with K-Means’ round-cluster bias.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0F379-2AC8-C73C-54D7-4BE32160A64B}"/>
              </a:ext>
            </a:extLst>
          </p:cNvPr>
          <p:cNvSpPr txBox="1"/>
          <p:nvPr/>
        </p:nvSpPr>
        <p:spPr>
          <a:xfrm>
            <a:off x="-4332" y="764919"/>
            <a:ext cx="9106457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DBSCAN: Find Clusters (and Noise) Without Choosing k</a:t>
            </a:r>
          </a:p>
        </p:txBody>
      </p:sp>
    </p:spTree>
    <p:extLst>
      <p:ext uri="{BB962C8B-B14F-4D97-AF65-F5344CB8AC3E}">
        <p14:creationId xmlns:p14="http://schemas.microsoft.com/office/powerpoint/2010/main" val="2888744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C7FB-5D80-9EF5-F088-5F6CA63BE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EB3D63-76A4-F5DF-55AD-270DFE7C7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222"/>
          <a:stretch>
            <a:fillRect/>
          </a:stretch>
        </p:blipFill>
        <p:spPr>
          <a:xfrm>
            <a:off x="-1" y="-39624"/>
            <a:ext cx="12192000" cy="6019800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159762E9-BF2B-1BBA-7C42-7CEBBC8608B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57E3509-0BEA-AB91-9672-B306A03E1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65B4046-E03F-D169-7F5E-47FCCA9A7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566" y="2886681"/>
            <a:ext cx="6476999" cy="713515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Load data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Iris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petal length &amp; width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(they separate species better).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Scale features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DBSCAN uses distances. We standardize so both features contribute fairly.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Pick DBSCAN knobs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eps: how close points must be to be “neighbors” (radius in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scaled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units).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min_samples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how many neighbors make a spot “dense” (including itself).</a:t>
            </a:r>
          </a:p>
        </p:txBody>
      </p:sp>
    </p:spTree>
    <p:extLst>
      <p:ext uri="{BB962C8B-B14F-4D97-AF65-F5344CB8AC3E}">
        <p14:creationId xmlns:p14="http://schemas.microsoft.com/office/powerpoint/2010/main" val="305791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3BCF1-80FD-C92C-0565-97070139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8E0532-7FEC-B71C-A837-67964823AA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222"/>
          <a:stretch>
            <a:fillRect/>
          </a:stretch>
        </p:blipFill>
        <p:spPr>
          <a:xfrm>
            <a:off x="-1" y="-39624"/>
            <a:ext cx="12192000" cy="6019800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3254121C-3278-A0E3-C19E-9FA28258D1D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C7E0C58-E92D-45D8-93C2-E108ED7A7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6B514AE-B328-60E5-B8EF-88AC660B2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141" y="1941576"/>
            <a:ext cx="6476999" cy="584249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lang="en-US" altLang="en-US" sz="2800" b="1" dirty="0">
                <a:solidFill>
                  <a:schemeClr val="tx1"/>
                </a:solidFill>
                <a:latin typeface="+mj-lt"/>
              </a:rPr>
              <a:t>Run DBSCAN</a:t>
            </a:r>
            <a:br>
              <a:rPr lang="en-US" altLang="en-US" sz="2800" dirty="0">
                <a:solidFill>
                  <a:schemeClr val="tx1"/>
                </a:solidFill>
                <a:latin typeface="+mj-lt"/>
              </a:rPr>
            </a:br>
            <a:r>
              <a:rPr lang="en-US" altLang="en-US" sz="2800" dirty="0">
                <a:solidFill>
                  <a:schemeClr val="tx1"/>
                </a:solidFill>
                <a:latin typeface="+mj-lt"/>
              </a:rPr>
              <a:t>It groups points in dense areas into clusters; sparse points become </a:t>
            </a:r>
            <a:r>
              <a:rPr lang="en-US" altLang="en-US" sz="2800" b="1" dirty="0">
                <a:solidFill>
                  <a:schemeClr val="tx1"/>
                </a:solidFill>
                <a:latin typeface="+mj-lt"/>
              </a:rPr>
              <a:t>noise</a:t>
            </a:r>
            <a:r>
              <a:rPr lang="en-US" altLang="en-US" sz="28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lang="en-US" altLang="en-US" sz="2800" b="1" dirty="0">
                <a:solidFill>
                  <a:schemeClr val="tx1"/>
                </a:solidFill>
                <a:latin typeface="+mj-lt"/>
              </a:rPr>
              <a:t>Read labels</a:t>
            </a:r>
            <a:br>
              <a:rPr lang="en-US" altLang="en-US" sz="2800" dirty="0">
                <a:solidFill>
                  <a:schemeClr val="tx1"/>
                </a:solidFill>
                <a:latin typeface="+mj-lt"/>
              </a:rPr>
            </a:br>
            <a:r>
              <a:rPr lang="en-US" altLang="en-US" sz="2800" dirty="0" err="1">
                <a:solidFill>
                  <a:schemeClr val="tx1"/>
                </a:solidFill>
                <a:latin typeface="+mj-lt"/>
              </a:rPr>
              <a:t>labels</a:t>
            </a:r>
            <a:r>
              <a:rPr lang="en-US" altLang="en-US" sz="2800" dirty="0">
                <a:solidFill>
                  <a:schemeClr val="tx1"/>
                </a:solidFill>
                <a:latin typeface="+mj-lt"/>
              </a:rPr>
              <a:t> = </a:t>
            </a:r>
            <a:r>
              <a:rPr lang="en-US" altLang="en-US" sz="2800" dirty="0" err="1">
                <a:solidFill>
                  <a:schemeClr val="tx1"/>
                </a:solidFill>
                <a:latin typeface="+mj-lt"/>
              </a:rPr>
              <a:t>db.labels</a:t>
            </a:r>
            <a:r>
              <a:rPr lang="en-US" altLang="en-US" sz="2800" dirty="0">
                <a:solidFill>
                  <a:schemeClr val="tx1"/>
                </a:solidFill>
                <a:latin typeface="+mj-lt"/>
              </a:rPr>
              <a:t>_ → cluster IDs 0,1,…; </a:t>
            </a:r>
            <a:r>
              <a:rPr lang="en-US" altLang="en-US" sz="2800" b="1" dirty="0">
                <a:solidFill>
                  <a:schemeClr val="tx1"/>
                </a:solidFill>
                <a:latin typeface="+mj-lt"/>
              </a:rPr>
              <a:t>noise = −1</a:t>
            </a:r>
            <a:r>
              <a:rPr lang="en-US" altLang="en-US" sz="28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lang="en-US" altLang="en-US" sz="2800" b="1" dirty="0">
                <a:solidFill>
                  <a:schemeClr val="tx1"/>
                </a:solidFill>
                <a:latin typeface="+mj-lt"/>
              </a:rPr>
              <a:t>Plot</a:t>
            </a:r>
            <a:br>
              <a:rPr lang="en-US" altLang="en-US" sz="2800" dirty="0">
                <a:solidFill>
                  <a:schemeClr val="tx1"/>
                </a:solidFill>
                <a:latin typeface="+mj-lt"/>
              </a:rPr>
            </a:br>
            <a:r>
              <a:rPr lang="en-US" altLang="en-US" sz="2800" dirty="0">
                <a:solidFill>
                  <a:schemeClr val="tx1"/>
                </a:solidFill>
                <a:latin typeface="+mj-lt"/>
              </a:rPr>
              <a:t>Show petal length (x) vs petal width (y), color by labels to see clusters/noise.</a:t>
            </a:r>
          </a:p>
        </p:txBody>
      </p:sp>
    </p:spTree>
    <p:extLst>
      <p:ext uri="{BB962C8B-B14F-4D97-AF65-F5344CB8AC3E}">
        <p14:creationId xmlns:p14="http://schemas.microsoft.com/office/powerpoint/2010/main" val="2480074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DDB50-E156-1CF5-B51F-1BDBB90A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E65B757B-3318-FF34-FACB-F3CD647DA4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3775795-7285-1287-37F8-272875E1B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03A0AC79-BC7B-1278-D9E8-1146675E1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585" y="37171"/>
            <a:ext cx="9543585" cy="765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F907A1-3E0F-5C74-4875-0DDCE0181C73}"/>
              </a:ext>
            </a:extLst>
          </p:cNvPr>
          <p:cNvSpPr txBox="1"/>
          <p:nvPr/>
        </p:nvSpPr>
        <p:spPr>
          <a:xfrm>
            <a:off x="0" y="7695603"/>
            <a:ext cx="12214302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DBSCAN found two main clusters in the Iris petal data — one small, tight cluster on the left and one larger cluster on the right — showing it can group dense regions without needing you to set k in advance.</a:t>
            </a:r>
          </a:p>
        </p:txBody>
      </p:sp>
    </p:spTree>
    <p:extLst>
      <p:ext uri="{BB962C8B-B14F-4D97-AF65-F5344CB8AC3E}">
        <p14:creationId xmlns:p14="http://schemas.microsoft.com/office/powerpoint/2010/main" val="3437306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A55B-5E30-A9CC-D5BA-4721C9CF3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69596EB-3F0F-64BB-B2CF-E5142AC8E1C8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8: Tune eps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211E48F-E7DE-C54B-456F-1E155D072BC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44154EA-BA8E-F61D-95EA-595720691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9" name="Timer">
            <a:hlinkClick r:id="" action="ppaction://media"/>
            <a:extLst>
              <a:ext uri="{FF2B5EF4-FFF2-40B4-BE49-F238E27FC236}">
                <a16:creationId xmlns:a16="http://schemas.microsoft.com/office/drawing/2014/main" id="{D575E0EA-161E-CF70-74BE-EE8B49C820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899660" y="4179735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2A4600-38EE-172B-D56E-6EEB88DF31F4}"/>
              </a:ext>
            </a:extLst>
          </p:cNvPr>
          <p:cNvSpPr txBox="1"/>
          <p:nvPr/>
        </p:nvSpPr>
        <p:spPr>
          <a:xfrm>
            <a:off x="0" y="1811378"/>
            <a:ext cx="1208532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Do: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Try eps = 0.3, 0.5, 0.7.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Notice: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Smaller eps → more clusters/noise; larger eps → clusters merge.</a:t>
            </a:r>
          </a:p>
        </p:txBody>
      </p:sp>
    </p:spTree>
    <p:extLst>
      <p:ext uri="{BB962C8B-B14F-4D97-AF65-F5344CB8AC3E}">
        <p14:creationId xmlns:p14="http://schemas.microsoft.com/office/powerpoint/2010/main" val="342641553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A55B-5E30-A9CC-D5BA-4721C9CF3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69596EB-3F0F-64BB-B2CF-E5142AC8E1C8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9: Compare to K-Means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211E48F-E7DE-C54B-456F-1E155D072BC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44154EA-BA8E-F61D-95EA-595720691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9" name="Timer">
            <a:hlinkClick r:id="" action="ppaction://media"/>
            <a:extLst>
              <a:ext uri="{FF2B5EF4-FFF2-40B4-BE49-F238E27FC236}">
                <a16:creationId xmlns:a16="http://schemas.microsoft.com/office/drawing/2014/main" id="{D575E0EA-161E-CF70-74BE-EE8B49C820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899660" y="3034388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2A4600-38EE-172B-D56E-6EEB88DF31F4}"/>
              </a:ext>
            </a:extLst>
          </p:cNvPr>
          <p:cNvSpPr txBox="1"/>
          <p:nvPr/>
        </p:nvSpPr>
        <p:spPr>
          <a:xfrm>
            <a:off x="0" y="1811378"/>
            <a:ext cx="1208532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>
                <a:latin typeface="+mj-lt"/>
              </a:rPr>
              <a:t>Do: Run K-Means on the same features (X) and plot its labels.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38C202-C606-72C1-3C0A-5DF069402C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1111" r="37765" b="14445"/>
          <a:stretch>
            <a:fillRect/>
          </a:stretch>
        </p:blipFill>
        <p:spPr>
          <a:xfrm>
            <a:off x="0" y="4357012"/>
            <a:ext cx="12191999" cy="26936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489A77-4EBE-7AE3-6744-8B44434703EC}"/>
              </a:ext>
            </a:extLst>
          </p:cNvPr>
          <p:cNvSpPr txBox="1"/>
          <p:nvPr/>
        </p:nvSpPr>
        <p:spPr>
          <a:xfrm>
            <a:off x="30852" y="7050681"/>
            <a:ext cx="1208792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Notice:</a:t>
            </a:r>
            <a:r>
              <a:rPr lang="en-US" sz="2800" dirty="0">
                <a:latin typeface="+mj-lt"/>
              </a:rPr>
              <a:t> K-Means </a:t>
            </a:r>
            <a:r>
              <a:rPr lang="en-US" sz="2800" b="1" dirty="0">
                <a:latin typeface="+mj-lt"/>
              </a:rPr>
              <a:t>forces</a:t>
            </a:r>
            <a:r>
              <a:rPr lang="en-US" sz="2800" dirty="0">
                <a:latin typeface="+mj-lt"/>
              </a:rPr>
              <a:t> exactly k clusters; DBSCAN can find shapes and mark noise.</a:t>
            </a:r>
          </a:p>
        </p:txBody>
      </p:sp>
    </p:spTree>
    <p:extLst>
      <p:ext uri="{BB962C8B-B14F-4D97-AF65-F5344CB8AC3E}">
        <p14:creationId xmlns:p14="http://schemas.microsoft.com/office/powerpoint/2010/main" val="249822241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A55B-5E30-A9CC-D5BA-4721C9CF3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69596EB-3F0F-64BB-B2CF-E5142AC8E1C8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10: Standardization effect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211E48F-E7DE-C54B-456F-1E155D072BC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44154EA-BA8E-F61D-95EA-595720691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9" name="Timer">
            <a:hlinkClick r:id="" action="ppaction://media"/>
            <a:extLst>
              <a:ext uri="{FF2B5EF4-FFF2-40B4-BE49-F238E27FC236}">
                <a16:creationId xmlns:a16="http://schemas.microsoft.com/office/drawing/2014/main" id="{D575E0EA-161E-CF70-74BE-EE8B49C820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899660" y="3034388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2A4600-38EE-172B-D56E-6EEB88DF31F4}"/>
              </a:ext>
            </a:extLst>
          </p:cNvPr>
          <p:cNvSpPr txBox="1"/>
          <p:nvPr/>
        </p:nvSpPr>
        <p:spPr>
          <a:xfrm>
            <a:off x="0" y="1390873"/>
            <a:ext cx="1208532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Do: Run DBSCAN without scaling (use X instead of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Xz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), then with scaling.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Notice: Results change a lot without scaling → distance-based methods need scaling.</a:t>
            </a:r>
          </a:p>
        </p:txBody>
      </p:sp>
    </p:spTree>
    <p:extLst>
      <p:ext uri="{BB962C8B-B14F-4D97-AF65-F5344CB8AC3E}">
        <p14:creationId xmlns:p14="http://schemas.microsoft.com/office/powerpoint/2010/main" val="245609764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CDC9-A7F0-B9E3-E9E4-516B6197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91AB5A2-B21D-66A0-4528-C2C55210EB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EF6D16-E124-24B9-1D4B-698CF1363FA5}"/>
              </a:ext>
            </a:extLst>
          </p:cNvPr>
          <p:cNvSpPr txBox="1"/>
          <p:nvPr/>
        </p:nvSpPr>
        <p:spPr>
          <a:xfrm>
            <a:off x="0" y="0"/>
            <a:ext cx="11887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Thank You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B71991-9C10-2CDD-0295-065A9579E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77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50CBBC-F537-AFEC-634C-56C9DAB1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39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5037F8A-312A-5706-B9D4-BD56C9AD7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606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63D227C-1D36-DEFE-C2F8-3CA3D97D9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06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1BCA2-620C-3559-3A80-9228DA241173}"/>
              </a:ext>
            </a:extLst>
          </p:cNvPr>
          <p:cNvSpPr txBox="1"/>
          <p:nvPr/>
        </p:nvSpPr>
        <p:spPr>
          <a:xfrm>
            <a:off x="609600" y="2441246"/>
            <a:ext cx="109728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Need Help with coding? Send an email or ask during the tutorial session.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FKeivanian@my.holmes.edu.au</a:t>
            </a:r>
          </a:p>
        </p:txBody>
      </p:sp>
    </p:spTree>
    <p:extLst>
      <p:ext uri="{BB962C8B-B14F-4D97-AF65-F5344CB8AC3E}">
        <p14:creationId xmlns:p14="http://schemas.microsoft.com/office/powerpoint/2010/main" val="258369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1113</TotalTime>
  <Words>1673</Words>
  <Application>Microsoft Office PowerPoint</Application>
  <PresentationFormat>Custom</PresentationFormat>
  <Paragraphs>149</Paragraphs>
  <Slides>30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Calibri</vt:lpstr>
      <vt:lpstr>Courier New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346</cp:revision>
  <dcterms:created xsi:type="dcterms:W3CDTF">2025-04-05T17:32:34Z</dcterms:created>
  <dcterms:modified xsi:type="dcterms:W3CDTF">2025-09-07T22:38:22Z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