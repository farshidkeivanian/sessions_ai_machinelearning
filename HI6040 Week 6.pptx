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78" r:id="rId3"/>
    <p:sldId id="1815" r:id="rId4"/>
    <p:sldId id="1854" r:id="rId5"/>
    <p:sldId id="1855" r:id="rId6"/>
    <p:sldId id="1856" r:id="rId7"/>
    <p:sldId id="1857" r:id="rId8"/>
    <p:sldId id="1816" r:id="rId9"/>
    <p:sldId id="1844" r:id="rId10"/>
    <p:sldId id="1858" r:id="rId11"/>
    <p:sldId id="1859" r:id="rId12"/>
    <p:sldId id="1845" r:id="rId13"/>
    <p:sldId id="1846" r:id="rId14"/>
    <p:sldId id="1847" r:id="rId15"/>
    <p:sldId id="1848" r:id="rId16"/>
    <p:sldId id="1849" r:id="rId17"/>
    <p:sldId id="1850" r:id="rId18"/>
    <p:sldId id="1851" r:id="rId19"/>
    <p:sldId id="1852" r:id="rId20"/>
    <p:sldId id="1860" r:id="rId21"/>
    <p:sldId id="1853" r:id="rId22"/>
    <p:sldId id="1861" r:id="rId23"/>
    <p:sldId id="1862" r:id="rId24"/>
    <p:sldId id="612" r:id="rId25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914400" y="1840319"/>
            <a:ext cx="4953000" cy="2350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F26088-CD0B-4B6E-C264-86192CFA8212}"/>
              </a:ext>
            </a:extLst>
          </p:cNvPr>
          <p:cNvSpPr txBox="1"/>
          <p:nvPr/>
        </p:nvSpPr>
        <p:spPr>
          <a:xfrm>
            <a:off x="1828800" y="7010400"/>
            <a:ext cx="3604406" cy="756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Tutorial Week 6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380999" y="1441079"/>
            <a:ext cx="11810999" cy="4584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300" dirty="0">
                <a:latin typeface="+mj-lt"/>
              </a:rPr>
              <a:t>What Students should do in week 6</a:t>
            </a:r>
          </a:p>
          <a:p>
            <a:pPr marL="990600" indent="-514350">
              <a:lnSpc>
                <a:spcPct val="150000"/>
              </a:lnSpc>
              <a:buAutoNum type="arabicPeriod"/>
            </a:pPr>
            <a:r>
              <a:rPr lang="en-US" sz="3300" dirty="0">
                <a:latin typeface="+mj-lt"/>
              </a:rPr>
              <a:t>Compare at least two classifiers</a:t>
            </a:r>
          </a:p>
          <a:p>
            <a:pPr marL="990600" indent="-514350">
              <a:lnSpc>
                <a:spcPct val="150000"/>
              </a:lnSpc>
              <a:buAutoNum type="arabicPeriod"/>
            </a:pPr>
            <a:r>
              <a:rPr lang="en-US" sz="3300" dirty="0">
                <a:latin typeface="+mj-lt"/>
              </a:rPr>
              <a:t>Evaluate with multiple metrics</a:t>
            </a:r>
          </a:p>
          <a:p>
            <a:pPr marL="990600" indent="-514350">
              <a:lnSpc>
                <a:spcPct val="150000"/>
              </a:lnSpc>
              <a:buAutoNum type="arabicPeriod"/>
            </a:pPr>
            <a:r>
              <a:rPr lang="en-US" sz="3300" dirty="0" err="1">
                <a:latin typeface="+mj-lt"/>
              </a:rPr>
              <a:t>Visualise</a:t>
            </a:r>
            <a:r>
              <a:rPr lang="en-US" sz="3300" dirty="0">
                <a:latin typeface="+mj-lt"/>
              </a:rPr>
              <a:t> results</a:t>
            </a:r>
          </a:p>
          <a:p>
            <a:pPr marL="990600" indent="-514350">
              <a:lnSpc>
                <a:spcPct val="150000"/>
              </a:lnSpc>
              <a:buAutoNum type="arabicPeriod"/>
            </a:pPr>
            <a:r>
              <a:rPr lang="en-US" sz="3300" dirty="0">
                <a:latin typeface="+mj-lt"/>
              </a:rPr>
              <a:t>Discuss trade-offs</a:t>
            </a:r>
          </a:p>
          <a:p>
            <a:pPr marL="990600" indent="-514350">
              <a:lnSpc>
                <a:spcPct val="150000"/>
              </a:lnSpc>
              <a:buAutoNum type="arabicPeriod"/>
            </a:pPr>
            <a:r>
              <a:rPr lang="en-US" sz="3300" dirty="0">
                <a:latin typeface="+mj-lt"/>
              </a:rPr>
              <a:t>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4163D-0BE7-848D-C936-9B4FBB9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322B6-2450-B234-74F1-3103B6C3D03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Compare at least two classifiers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F89509-3804-61EC-3CFB-897E66FA4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C6C920-C9C0-E822-1ABE-55C24989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45F0D-7CC3-9922-18C9-BEA6EE83F978}"/>
              </a:ext>
            </a:extLst>
          </p:cNvPr>
          <p:cNvSpPr txBox="1"/>
          <p:nvPr/>
        </p:nvSpPr>
        <p:spPr>
          <a:xfrm>
            <a:off x="380999" y="1441079"/>
            <a:ext cx="118109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 Logistic Regression vs Decision Tree (or SVM vs KNN).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both on the same dataset (Iris, Wine, or Breast Cancer from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sklearn.datasets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8435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234589-4B9E-BB3A-A1AA-49B7E0A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61B330-E338-A2DB-8581-8E19A3029C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Evaluate with multiple metrics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BC96A1-FCA9-88AF-63FC-528D5CAE26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9E4A715-EE94-B679-18E1-CEDA97ED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F8D5-DE77-0408-30AB-A6D9DDA7B230}"/>
              </a:ext>
            </a:extLst>
          </p:cNvPr>
          <p:cNvSpPr txBox="1"/>
          <p:nvPr/>
        </p:nvSpPr>
        <p:spPr>
          <a:xfrm>
            <a:off x="380999" y="1441079"/>
            <a:ext cx="11810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 alone isn’t enough.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Students should report: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accuracy, precision, recall, and F1-score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17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1833F8-C851-7275-1442-41830566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BD3ECA-0BCD-E08A-08F0-0A416B667126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 err="1"/>
              <a:t>Visualise</a:t>
            </a:r>
            <a:r>
              <a:rPr lang="en-US" sz="3200" b="1" dirty="0"/>
              <a:t> 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F1F9B17-5930-BD54-D8B8-A97B58BBE1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26BF908-AC76-2859-456D-66124773A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5CA5E-3386-0F22-F471-194D1C8FAA39}"/>
              </a:ext>
            </a:extLst>
          </p:cNvPr>
          <p:cNvSpPr txBox="1"/>
          <p:nvPr/>
        </p:nvSpPr>
        <p:spPr>
          <a:xfrm>
            <a:off x="380999" y="1441079"/>
            <a:ext cx="11810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 Matrix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confusion_matrix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ConfusionMatrixDisplay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Maybe ROC curve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roc_curve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for extra engagement.</a:t>
            </a:r>
          </a:p>
        </p:txBody>
      </p:sp>
    </p:spTree>
    <p:extLst>
      <p:ext uri="{BB962C8B-B14F-4D97-AF65-F5344CB8AC3E}">
        <p14:creationId xmlns:p14="http://schemas.microsoft.com/office/powerpoint/2010/main" val="114191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D786CA-1481-3F52-5EBF-DB95B2668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A3D042-3476-6112-2CB5-E651E6589B0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Discuss trade-offs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F1268A8-09BF-A680-786A-07CDAF80B1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FFBCF7E-B414-1AB5-3919-DDAB55229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A51B4-CD81-1042-8102-5A360CC3B4A7}"/>
              </a:ext>
            </a:extLst>
          </p:cNvPr>
          <p:cNvSpPr txBox="1"/>
          <p:nvPr/>
        </p:nvSpPr>
        <p:spPr>
          <a:xfrm>
            <a:off x="380999" y="1441079"/>
            <a:ext cx="11810999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Example: “This model is good at identifying healthy patients but misses more positive cases” → introduces the concept of </a:t>
            </a:r>
            <a:r>
              <a:rPr lang="en-US" sz="2800" b="1" dirty="0">
                <a:latin typeface="+mj-lt"/>
              </a:rPr>
              <a:t>false negatives vs false positives</a:t>
            </a:r>
            <a:r>
              <a:rPr lang="en-US" sz="2800" dirty="0">
                <a:latin typeface="+mj-lt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97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B33FDE-A557-B7FC-2272-001F9C1A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DD627F-267B-4C87-B792-120218AC75F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Presentation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15E985D-D8CD-1FD0-7381-D1A396C2BD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79CD5ED-987A-8120-0FDD-11646E2EE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3DBDC-B424-DEDA-9D1D-9AA42A6DD21F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presents their findings in </a:t>
            </a:r>
            <a:r>
              <a:rPr lang="en-US" sz="2800" b="1" dirty="0">
                <a:latin typeface="+mj-lt"/>
              </a:rPr>
              <a:t>2–3 slides</a:t>
            </a:r>
            <a:r>
              <a:rPr lang="en-US" sz="2800" dirty="0">
                <a:latin typeface="+mj-lt"/>
              </a:rPr>
              <a:t>: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Dataset summary (shape, features, labels).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Model comparison table.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Key insights from confusion matrix/metrics.</a:t>
            </a:r>
          </a:p>
        </p:txBody>
      </p:sp>
    </p:spTree>
    <p:extLst>
      <p:ext uri="{BB962C8B-B14F-4D97-AF65-F5344CB8AC3E}">
        <p14:creationId xmlns:p14="http://schemas.microsoft.com/office/powerpoint/2010/main" val="1075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20B31D-4A17-0F50-D36B-896B0044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B8E1BD-3122-E08A-E89E-D017C662AA15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Model Comparison: Logistic Regression vs Decision Tree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17BCB6C-96CD-5EC5-42BE-5EB27D5862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A0AE864-2B74-A826-A1A6-519AC4949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B8AF4-D4A3-DB6F-F002-6E7B82F3F8D4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both classifiers on the Breast Cancer dataset (or another dataset from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sklearn.datasets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Evaluate accuracy, precision, recall, and F1-score.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Visualise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results using a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49636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C945D6-6094-F3F5-1203-842D60A2B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09E18D-DFD3-8FB9-4E12-0B1FBD3DAB68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Model Comparison: Logistic Regression vs Decision Tree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1AF049C-FA13-EC47-2E45-00FAC6F27C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D1A7D8C-7A51-3BC6-9F67-7E9708E25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91C6D-A277-CFF4-F2EE-909E66111FE5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Critical lines of code: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lr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 = LogisticRegression(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max_iter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=500).fit(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X_train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,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y_train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dt =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DecisionTreeClassifier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max_depth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=4).fit(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X_train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,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y_train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print(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classification_report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y_test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,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lr.predict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X_test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)))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print(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classification_report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y_test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,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dt.predict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X_test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)))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2B491-62CF-8EB5-5A4C-BCBFD0A26D64}"/>
              </a:ext>
            </a:extLst>
          </p:cNvPr>
          <p:cNvSpPr txBox="1"/>
          <p:nvPr/>
        </p:nvSpPr>
        <p:spPr>
          <a:xfrm>
            <a:off x="191211" y="5157076"/>
            <a:ext cx="113690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Discussion Prompt</a:t>
            </a:r>
            <a:r>
              <a:rPr lang="en-US" sz="2800" dirty="0">
                <a:latin typeface="+mj-lt"/>
              </a:rPr>
              <a:t>:</a:t>
            </a:r>
          </a:p>
          <a:p>
            <a:pPr marL="808038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Which model performs better? Why might one be better at detecting positives?</a:t>
            </a:r>
          </a:p>
        </p:txBody>
      </p:sp>
    </p:spTree>
    <p:extLst>
      <p:ext uri="{BB962C8B-B14F-4D97-AF65-F5344CB8AC3E}">
        <p14:creationId xmlns:p14="http://schemas.microsoft.com/office/powerpoint/2010/main" val="339310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9C836-89DF-D711-2703-A4409EA9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5E6152-B43F-81BC-4F79-F7C28498E23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Sample Presentation Talking Points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7FEABB3-E2D6-A931-D311-C86DA3DD06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F24BFA5-C91B-0A79-AC2D-2E962118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12BA3-1D45-E66D-7392-8F8559DE71E1}"/>
              </a:ext>
            </a:extLst>
          </p:cNvPr>
          <p:cNvSpPr txBox="1"/>
          <p:nvPr/>
        </p:nvSpPr>
        <p:spPr>
          <a:xfrm>
            <a:off x="380999" y="1441079"/>
            <a:ext cx="11810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(so you don’t just read code outputs)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Dataset</a:t>
            </a:r>
            <a:r>
              <a:rPr lang="en-US" sz="2800" dirty="0">
                <a:latin typeface="+mj-lt"/>
              </a:rPr>
              <a:t>: Breast Cancer dataset → 30 features, binary classification.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Models Compared</a:t>
            </a:r>
            <a:r>
              <a:rPr lang="en-US" sz="2800" dirty="0">
                <a:latin typeface="+mj-lt"/>
              </a:rPr>
              <a:t>: Logistic Regression (linear model) vs Decision Tree (non-linear).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Findings</a:t>
            </a:r>
            <a:r>
              <a:rPr lang="en-US" sz="2800" dirty="0">
                <a:latin typeface="+mj-lt"/>
              </a:rPr>
              <a:t>: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Logistic Regression had higher recall (better at catching positives).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Decision Tree had slightly higher accuracy but missed more positives.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Confusion Matrix shows more false negatives in Decision Tree.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Discussion Question</a:t>
            </a:r>
            <a:r>
              <a:rPr lang="en-US" sz="2800" dirty="0">
                <a:latin typeface="+mj-lt"/>
              </a:rPr>
              <a:t>: In healthcare, which metric matters more – accuracy or recall?</a:t>
            </a:r>
          </a:p>
        </p:txBody>
      </p:sp>
    </p:spTree>
    <p:extLst>
      <p:ext uri="{BB962C8B-B14F-4D97-AF65-F5344CB8AC3E}">
        <p14:creationId xmlns:p14="http://schemas.microsoft.com/office/powerpoint/2010/main" val="31754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3A5911-D6E2-9BB7-8F4D-55A79122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54FCA9-BFB5-C4BC-8817-541B4AB9A4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Keywords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0E7A378-002F-2F75-F4C8-24963C4370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7B5AE59-C1A0-64E5-08EA-31DB55ABF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5128E-261A-8C8C-6523-CC314ED19922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“How many predictions were correct overall.”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Precision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“When the model says YES, how often is it right?”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Recall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“Out of all the actual YES cases, how many did the model find?”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 Matrix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“A table that shows where the model got things right and wrong.”</a:t>
            </a:r>
          </a:p>
        </p:txBody>
      </p:sp>
    </p:spTree>
    <p:extLst>
      <p:ext uri="{BB962C8B-B14F-4D97-AF65-F5344CB8AC3E}">
        <p14:creationId xmlns:p14="http://schemas.microsoft.com/office/powerpoint/2010/main" val="294047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2E5501-4AF5-B213-4EBB-8D803870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B5157B-4AFD-C875-8698-2FE644B2BAE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E613AEC-E9E8-889E-7DB0-14B9BB6699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205115F-92C4-21D5-C9F2-D5EA00B7E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D38E0-11F5-1C52-8773-3595FEA683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E1E524-CD23-5659-CB88-4739A00D0C0D}"/>
              </a:ext>
            </a:extLst>
          </p:cNvPr>
          <p:cNvSpPr txBox="1"/>
          <p:nvPr/>
        </p:nvSpPr>
        <p:spPr>
          <a:xfrm>
            <a:off x="-30480" y="5986347"/>
            <a:ext cx="12222480" cy="410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b="1" dirty="0">
                <a:latin typeface="+mj-lt"/>
              </a:rPr>
              <a:t>Importing the tools we need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These are the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we use:</a:t>
            </a:r>
          </a:p>
          <a:p>
            <a:pPr marL="625475" lvl="2" indent="-350838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load_breast_cancer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gives us a ready-made dataset (patients with/without cancer).</a:t>
            </a:r>
          </a:p>
          <a:p>
            <a:pPr marL="625475" lvl="2" indent="-350838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train_test_split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splits data into training and test sets.</a:t>
            </a:r>
          </a:p>
          <a:p>
            <a:pPr marL="625475" lvl="2" indent="-350838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LogisticRegression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DecisionTreeClassifier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the two models we want to compare.</a:t>
            </a:r>
          </a:p>
          <a:p>
            <a:pPr marL="625475" lvl="2" indent="-350838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classification_report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confusion_matrix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ConfusionMatrixDisplay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tools to check how good our models are.</a:t>
            </a:r>
          </a:p>
          <a:p>
            <a:pPr marL="625475" lvl="2" indent="-350838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matplotlib.pyplot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for plotting (showing graphs)</a:t>
            </a:r>
          </a:p>
        </p:txBody>
      </p:sp>
    </p:spTree>
    <p:extLst>
      <p:ext uri="{BB962C8B-B14F-4D97-AF65-F5344CB8AC3E}">
        <p14:creationId xmlns:p14="http://schemas.microsoft.com/office/powerpoint/2010/main" val="3428174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23A786-B30B-BED5-65BD-71E6F729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1E90D3-24C8-C063-1CF4-B47CB8EFED93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A01C56F-3FD4-5535-0FD3-388EB0BD6A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D730FE7-4CCF-D9F3-545E-0F56F2202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76F035-D33F-56C9-CBC8-4ED197E8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FEE57-6A57-758D-895F-163EFF9EE4A6}"/>
              </a:ext>
            </a:extLst>
          </p:cNvPr>
          <p:cNvSpPr txBox="1"/>
          <p:nvPr/>
        </p:nvSpPr>
        <p:spPr>
          <a:xfrm>
            <a:off x="-30480" y="6208738"/>
            <a:ext cx="1222248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Load the dataset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= breast cancer dataset from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sklearn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 = the features (measurements about the tumor, like size, texture, etc.).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 = the label (0 = cancer, 1 = no cancer).</a:t>
            </a:r>
          </a:p>
        </p:txBody>
      </p:sp>
    </p:spTree>
    <p:extLst>
      <p:ext uri="{BB962C8B-B14F-4D97-AF65-F5344CB8AC3E}">
        <p14:creationId xmlns:p14="http://schemas.microsoft.com/office/powerpoint/2010/main" val="287584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067749-5CCC-5E3F-E8B0-41E3F6C5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10D93C-D6B9-F5CE-762D-F45034B48520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2BC00C5-3BFD-42BD-10F6-CB7722D9A3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1AA2AEE-9CF0-AD09-7009-CCF02A89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030574-B6BA-2855-C2EE-A5A8CE2B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19AA4A-CAD5-6F66-DA09-8EE8F287C10D}"/>
              </a:ext>
            </a:extLst>
          </p:cNvPr>
          <p:cNvSpPr txBox="1"/>
          <p:nvPr/>
        </p:nvSpPr>
        <p:spPr>
          <a:xfrm>
            <a:off x="-30480" y="6208738"/>
            <a:ext cx="1222248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3. Split into training and test data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 divide data into: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70% training set (to train the models).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30% test set (to check how good the models are).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random_state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=42 → ensures we always get the same split (so results are reproducible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053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6E873B-5F3E-ECD9-D9A4-85953FE3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57AA0-703D-E79A-1A8F-538EB42C3BE6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F585722-8724-E8ED-9831-62765B0783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B714C9-D813-848F-C8E4-09D540D7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DBB69-1930-3082-4901-EBC15D4B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380C88-8EC9-424C-5D58-44A76B0278B6}"/>
              </a:ext>
            </a:extLst>
          </p:cNvPr>
          <p:cNvSpPr txBox="1"/>
          <p:nvPr/>
        </p:nvSpPr>
        <p:spPr>
          <a:xfrm>
            <a:off x="0" y="6208738"/>
            <a:ext cx="1222248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4. Train Logistic Regression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a Logistic Regression model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(fit) on training data.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 (predict) the outcomes for test data.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max_iter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=500: allows the model more steps to find the best solution.</a:t>
            </a:r>
          </a:p>
        </p:txBody>
      </p:sp>
    </p:spTree>
    <p:extLst>
      <p:ext uri="{BB962C8B-B14F-4D97-AF65-F5344CB8AC3E}">
        <p14:creationId xmlns:p14="http://schemas.microsoft.com/office/powerpoint/2010/main" val="16566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C0A716-6B9E-77AE-0B78-0D7B55B8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E7387C-7923-4053-9BA4-08262C9578CF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99FFF71-E610-0CF5-C854-5E91D18151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70345B6-6C85-28DA-D532-0FF40CBC2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C20B9-2FFF-96B9-EC15-CB1349AB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6F01E0-57A7-327B-E8B9-E6EFE0043536}"/>
              </a:ext>
            </a:extLst>
          </p:cNvPr>
          <p:cNvSpPr txBox="1"/>
          <p:nvPr/>
        </p:nvSpPr>
        <p:spPr>
          <a:xfrm>
            <a:off x="0" y="6208738"/>
            <a:ext cx="1222248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5. Train Decision Tree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a Decision Tree model (dt).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Limit tree depth to 4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max_depth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=4) so it doesn’t overfit.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and predict like before.</a:t>
            </a:r>
          </a:p>
        </p:txBody>
      </p:sp>
    </p:spTree>
    <p:extLst>
      <p:ext uri="{BB962C8B-B14F-4D97-AF65-F5344CB8AC3E}">
        <p14:creationId xmlns:p14="http://schemas.microsoft.com/office/powerpoint/2010/main" val="251846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D53953-6543-C674-7B51-61EA1D20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CAC062-9AA4-B453-2479-730938D6942F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31F36D9-6E05-8522-FBCA-25EB56DD44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576814-4A26-446A-08BE-94DC11AAE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9B2299-43EA-4718-1F7D-0839C670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F485A3-AF11-ADDF-3439-D5F1882658E2}"/>
              </a:ext>
            </a:extLst>
          </p:cNvPr>
          <p:cNvSpPr txBox="1"/>
          <p:nvPr/>
        </p:nvSpPr>
        <p:spPr>
          <a:xfrm>
            <a:off x="0" y="6208738"/>
            <a:ext cx="1222248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6. Evaluate both models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Show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precision, recall, F1-score, and accuracy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both models.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tells us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well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each model predicted cancer vs no cancer.</a:t>
            </a:r>
          </a:p>
        </p:txBody>
      </p:sp>
    </p:spTree>
    <p:extLst>
      <p:ext uri="{BB962C8B-B14F-4D97-AF65-F5344CB8AC3E}">
        <p14:creationId xmlns:p14="http://schemas.microsoft.com/office/powerpoint/2010/main" val="59494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6AE61B-A678-7479-FECB-E288DCBB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ED0825-397B-C28B-EAFA-2534F8FAFB2F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Example Code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57F0483-B7D7-7299-BCF2-EC768EE86C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C2729B9-1A72-4904-75CA-C41182BD5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3DEE3-1318-C4CA-7D10-0F440B55C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0" y="893788"/>
            <a:ext cx="11811000" cy="5314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31354D-F99C-6905-575B-09EB27DAC30E}"/>
              </a:ext>
            </a:extLst>
          </p:cNvPr>
          <p:cNvSpPr txBox="1"/>
          <p:nvPr/>
        </p:nvSpPr>
        <p:spPr>
          <a:xfrm>
            <a:off x="0" y="6208738"/>
            <a:ext cx="12222480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 dirty="0">
                <a:latin typeface="+mj-lt"/>
              </a:rPr>
              <a:t>7. </a:t>
            </a:r>
            <a:r>
              <a:rPr lang="en-US" sz="2600" b="1" dirty="0" err="1">
                <a:latin typeface="+mj-lt"/>
              </a:rPr>
              <a:t>Visualise</a:t>
            </a:r>
            <a:r>
              <a:rPr lang="en-US" sz="2600" b="1" dirty="0">
                <a:latin typeface="+mj-lt"/>
              </a:rPr>
              <a:t> the Confusion Matrix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Make a confusion matrix for Decision Tree.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shows:</a:t>
            </a:r>
          </a:p>
          <a:p>
            <a:pPr marL="808038" marR="0" lvl="0" indent="-533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many patients were correctly classified.</a:t>
            </a:r>
          </a:p>
          <a:p>
            <a:pPr marL="808038" marR="0" lvl="0" indent="-533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many were misclassified (false positives/false negatives).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plt.show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 → displays the chart.</a:t>
            </a:r>
          </a:p>
        </p:txBody>
      </p:sp>
    </p:spTree>
    <p:extLst>
      <p:ext uri="{BB962C8B-B14F-4D97-AF65-F5344CB8AC3E}">
        <p14:creationId xmlns:p14="http://schemas.microsoft.com/office/powerpoint/2010/main" val="2227766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4395D4-19CF-DD43-9392-9D37901A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EE2FFB-32D2-7862-E854-24194D75E55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BC71E49-320A-A6B6-AEDA-DABDE72156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0EBF4D1-6901-0722-D339-1BB98DD52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4E79B-0F43-B906-3F76-F2EFD17FE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78"/>
          <a:stretch>
            <a:fillRect/>
          </a:stretch>
        </p:blipFill>
        <p:spPr>
          <a:xfrm>
            <a:off x="0" y="733993"/>
            <a:ext cx="12192000" cy="632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92FA4-94FD-28BA-ED5C-D261A1273544}"/>
              </a:ext>
            </a:extLst>
          </p:cNvPr>
          <p:cNvSpPr txBox="1"/>
          <p:nvPr/>
        </p:nvSpPr>
        <p:spPr>
          <a:xfrm>
            <a:off x="6096001" y="3229916"/>
            <a:ext cx="6096000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+mj-lt"/>
              </a:rPr>
              <a:t>Here we compared Logistic Regression and Decision Tree models on the Breast Cancer dataset.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</a:rPr>
              <a:t>Logistic Regression 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Accuracy = 97%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Class 0 (malignant): Precision 0.97, Recall 0.95, F1 = 0.96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Class 1 (benign): Precision 0.97, Recall 0.98, F1 = 0.98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This means the model is very good at identifying both malignant and benign cases, with only a few mistakes.</a:t>
            </a:r>
          </a:p>
        </p:txBody>
      </p:sp>
    </p:spTree>
    <p:extLst>
      <p:ext uri="{BB962C8B-B14F-4D97-AF65-F5344CB8AC3E}">
        <p14:creationId xmlns:p14="http://schemas.microsoft.com/office/powerpoint/2010/main" val="176715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BB0464-DDDF-7028-85F1-274CA41CA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A22B82-BF0B-0A35-7502-FEF2B9BA54D2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25D0D8A-57CC-0F3C-6199-CA9D1A04B5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705AA8E-F032-8858-DA6A-C165796E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A852D-E63D-00F2-11BB-5FFCB34D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78"/>
          <a:stretch>
            <a:fillRect/>
          </a:stretch>
        </p:blipFill>
        <p:spPr>
          <a:xfrm>
            <a:off x="0" y="733993"/>
            <a:ext cx="12192000" cy="632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2E7442-CDE7-3279-CE4D-37F97DC1759D}"/>
              </a:ext>
            </a:extLst>
          </p:cNvPr>
          <p:cNvSpPr txBox="1"/>
          <p:nvPr/>
        </p:nvSpPr>
        <p:spPr>
          <a:xfrm>
            <a:off x="6096001" y="3229916"/>
            <a:ext cx="6096000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Decision Tree 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Accuracy = 95%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Class 0 (malignant): Precision 0.94, Recall 0.94, F1 = 0.94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Class 1 (benign): Precision 0.96, Recall 0.96, F1 = 0.96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Slightly lower than Logistic Regression, but still strong overall.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5F1CD-E10F-A4E9-A528-9DEC8B063014}"/>
              </a:ext>
            </a:extLst>
          </p:cNvPr>
          <p:cNvSpPr txBox="1"/>
          <p:nvPr/>
        </p:nvSpPr>
        <p:spPr>
          <a:xfrm>
            <a:off x="30479" y="734466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takeaway: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Logistic Regression performed a little better overall (97% vs. 95%), especially in detecting malignant cases. Decision Trees are easier to interpret, but Logistic Regression gave higher accuracy.</a:t>
            </a:r>
          </a:p>
        </p:txBody>
      </p:sp>
    </p:spTree>
    <p:extLst>
      <p:ext uri="{BB962C8B-B14F-4D97-AF65-F5344CB8AC3E}">
        <p14:creationId xmlns:p14="http://schemas.microsoft.com/office/powerpoint/2010/main" val="128460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0F6980-5362-41E5-A461-E8DE44D3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FBD414A2-0EA6-C715-6E1B-927A37990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54" y="0"/>
            <a:ext cx="8616245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5A5B17C-D46B-2C61-D831-0E8BB038649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168132B-0D35-5BE5-5197-D04F6EF3B9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34238EA-E308-2A79-9440-558B62D24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A84F5-72F4-9519-3B1A-037D6634CCA9}"/>
              </a:ext>
            </a:extLst>
          </p:cNvPr>
          <p:cNvSpPr txBox="1"/>
          <p:nvPr/>
        </p:nvSpPr>
        <p:spPr>
          <a:xfrm>
            <a:off x="2" y="6617722"/>
            <a:ext cx="12191998" cy="2918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+mj-lt"/>
              </a:rPr>
              <a:t>how well the </a:t>
            </a:r>
            <a:r>
              <a:rPr lang="en-US" sz="2500" b="1" dirty="0">
                <a:latin typeface="+mj-lt"/>
              </a:rPr>
              <a:t>Decision Tree</a:t>
            </a:r>
            <a:r>
              <a:rPr lang="en-US" sz="2500" dirty="0">
                <a:latin typeface="+mj-lt"/>
              </a:rPr>
              <a:t> classified patients:</a:t>
            </a:r>
          </a:p>
          <a:p>
            <a:pPr marL="6254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+mj-lt"/>
              </a:rPr>
              <a:t>Top-left (59)</a:t>
            </a:r>
            <a:r>
              <a:rPr lang="en-US" sz="2500" dirty="0">
                <a:latin typeface="+mj-lt"/>
              </a:rPr>
              <a:t> → Correctly predicted malignant.</a:t>
            </a:r>
          </a:p>
          <a:p>
            <a:pPr marL="6254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+mj-lt"/>
              </a:rPr>
              <a:t>Top-right (4)</a:t>
            </a:r>
            <a:r>
              <a:rPr lang="en-US" sz="2500" dirty="0">
                <a:latin typeface="+mj-lt"/>
              </a:rPr>
              <a:t> → Mistakenly predicted benign instead of malignant (false negatives).</a:t>
            </a:r>
          </a:p>
          <a:p>
            <a:pPr marL="6254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+mj-lt"/>
              </a:rPr>
              <a:t>Bottom-left (4)</a:t>
            </a:r>
            <a:r>
              <a:rPr lang="en-US" sz="2500" dirty="0">
                <a:latin typeface="+mj-lt"/>
              </a:rPr>
              <a:t> → Mistakenly predicted malignant instead of benign (false positives).</a:t>
            </a:r>
          </a:p>
          <a:p>
            <a:pPr marL="6254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+mj-lt"/>
              </a:rPr>
              <a:t>Bottom-right (104)</a:t>
            </a:r>
            <a:r>
              <a:rPr lang="en-US" sz="2500" dirty="0">
                <a:latin typeface="+mj-lt"/>
              </a:rPr>
              <a:t> → Correctly predicted benign.</a:t>
            </a:r>
          </a:p>
        </p:txBody>
      </p:sp>
    </p:spTree>
    <p:extLst>
      <p:ext uri="{BB962C8B-B14F-4D97-AF65-F5344CB8AC3E}">
        <p14:creationId xmlns:p14="http://schemas.microsoft.com/office/powerpoint/2010/main" val="2042691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8630DD-62F8-A728-1278-DAA7685F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2B8865BF-A362-B597-BEF4-FF4BE265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54" y="0"/>
            <a:ext cx="8616245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CFF5EA3-EDAC-9BE9-C1AF-4E04C8828A8E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4687E12-BCC7-D67A-31AD-BACFB654F2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3C98185-5BAE-D630-B23E-065FFA57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E5A3E-7231-0F9F-B123-FF9F2047A633}"/>
              </a:ext>
            </a:extLst>
          </p:cNvPr>
          <p:cNvSpPr txBox="1"/>
          <p:nvPr/>
        </p:nvSpPr>
        <p:spPr>
          <a:xfrm>
            <a:off x="2" y="6617722"/>
            <a:ext cx="12191998" cy="2608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takeaway: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Most predictions are correct. But the model </a:t>
            </a:r>
            <a:r>
              <a:rPr lang="en-US" sz="2800" b="1" dirty="0">
                <a:latin typeface="+mj-lt"/>
              </a:rPr>
              <a:t>missed 4 malignant cases</a:t>
            </a:r>
            <a:r>
              <a:rPr lang="en-US" sz="2800" dirty="0">
                <a:latin typeface="+mj-lt"/>
              </a:rPr>
              <a:t> by classifying them as benign. This is serious in healthcare because missing a cancer diagnosis is riskier than a false alarm.</a:t>
            </a:r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211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26561-FF39-6ADC-B24E-0508BF06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E48F8EC0-9336-91BD-FA9C-7122FB649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55" y="0"/>
            <a:ext cx="8015112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35ECB2E-6ED9-A95A-A018-9614B686A28A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46BA05B-AF5C-8D31-C009-22311C5DCCC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B98CAC2-A12B-BB1A-FC65-EC3310FB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C2B13-AFFD-FE25-CF1A-62E5A26F36CE}"/>
              </a:ext>
            </a:extLst>
          </p:cNvPr>
          <p:cNvSpPr txBox="1"/>
          <p:nvPr/>
        </p:nvSpPr>
        <p:spPr>
          <a:xfrm>
            <a:off x="0" y="5667774"/>
            <a:ext cx="12191998" cy="4390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+mj-lt"/>
              </a:rPr>
              <a:t>Student Discussion Points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Why might Logistic Regression perform better than Decision Tree on this dataset?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Which metric is more important in healthcare — accuracy, precision, or recall? Why?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If you had to choose one model for hospital deployment, which would you pick and why?</a:t>
            </a:r>
          </a:p>
        </p:txBody>
      </p:sp>
    </p:spTree>
    <p:extLst>
      <p:ext uri="{BB962C8B-B14F-4D97-AF65-F5344CB8AC3E}">
        <p14:creationId xmlns:p14="http://schemas.microsoft.com/office/powerpoint/2010/main" val="1669819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1170</Words>
  <Application>Microsoft Office PowerPoint</Application>
  <PresentationFormat>Custom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299</cp:revision>
  <dcterms:created xsi:type="dcterms:W3CDTF">2025-04-05T17:32:34Z</dcterms:created>
  <dcterms:modified xsi:type="dcterms:W3CDTF">2025-08-25T23:00:17Z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